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2"/>
    <p:sldId id="257" r:id="rId3"/>
    <p:sldId id="258" r:id="rId4"/>
    <p:sldId id="259" r:id="rId5"/>
    <p:sldId id="260" r:id="rId6"/>
    <p:sldId id="261" r:id="rId7"/>
    <p:sldId id="262" r:id="rId8"/>
    <p:sldId id="263" r:id="rId9"/>
    <p:sldId id="264" r:id="rId10"/>
    <p:sldId id="274" r:id="rId11"/>
    <p:sldId id="266" r:id="rId12"/>
    <p:sldId id="267" r:id="rId13"/>
    <p:sldId id="273" r:id="rId14"/>
    <p:sldId id="271" r:id="rId15"/>
    <p:sldId id="268" r:id="rId16"/>
    <p:sldId id="269" r:id="rId17"/>
    <p:sldId id="270" r:id="rId1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8ED9AF-A879-B978-0C2A-30D2873055C7}" v="4" dt="2026-07-20T05:28:11.239"/>
    <p1510:client id="{38DC7482-35FC-9DB3-A266-F84F0D1DCA4E}" v="63" dt="2026-07-19T15:00:33.853"/>
    <p1510:client id="{42998C6B-ED61-CAD5-EC6E-8F6749C5E164}" v="2" dt="2026-07-18T12:35:53.910"/>
    <p1510:client id="{5A3FE030-CBDB-260A-8DD5-B3D1643FB187}" v="2" dt="2026-07-20T05:33:32.799"/>
    <p1510:client id="{64D8CBFC-9E35-4DAA-822B-58DD27659955}" v="5" dt="2026-07-19T14:22:27.396"/>
    <p1510:client id="{85BF6782-98F3-EE62-6A77-1CC4FDB3D9CA}" v="20" dt="2026-07-20T06:12:08.503"/>
    <p1510:client id="{93105443-63B9-7F6F-5A60-4E1C3BD9B080}" v="113" dt="2026-07-19T17:25:19.042"/>
    <p1510:client id="{95E577CB-D6C2-0F80-458D-92940BB029B2}" v="4" dt="2026-07-19T22:28:19.035"/>
    <p1510:client id="{9D28AC6B-0814-2AFD-EEB1-FC456110DE2F}" v="3" dt="2026-07-19T00:44:36.224"/>
    <p1510:client id="{A42DC8A2-2C89-EA5C-4C84-ECDC4160D258}" v="47" dt="2026-07-19T14:54:05.738"/>
    <p1510:client id="{C4DD4812-FF34-990A-632F-F0C271C6919E}" v="74" dt="2026-07-19T13:31:15.723"/>
    <p1510:client id="{D00449D6-1F08-C97C-7A7F-E5789FCDBB51}" v="2" dt="2026-07-18T13:57:21.280"/>
    <p1510:client id="{DC3061BE-7A31-02C3-34DB-00F2B72E19BC}" v="6" dt="2026-07-19T15:38:32.332"/>
    <p1510:client id="{F94A2296-01C3-8823-C7A3-5F3E951512BC}" v="64" dt="2026-07-18T16:20:24.09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inus Claaßen / HFW424" userId="S::linus.claassen@edu.fhdw.de::b998a3cb-55e4-4ae0-837f-698620271401" providerId="AD" clId="Web-{95E577CB-D6C2-0F80-458D-92940BB029B2}"/>
    <pc:docChg chg="addSld delSld">
      <pc:chgData name="Linus Claaßen / HFW424" userId="S::linus.claassen@edu.fhdw.de::b998a3cb-55e4-4ae0-837f-698620271401" providerId="AD" clId="Web-{95E577CB-D6C2-0F80-458D-92940BB029B2}" dt="2026-07-19T22:28:19.035" v="3"/>
      <pc:docMkLst>
        <pc:docMk/>
      </pc:docMkLst>
      <pc:sldChg chg="del">
        <pc:chgData name="Linus Claaßen / HFW424" userId="S::linus.claassen@edu.fhdw.de::b998a3cb-55e4-4ae0-837f-698620271401" providerId="AD" clId="Web-{95E577CB-D6C2-0F80-458D-92940BB029B2}" dt="2026-07-19T14:05:59.037" v="1"/>
        <pc:sldMkLst>
          <pc:docMk/>
          <pc:sldMk cId="0" sldId="264"/>
        </pc:sldMkLst>
      </pc:sldChg>
      <pc:sldChg chg="del">
        <pc:chgData name="Linus Claaßen / HFW424" userId="S::linus.claassen@edu.fhdw.de::b998a3cb-55e4-4ae0-837f-698620271401" providerId="AD" clId="Web-{95E577CB-D6C2-0F80-458D-92940BB029B2}" dt="2026-07-19T22:28:19.035" v="3"/>
        <pc:sldMkLst>
          <pc:docMk/>
          <pc:sldMk cId="0" sldId="265"/>
        </pc:sldMkLst>
      </pc:sldChg>
      <pc:sldChg chg="add">
        <pc:chgData name="Linus Claaßen / HFW424" userId="S::linus.claassen@edu.fhdw.de::b998a3cb-55e4-4ae0-837f-698620271401" providerId="AD" clId="Web-{95E577CB-D6C2-0F80-458D-92940BB029B2}" dt="2026-07-19T14:05:54.990" v="0"/>
        <pc:sldMkLst>
          <pc:docMk/>
          <pc:sldMk cId="1413838553" sldId="272"/>
        </pc:sldMkLst>
      </pc:sldChg>
      <pc:sldChg chg="add">
        <pc:chgData name="Linus Claaßen / HFW424" userId="S::linus.claassen@edu.fhdw.de::b998a3cb-55e4-4ae0-837f-698620271401" providerId="AD" clId="Web-{95E577CB-D6C2-0F80-458D-92940BB029B2}" dt="2026-07-19T22:27:47.438" v="2"/>
        <pc:sldMkLst>
          <pc:docMk/>
          <pc:sldMk cId="2505625193" sldId="274"/>
        </pc:sldMkLst>
      </pc:sldChg>
    </pc:docChg>
  </pc:docChgLst>
  <pc:docChgLst>
    <pc:chgData name="Tim Ye / HFW424" userId="S::tim.ye@edu.fhdw.de::a8ecf5d7-fc97-4c57-90be-0aa66c6e5ba4" providerId="AD" clId="Web-{D00449D6-1F08-C97C-7A7F-E5789FCDBB51}"/>
    <pc:docChg chg="modSld">
      <pc:chgData name="Tim Ye / HFW424" userId="S::tim.ye@edu.fhdw.de::a8ecf5d7-fc97-4c57-90be-0aa66c6e5ba4" providerId="AD" clId="Web-{D00449D6-1F08-C97C-7A7F-E5789FCDBB51}" dt="2026-07-18T13:57:21.280" v="1" actId="20577"/>
      <pc:docMkLst>
        <pc:docMk/>
      </pc:docMkLst>
      <pc:sldChg chg="modSp">
        <pc:chgData name="Tim Ye / HFW424" userId="S::tim.ye@edu.fhdw.de::a8ecf5d7-fc97-4c57-90be-0aa66c6e5ba4" providerId="AD" clId="Web-{D00449D6-1F08-C97C-7A7F-E5789FCDBB51}" dt="2026-07-18T13:57:21.280" v="1" actId="20577"/>
        <pc:sldMkLst>
          <pc:docMk/>
          <pc:sldMk cId="0" sldId="259"/>
        </pc:sldMkLst>
        <pc:spChg chg="mod">
          <ac:chgData name="Tim Ye / HFW424" userId="S::tim.ye@edu.fhdw.de::a8ecf5d7-fc97-4c57-90be-0aa66c6e5ba4" providerId="AD" clId="Web-{D00449D6-1F08-C97C-7A7F-E5789FCDBB51}" dt="2026-07-18T13:57:21.280" v="1" actId="20577"/>
          <ac:spMkLst>
            <pc:docMk/>
            <pc:sldMk cId="0" sldId="259"/>
            <ac:spMk id="8" creationId="{00000000-0000-0000-0000-000000000000}"/>
          </ac:spMkLst>
        </pc:spChg>
      </pc:sldChg>
    </pc:docChg>
  </pc:docChgLst>
  <pc:docChgLst>
    <pc:chgData name="Bastian Menzel / HFW424" userId="S::bastian.menzel@edu.fhdw.de::60659f83-0eb6-4fb2-a9e5-b2123c46c657" providerId="AD" clId="Web-{F94A2296-01C3-8823-C7A3-5F3E951512BC}"/>
    <pc:docChg chg="modSld">
      <pc:chgData name="Bastian Menzel / HFW424" userId="S::bastian.menzel@edu.fhdw.de::60659f83-0eb6-4fb2-a9e5-b2123c46c657" providerId="AD" clId="Web-{F94A2296-01C3-8823-C7A3-5F3E951512BC}" dt="2026-07-18T16:20:20.483" v="62" actId="20577"/>
      <pc:docMkLst>
        <pc:docMk/>
      </pc:docMkLst>
      <pc:sldChg chg="modSp">
        <pc:chgData name="Bastian Menzel / HFW424" userId="S::bastian.menzel@edu.fhdw.de::60659f83-0eb6-4fb2-a9e5-b2123c46c657" providerId="AD" clId="Web-{F94A2296-01C3-8823-C7A3-5F3E951512BC}" dt="2026-07-18T16:20:20.483" v="62" actId="20577"/>
        <pc:sldMkLst>
          <pc:docMk/>
          <pc:sldMk cId="0" sldId="260"/>
        </pc:sldMkLst>
        <pc:spChg chg="mod">
          <ac:chgData name="Bastian Menzel / HFW424" userId="S::bastian.menzel@edu.fhdw.de::60659f83-0eb6-4fb2-a9e5-b2123c46c657" providerId="AD" clId="Web-{F94A2296-01C3-8823-C7A3-5F3E951512BC}" dt="2026-07-18T16:20:20.483" v="62" actId="20577"/>
          <ac:spMkLst>
            <pc:docMk/>
            <pc:sldMk cId="0" sldId="260"/>
            <ac:spMk id="13" creationId="{00000000-0000-0000-0000-000000000000}"/>
          </ac:spMkLst>
        </pc:spChg>
      </pc:sldChg>
    </pc:docChg>
  </pc:docChgLst>
  <pc:docChgLst>
    <pc:chgData name="Jannik Schulz / HFW424" userId="S::jannik.schulz@edu.fhdw.de::664d5bb1-1155-4ac5-9258-e2c2b9d20ae5" providerId="AD" clId="Web-{9D28AC6B-0814-2AFD-EEB1-FC456110DE2F}"/>
    <pc:docChg chg="modSld">
      <pc:chgData name="Jannik Schulz / HFW424" userId="S::jannik.schulz@edu.fhdw.de::664d5bb1-1155-4ac5-9258-e2c2b9d20ae5" providerId="AD" clId="Web-{9D28AC6B-0814-2AFD-EEB1-FC456110DE2F}" dt="2026-07-19T00:44:36.224" v="2" actId="20577"/>
      <pc:docMkLst>
        <pc:docMk/>
      </pc:docMkLst>
      <pc:sldChg chg="modSp">
        <pc:chgData name="Jannik Schulz / HFW424" userId="S::jannik.schulz@edu.fhdw.de::664d5bb1-1155-4ac5-9258-e2c2b9d20ae5" providerId="AD" clId="Web-{9D28AC6B-0814-2AFD-EEB1-FC456110DE2F}" dt="2026-07-19T00:44:36.224" v="2" actId="20577"/>
        <pc:sldMkLst>
          <pc:docMk/>
          <pc:sldMk cId="0" sldId="268"/>
        </pc:sldMkLst>
        <pc:spChg chg="mod">
          <ac:chgData name="Jannik Schulz / HFW424" userId="S::jannik.schulz@edu.fhdw.de::664d5bb1-1155-4ac5-9258-e2c2b9d20ae5" providerId="AD" clId="Web-{9D28AC6B-0814-2AFD-EEB1-FC456110DE2F}" dt="2026-07-19T00:44:36.224" v="2" actId="20577"/>
          <ac:spMkLst>
            <pc:docMk/>
            <pc:sldMk cId="0" sldId="268"/>
            <ac:spMk id="5" creationId="{00000000-0000-0000-0000-000000000000}"/>
          </ac:spMkLst>
        </pc:spChg>
      </pc:sldChg>
    </pc:docChg>
  </pc:docChgLst>
  <pc:docChgLst>
    <pc:chgData name="Tim Ye / HFW424" userId="S::tim.ye@edu.fhdw.de::a8ecf5d7-fc97-4c57-90be-0aa66c6e5ba4" providerId="AD" clId="Web-{DC3061BE-7A31-02C3-34DB-00F2B72E19BC}"/>
    <pc:docChg chg="modSld">
      <pc:chgData name="Tim Ye / HFW424" userId="S::tim.ye@edu.fhdw.de::a8ecf5d7-fc97-4c57-90be-0aa66c6e5ba4" providerId="AD" clId="Web-{DC3061BE-7A31-02C3-34DB-00F2B72E19BC}" dt="2026-07-19T15:38:32.332" v="5" actId="20577"/>
      <pc:docMkLst>
        <pc:docMk/>
      </pc:docMkLst>
      <pc:sldChg chg="modSp">
        <pc:chgData name="Tim Ye / HFW424" userId="S::tim.ye@edu.fhdw.de::a8ecf5d7-fc97-4c57-90be-0aa66c6e5ba4" providerId="AD" clId="Web-{DC3061BE-7A31-02C3-34DB-00F2B72E19BC}" dt="2026-07-19T15:38:32.332" v="5" actId="20577"/>
        <pc:sldMkLst>
          <pc:docMk/>
          <pc:sldMk cId="0" sldId="259"/>
        </pc:sldMkLst>
        <pc:spChg chg="mod">
          <ac:chgData name="Tim Ye / HFW424" userId="S::tim.ye@edu.fhdw.de::a8ecf5d7-fc97-4c57-90be-0aa66c6e5ba4" providerId="AD" clId="Web-{DC3061BE-7A31-02C3-34DB-00F2B72E19BC}" dt="2026-07-19T15:38:32.332" v="5" actId="20577"/>
          <ac:spMkLst>
            <pc:docMk/>
            <pc:sldMk cId="0" sldId="259"/>
            <ac:spMk id="8" creationId="{00000000-0000-0000-0000-000000000000}"/>
          </ac:spMkLst>
        </pc:spChg>
      </pc:sldChg>
    </pc:docChg>
  </pc:docChgLst>
  <pc:docChgLst>
    <pc:chgData name="Lewin Claaßen / HFW424" userId="S::lewin.claassen@edu.fhdw.de::1257112c-88fc-4c1c-90b1-2ec720a32593" providerId="AD" clId="Web-{85BF6782-98F3-EE62-6A77-1CC4FDB3D9CA}"/>
    <pc:docChg chg="modSld">
      <pc:chgData name="Lewin Claaßen / HFW424" userId="S::lewin.claassen@edu.fhdw.de::1257112c-88fc-4c1c-90b1-2ec720a32593" providerId="AD" clId="Web-{85BF6782-98F3-EE62-6A77-1CC4FDB3D9CA}" dt="2026-07-20T06:12:08.503" v="19" actId="20577"/>
      <pc:docMkLst>
        <pc:docMk/>
      </pc:docMkLst>
      <pc:sldChg chg="modSp">
        <pc:chgData name="Lewin Claaßen / HFW424" userId="S::lewin.claassen@edu.fhdw.de::1257112c-88fc-4c1c-90b1-2ec720a32593" providerId="AD" clId="Web-{85BF6782-98F3-EE62-6A77-1CC4FDB3D9CA}" dt="2026-07-20T06:12:08.503" v="19" actId="20577"/>
        <pc:sldMkLst>
          <pc:docMk/>
          <pc:sldMk cId="0" sldId="266"/>
        </pc:sldMkLst>
        <pc:spChg chg="mod">
          <ac:chgData name="Lewin Claaßen / HFW424" userId="S::lewin.claassen@edu.fhdw.de::1257112c-88fc-4c1c-90b1-2ec720a32593" providerId="AD" clId="Web-{85BF6782-98F3-EE62-6A77-1CC4FDB3D9CA}" dt="2026-07-20T06:12:08.503" v="19" actId="20577"/>
          <ac:spMkLst>
            <pc:docMk/>
            <pc:sldMk cId="0" sldId="266"/>
            <ac:spMk id="7" creationId="{00000000-0000-0000-0000-000000000000}"/>
          </ac:spMkLst>
        </pc:spChg>
      </pc:sldChg>
    </pc:docChg>
  </pc:docChgLst>
  <pc:docChgLst>
    <pc:chgData name="Lewin Claaßen / HFW424" userId="S::lewin.claassen@edu.fhdw.de::1257112c-88fc-4c1c-90b1-2ec720a32593" providerId="AD" clId="Web-{42998C6B-ED61-CAD5-EC6E-8F6749C5E164}"/>
    <pc:docChg chg="addSld delSld">
      <pc:chgData name="Lewin Claaßen / HFW424" userId="S::lewin.claassen@edu.fhdw.de::1257112c-88fc-4c1c-90b1-2ec720a32593" providerId="AD" clId="Web-{42998C6B-ED61-CAD5-EC6E-8F6749C5E164}" dt="2026-07-18T12:35:53.910" v="1"/>
      <pc:docMkLst>
        <pc:docMk/>
      </pc:docMkLst>
      <pc:sldChg chg="add del">
        <pc:chgData name="Lewin Claaßen / HFW424" userId="S::lewin.claassen@edu.fhdw.de::1257112c-88fc-4c1c-90b1-2ec720a32593" providerId="AD" clId="Web-{42998C6B-ED61-CAD5-EC6E-8F6749C5E164}" dt="2026-07-18T12:35:53.910" v="1"/>
        <pc:sldMkLst>
          <pc:docMk/>
          <pc:sldMk cId="3056319625" sldId="271"/>
        </pc:sldMkLst>
      </pc:sldChg>
    </pc:docChg>
  </pc:docChgLst>
  <pc:docChgLst>
    <pc:chgData name="Tim Ye / HFW424" userId="S::tim.ye@edu.fhdw.de::a8ecf5d7-fc97-4c57-90be-0aa66c6e5ba4" providerId="AD" clId="Web-{C4DD4812-FF34-990A-632F-F0C271C6919E}"/>
    <pc:docChg chg="modSld">
      <pc:chgData name="Tim Ye / HFW424" userId="S::tim.ye@edu.fhdw.de::a8ecf5d7-fc97-4c57-90be-0aa66c6e5ba4" providerId="AD" clId="Web-{C4DD4812-FF34-990A-632F-F0C271C6919E}" dt="2026-07-19T13:31:15.723" v="70" actId="20577"/>
      <pc:docMkLst>
        <pc:docMk/>
      </pc:docMkLst>
      <pc:sldChg chg="addSp delSp modSp">
        <pc:chgData name="Tim Ye / HFW424" userId="S::tim.ye@edu.fhdw.de::a8ecf5d7-fc97-4c57-90be-0aa66c6e5ba4" providerId="AD" clId="Web-{C4DD4812-FF34-990A-632F-F0C271C6919E}" dt="2026-07-19T13:24:48.816" v="66" actId="20577"/>
        <pc:sldMkLst>
          <pc:docMk/>
          <pc:sldMk cId="0" sldId="256"/>
        </pc:sldMkLst>
        <pc:spChg chg="add del mod">
          <ac:chgData name="Tim Ye / HFW424" userId="S::tim.ye@edu.fhdw.de::a8ecf5d7-fc97-4c57-90be-0aa66c6e5ba4" providerId="AD" clId="Web-{C4DD4812-FF34-990A-632F-F0C271C6919E}" dt="2026-07-19T13:24:48.816" v="66" actId="20577"/>
          <ac:spMkLst>
            <pc:docMk/>
            <pc:sldMk cId="0" sldId="256"/>
            <ac:spMk id="29" creationId="{00000000-0000-0000-0000-000000000000}"/>
          </ac:spMkLst>
        </pc:spChg>
      </pc:sldChg>
      <pc:sldChg chg="modSp">
        <pc:chgData name="Tim Ye / HFW424" userId="S::tim.ye@edu.fhdw.de::a8ecf5d7-fc97-4c57-90be-0aa66c6e5ba4" providerId="AD" clId="Web-{C4DD4812-FF34-990A-632F-F0C271C6919E}" dt="2026-07-19T13:31:15.723" v="70" actId="20577"/>
        <pc:sldMkLst>
          <pc:docMk/>
          <pc:sldMk cId="0" sldId="257"/>
        </pc:sldMkLst>
        <pc:spChg chg="mod">
          <ac:chgData name="Tim Ye / HFW424" userId="S::tim.ye@edu.fhdw.de::a8ecf5d7-fc97-4c57-90be-0aa66c6e5ba4" providerId="AD" clId="Web-{C4DD4812-FF34-990A-632F-F0C271C6919E}" dt="2026-07-19T13:19:37.021" v="23" actId="20577"/>
          <ac:spMkLst>
            <pc:docMk/>
            <pc:sldMk cId="0" sldId="257"/>
            <ac:spMk id="6" creationId="{00000000-0000-0000-0000-000000000000}"/>
          </ac:spMkLst>
        </pc:spChg>
        <pc:spChg chg="mod">
          <ac:chgData name="Tim Ye / HFW424" userId="S::tim.ye@edu.fhdw.de::a8ecf5d7-fc97-4c57-90be-0aa66c6e5ba4" providerId="AD" clId="Web-{C4DD4812-FF34-990A-632F-F0C271C6919E}" dt="2026-07-19T13:31:15.723" v="70" actId="20577"/>
          <ac:spMkLst>
            <pc:docMk/>
            <pc:sldMk cId="0" sldId="257"/>
            <ac:spMk id="10" creationId="{00000000-0000-0000-0000-000000000000}"/>
          </ac:spMkLst>
        </pc:spChg>
      </pc:sldChg>
      <pc:sldChg chg="modSp">
        <pc:chgData name="Tim Ye / HFW424" userId="S::tim.ye@edu.fhdw.de::a8ecf5d7-fc97-4c57-90be-0aa66c6e5ba4" providerId="AD" clId="Web-{C4DD4812-FF34-990A-632F-F0C271C6919E}" dt="2026-07-19T13:21:39.089" v="25" actId="20577"/>
        <pc:sldMkLst>
          <pc:docMk/>
          <pc:sldMk cId="0" sldId="258"/>
        </pc:sldMkLst>
        <pc:spChg chg="mod">
          <ac:chgData name="Tim Ye / HFW424" userId="S::tim.ye@edu.fhdw.de::a8ecf5d7-fc97-4c57-90be-0aa66c6e5ba4" providerId="AD" clId="Web-{C4DD4812-FF34-990A-632F-F0C271C6919E}" dt="2026-07-19T13:21:39.089" v="25" actId="20577"/>
          <ac:spMkLst>
            <pc:docMk/>
            <pc:sldMk cId="0" sldId="258"/>
            <ac:spMk id="2" creationId="{00000000-0000-0000-0000-000000000000}"/>
          </ac:spMkLst>
        </pc:spChg>
      </pc:sldChg>
      <pc:sldChg chg="modSp">
        <pc:chgData name="Tim Ye / HFW424" userId="S::tim.ye@edu.fhdw.de::a8ecf5d7-fc97-4c57-90be-0aa66c6e5ba4" providerId="AD" clId="Web-{C4DD4812-FF34-990A-632F-F0C271C6919E}" dt="2026-07-19T13:22:23.998" v="59" actId="20577"/>
        <pc:sldMkLst>
          <pc:docMk/>
          <pc:sldMk cId="0" sldId="259"/>
        </pc:sldMkLst>
        <pc:spChg chg="mod">
          <ac:chgData name="Tim Ye / HFW424" userId="S::tim.ye@edu.fhdw.de::a8ecf5d7-fc97-4c57-90be-0aa66c6e5ba4" providerId="AD" clId="Web-{C4DD4812-FF34-990A-632F-F0C271C6919E}" dt="2026-07-19T13:19:22.036" v="21" actId="20577"/>
          <ac:spMkLst>
            <pc:docMk/>
            <pc:sldMk cId="0" sldId="259"/>
            <ac:spMk id="3" creationId="{00000000-0000-0000-0000-000000000000}"/>
          </ac:spMkLst>
        </pc:spChg>
        <pc:spChg chg="mod">
          <ac:chgData name="Tim Ye / HFW424" userId="S::tim.ye@edu.fhdw.de::a8ecf5d7-fc97-4c57-90be-0aa66c6e5ba4" providerId="AD" clId="Web-{C4DD4812-FF34-990A-632F-F0C271C6919E}" dt="2026-07-19T13:19:29.708" v="22" actId="20577"/>
          <ac:spMkLst>
            <pc:docMk/>
            <pc:sldMk cId="0" sldId="259"/>
            <ac:spMk id="5" creationId="{00000000-0000-0000-0000-000000000000}"/>
          </ac:spMkLst>
        </pc:spChg>
        <pc:spChg chg="mod">
          <ac:chgData name="Tim Ye / HFW424" userId="S::tim.ye@edu.fhdw.de::a8ecf5d7-fc97-4c57-90be-0aa66c6e5ba4" providerId="AD" clId="Web-{C4DD4812-FF34-990A-632F-F0C271C6919E}" dt="2026-07-19T13:22:23.998" v="59" actId="20577"/>
          <ac:spMkLst>
            <pc:docMk/>
            <pc:sldMk cId="0" sldId="259"/>
            <ac:spMk id="6" creationId="{00000000-0000-0000-0000-000000000000}"/>
          </ac:spMkLst>
        </pc:spChg>
      </pc:sldChg>
    </pc:docChg>
  </pc:docChgLst>
  <pc:docChgLst>
    <pc:chgData name="Linus Claaßen / HFW424" userId="S::linus.claassen@edu.fhdw.de::b998a3cb-55e4-4ae0-837f-698620271401" providerId="AD" clId="Web-{5A3FE030-CBDB-260A-8DD5-B3D1643FB187}"/>
    <pc:docChg chg="addSld delSld">
      <pc:chgData name="Linus Claaßen / HFW424" userId="S::linus.claassen@edu.fhdw.de::b998a3cb-55e4-4ae0-837f-698620271401" providerId="AD" clId="Web-{5A3FE030-CBDB-260A-8DD5-B3D1643FB187}" dt="2026-07-20T05:33:32.799" v="1"/>
      <pc:docMkLst>
        <pc:docMk/>
      </pc:docMkLst>
      <pc:sldChg chg="add">
        <pc:chgData name="Linus Claaßen / HFW424" userId="S::linus.claassen@edu.fhdw.de::b998a3cb-55e4-4ae0-837f-698620271401" providerId="AD" clId="Web-{5A3FE030-CBDB-260A-8DD5-B3D1643FB187}" dt="2026-07-20T05:33:24.986" v="0"/>
        <pc:sldMkLst>
          <pc:docMk/>
          <pc:sldMk cId="0" sldId="264"/>
        </pc:sldMkLst>
      </pc:sldChg>
      <pc:sldChg chg="del">
        <pc:chgData name="Linus Claaßen / HFW424" userId="S::linus.claassen@edu.fhdw.de::b998a3cb-55e4-4ae0-837f-698620271401" providerId="AD" clId="Web-{5A3FE030-CBDB-260A-8DD5-B3D1643FB187}" dt="2026-07-20T05:33:32.799" v="1"/>
        <pc:sldMkLst>
          <pc:docMk/>
          <pc:sldMk cId="1413838553" sldId="272"/>
        </pc:sldMkLst>
      </pc:sldChg>
    </pc:docChg>
  </pc:docChgLst>
  <pc:docChgLst>
    <pc:chgData name="Tim Ye / HFW424" userId="S::tim.ye@edu.fhdw.de::a8ecf5d7-fc97-4c57-90be-0aa66c6e5ba4" providerId="AD" clId="Web-{88980EE5-1E05-9B67-8D93-C73ECADA2954}"/>
    <pc:docChg chg="modSld">
      <pc:chgData name="Tim Ye / HFW424" userId="S::tim.ye@edu.fhdw.de::a8ecf5d7-fc97-4c57-90be-0aa66c6e5ba4" providerId="AD" clId="Web-{88980EE5-1E05-9B67-8D93-C73ECADA2954}" dt="2026-07-19T14:22:21.833" v="3" actId="20577"/>
      <pc:docMkLst>
        <pc:docMk/>
      </pc:docMkLst>
      <pc:sldChg chg="modSp">
        <pc:chgData name="Tim Ye / HFW424" userId="S::tim.ye@edu.fhdw.de::a8ecf5d7-fc97-4c57-90be-0aa66c6e5ba4" providerId="AD" clId="Web-{88980EE5-1E05-9B67-8D93-C73ECADA2954}" dt="2026-07-19T14:22:21.833" v="3" actId="20577"/>
        <pc:sldMkLst>
          <pc:docMk/>
          <pc:sldMk cId="0" sldId="257"/>
        </pc:sldMkLst>
        <pc:spChg chg="mod">
          <ac:chgData name="Tim Ye / HFW424" userId="S::tim.ye@edu.fhdw.de::a8ecf5d7-fc97-4c57-90be-0aa66c6e5ba4" providerId="AD" clId="Web-{88980EE5-1E05-9B67-8D93-C73ECADA2954}" dt="2026-07-19T14:22:21.833" v="3" actId="20577"/>
          <ac:spMkLst>
            <pc:docMk/>
            <pc:sldMk cId="0" sldId="257"/>
            <ac:spMk id="26" creationId="{00000000-0000-0000-0000-000000000000}"/>
          </ac:spMkLst>
        </pc:spChg>
      </pc:sldChg>
      <pc:sldChg chg="delSp modSp">
        <pc:chgData name="Tim Ye / HFW424" userId="S::tim.ye@edu.fhdw.de::a8ecf5d7-fc97-4c57-90be-0aa66c6e5ba4" providerId="AD" clId="Web-{88980EE5-1E05-9B67-8D93-C73ECADA2954}" dt="2026-07-19T14:14:18.413" v="2"/>
        <pc:sldMkLst>
          <pc:docMk/>
          <pc:sldMk cId="0" sldId="258"/>
        </pc:sldMkLst>
        <pc:spChg chg="mod">
          <ac:chgData name="Tim Ye / HFW424" userId="S::tim.ye@edu.fhdw.de::a8ecf5d7-fc97-4c57-90be-0aa66c6e5ba4" providerId="AD" clId="Web-{88980EE5-1E05-9B67-8D93-C73ECADA2954}" dt="2026-07-19T14:04:43.520" v="1" actId="20577"/>
          <ac:spMkLst>
            <pc:docMk/>
            <pc:sldMk cId="0" sldId="258"/>
            <ac:spMk id="2" creationId="{00000000-0000-0000-0000-000000000000}"/>
          </ac:spMkLst>
        </pc:spChg>
        <pc:spChg chg="del">
          <ac:chgData name="Tim Ye / HFW424" userId="S::tim.ye@edu.fhdw.de::a8ecf5d7-fc97-4c57-90be-0aa66c6e5ba4" providerId="AD" clId="Web-{88980EE5-1E05-9B67-8D93-C73ECADA2954}" dt="2026-07-19T14:14:18.413" v="2"/>
          <ac:spMkLst>
            <pc:docMk/>
            <pc:sldMk cId="0" sldId="258"/>
            <ac:spMk id="8" creationId="{00000000-0000-0000-0000-000000000000}"/>
          </ac:spMkLst>
        </pc:spChg>
      </pc:sldChg>
    </pc:docChg>
  </pc:docChgLst>
  <pc:docChgLst>
    <pc:chgData name="Bastian Menzel / HFW424" userId="S::bastian.menzel@edu.fhdw.de::60659f83-0eb6-4fb2-a9e5-b2123c46c657" providerId="AD" clId="Web-{38DC7482-35FC-9DB3-A266-F84F0D1DCA4E}"/>
    <pc:docChg chg="modSld">
      <pc:chgData name="Bastian Menzel / HFW424" userId="S::bastian.menzel@edu.fhdw.de::60659f83-0eb6-4fb2-a9e5-b2123c46c657" providerId="AD" clId="Web-{38DC7482-35FC-9DB3-A266-F84F0D1DCA4E}" dt="2026-07-19T15:00:30.478" v="291"/>
      <pc:docMkLst>
        <pc:docMk/>
      </pc:docMkLst>
      <pc:sldChg chg="modSp">
        <pc:chgData name="Bastian Menzel / HFW424" userId="S::bastian.menzel@edu.fhdw.de::60659f83-0eb6-4fb2-a9e5-b2123c46c657" providerId="AD" clId="Web-{38DC7482-35FC-9DB3-A266-F84F0D1DCA4E}" dt="2026-07-19T09:48:28.591" v="26" actId="20577"/>
        <pc:sldMkLst>
          <pc:docMk/>
          <pc:sldMk cId="0" sldId="256"/>
        </pc:sldMkLst>
        <pc:spChg chg="mod">
          <ac:chgData name="Bastian Menzel / HFW424" userId="S::bastian.menzel@edu.fhdw.de::60659f83-0eb6-4fb2-a9e5-b2123c46c657" providerId="AD" clId="Web-{38DC7482-35FC-9DB3-A266-F84F0D1DCA4E}" dt="2026-07-19T09:48:28.591" v="26" actId="20577"/>
          <ac:spMkLst>
            <pc:docMk/>
            <pc:sldMk cId="0" sldId="256"/>
            <ac:spMk id="29" creationId="{00000000-0000-0000-0000-000000000000}"/>
          </ac:spMkLst>
        </pc:spChg>
      </pc:sldChg>
      <pc:sldChg chg="modSp modNotes">
        <pc:chgData name="Bastian Menzel / HFW424" userId="S::bastian.menzel@edu.fhdw.de::60659f83-0eb6-4fb2-a9e5-b2123c46c657" providerId="AD" clId="Web-{38DC7482-35FC-9DB3-A266-F84F0D1DCA4E}" dt="2026-07-19T15:00:30.478" v="291"/>
        <pc:sldMkLst>
          <pc:docMk/>
          <pc:sldMk cId="0" sldId="260"/>
        </pc:sldMkLst>
        <pc:spChg chg="mod">
          <ac:chgData name="Bastian Menzel / HFW424" userId="S::bastian.menzel@edu.fhdw.de::60659f83-0eb6-4fb2-a9e5-b2123c46c657" providerId="AD" clId="Web-{38DC7482-35FC-9DB3-A266-F84F0D1DCA4E}" dt="2026-07-19T10:33:40.678" v="45" actId="20577"/>
          <ac:spMkLst>
            <pc:docMk/>
            <pc:sldMk cId="0" sldId="260"/>
            <ac:spMk id="10" creationId="{00000000-0000-0000-0000-000000000000}"/>
          </ac:spMkLst>
        </pc:spChg>
        <pc:spChg chg="mod">
          <ac:chgData name="Bastian Menzel / HFW424" userId="S::bastian.menzel@edu.fhdw.de::60659f83-0eb6-4fb2-a9e5-b2123c46c657" providerId="AD" clId="Web-{38DC7482-35FC-9DB3-A266-F84F0D1DCA4E}" dt="2026-07-19T14:13:14.189" v="58" actId="20577"/>
          <ac:spMkLst>
            <pc:docMk/>
            <pc:sldMk cId="0" sldId="260"/>
            <ac:spMk id="13" creationId="{00000000-0000-0000-0000-000000000000}"/>
          </ac:spMkLst>
        </pc:spChg>
      </pc:sldChg>
      <pc:sldChg chg="modSp modNotes">
        <pc:chgData name="Bastian Menzel / HFW424" userId="S::bastian.menzel@edu.fhdw.de::60659f83-0eb6-4fb2-a9e5-b2123c46c657" providerId="AD" clId="Web-{38DC7482-35FC-9DB3-A266-F84F0D1DCA4E}" dt="2026-07-19T14:54:10.495" v="161"/>
        <pc:sldMkLst>
          <pc:docMk/>
          <pc:sldMk cId="0" sldId="261"/>
        </pc:sldMkLst>
        <pc:spChg chg="mod">
          <ac:chgData name="Bastian Menzel / HFW424" userId="S::bastian.menzel@edu.fhdw.de::60659f83-0eb6-4fb2-a9e5-b2123c46c657" providerId="AD" clId="Web-{38DC7482-35FC-9DB3-A266-F84F0D1DCA4E}" dt="2026-07-19T10:35:36.108" v="55" actId="20577"/>
          <ac:spMkLst>
            <pc:docMk/>
            <pc:sldMk cId="0" sldId="261"/>
            <ac:spMk id="26" creationId="{00000000-0000-0000-0000-000000000000}"/>
          </ac:spMkLst>
        </pc:spChg>
      </pc:sldChg>
    </pc:docChg>
  </pc:docChgLst>
  <pc:docChgLst>
    <pc:chgData name="Tim Ye / HFW424" userId="S::tim.ye@edu.fhdw.de::a8ecf5d7-fc97-4c57-90be-0aa66c6e5ba4" providerId="AD" clId="Web-{2B8ED9AF-A879-B978-0C2A-30D2873055C7}"/>
    <pc:docChg chg="modSld">
      <pc:chgData name="Tim Ye / HFW424" userId="S::tim.ye@edu.fhdw.de::a8ecf5d7-fc97-4c57-90be-0aa66c6e5ba4" providerId="AD" clId="Web-{2B8ED9AF-A879-B978-0C2A-30D2873055C7}" dt="2026-07-20T05:28:11.239" v="3" actId="20577"/>
      <pc:docMkLst>
        <pc:docMk/>
      </pc:docMkLst>
      <pc:sldChg chg="modSp">
        <pc:chgData name="Tim Ye / HFW424" userId="S::tim.ye@edu.fhdw.de::a8ecf5d7-fc97-4c57-90be-0aa66c6e5ba4" providerId="AD" clId="Web-{2B8ED9AF-A879-B978-0C2A-30D2873055C7}" dt="2026-07-20T05:28:11.239" v="3" actId="20577"/>
        <pc:sldMkLst>
          <pc:docMk/>
          <pc:sldMk cId="0" sldId="257"/>
        </pc:sldMkLst>
        <pc:spChg chg="mod">
          <ac:chgData name="Tim Ye / HFW424" userId="S::tim.ye@edu.fhdw.de::a8ecf5d7-fc97-4c57-90be-0aa66c6e5ba4" providerId="AD" clId="Web-{2B8ED9AF-A879-B978-0C2A-30D2873055C7}" dt="2026-07-20T05:28:11.239" v="3" actId="20577"/>
          <ac:spMkLst>
            <pc:docMk/>
            <pc:sldMk cId="0" sldId="257"/>
            <ac:spMk id="10" creationId="{00000000-0000-0000-0000-000000000000}"/>
          </ac:spMkLst>
        </pc:spChg>
      </pc:sldChg>
    </pc:docChg>
  </pc:docChgLst>
  <pc:docChgLst>
    <pc:chgData name="Jannik Schulz / HFW424" userId="S::jannik.schulz@edu.fhdw.de::664d5bb1-1155-4ac5-9258-e2c2b9d20ae5" providerId="AD" clId="Web-{A42DC8A2-2C89-EA5C-4C84-ECDC4160D258}"/>
    <pc:docChg chg="modSld">
      <pc:chgData name="Jannik Schulz / HFW424" userId="S::jannik.schulz@edu.fhdw.de::664d5bb1-1155-4ac5-9258-e2c2b9d20ae5" providerId="AD" clId="Web-{A42DC8A2-2C89-EA5C-4C84-ECDC4160D258}" dt="2026-07-19T14:54:05.738" v="46" actId="20577"/>
      <pc:docMkLst>
        <pc:docMk/>
      </pc:docMkLst>
      <pc:sldChg chg="delSp modSp">
        <pc:chgData name="Jannik Schulz / HFW424" userId="S::jannik.schulz@edu.fhdw.de::664d5bb1-1155-4ac5-9258-e2c2b9d20ae5" providerId="AD" clId="Web-{A42DC8A2-2C89-EA5C-4C84-ECDC4160D258}" dt="2026-07-19T14:54:05.738" v="46" actId="20577"/>
        <pc:sldMkLst>
          <pc:docMk/>
          <pc:sldMk cId="0" sldId="268"/>
        </pc:sldMkLst>
        <pc:spChg chg="mod">
          <ac:chgData name="Jannik Schulz / HFW424" userId="S::jannik.schulz@edu.fhdw.de::664d5bb1-1155-4ac5-9258-e2c2b9d20ae5" providerId="AD" clId="Web-{A42DC8A2-2C89-EA5C-4C84-ECDC4160D258}" dt="2026-07-19T14:54:05.738" v="46" actId="20577"/>
          <ac:spMkLst>
            <pc:docMk/>
            <pc:sldMk cId="0" sldId="268"/>
            <ac:spMk id="5" creationId="{00000000-0000-0000-0000-000000000000}"/>
          </ac:spMkLst>
        </pc:spChg>
        <pc:spChg chg="del">
          <ac:chgData name="Jannik Schulz / HFW424" userId="S::jannik.schulz@edu.fhdw.de::664d5bb1-1155-4ac5-9258-e2c2b9d20ae5" providerId="AD" clId="Web-{A42DC8A2-2C89-EA5C-4C84-ECDC4160D258}" dt="2026-07-19T14:29:40.329" v="24"/>
          <ac:spMkLst>
            <pc:docMk/>
            <pc:sldMk cId="0" sldId="268"/>
            <ac:spMk id="9" creationId="{00000000-0000-0000-0000-000000000000}"/>
          </ac:spMkLst>
        </pc:spChg>
      </pc:sldChg>
      <pc:sldChg chg="addSp delSp modSp">
        <pc:chgData name="Jannik Schulz / HFW424" userId="S::jannik.schulz@edu.fhdw.de::664d5bb1-1155-4ac5-9258-e2c2b9d20ae5" providerId="AD" clId="Web-{A42DC8A2-2C89-EA5C-4C84-ECDC4160D258}" dt="2026-07-19T14:50:31.416" v="30" actId="1076"/>
        <pc:sldMkLst>
          <pc:docMk/>
          <pc:sldMk cId="0" sldId="269"/>
        </pc:sldMkLst>
        <pc:spChg chg="add del">
          <ac:chgData name="Jannik Schulz / HFW424" userId="S::jannik.schulz@edu.fhdw.de::664d5bb1-1155-4ac5-9258-e2c2b9d20ae5" providerId="AD" clId="Web-{A42DC8A2-2C89-EA5C-4C84-ECDC4160D258}" dt="2026-07-19T14:15:25.713" v="14"/>
          <ac:spMkLst>
            <pc:docMk/>
            <pc:sldMk cId="0" sldId="269"/>
            <ac:spMk id="4" creationId="{00000000-0000-0000-0000-000000000000}"/>
          </ac:spMkLst>
        </pc:spChg>
        <pc:spChg chg="add del">
          <ac:chgData name="Jannik Schulz / HFW424" userId="S::jannik.schulz@edu.fhdw.de::664d5bb1-1155-4ac5-9258-e2c2b9d20ae5" providerId="AD" clId="Web-{A42DC8A2-2C89-EA5C-4C84-ECDC4160D258}" dt="2026-07-19T14:15:25.713" v="13"/>
          <ac:spMkLst>
            <pc:docMk/>
            <pc:sldMk cId="0" sldId="269"/>
            <ac:spMk id="5" creationId="{00000000-0000-0000-0000-000000000000}"/>
          </ac:spMkLst>
        </pc:spChg>
        <pc:spChg chg="add del">
          <ac:chgData name="Jannik Schulz / HFW424" userId="S::jannik.schulz@edu.fhdw.de::664d5bb1-1155-4ac5-9258-e2c2b9d20ae5" providerId="AD" clId="Web-{A42DC8A2-2C89-EA5C-4C84-ECDC4160D258}" dt="2026-07-19T14:15:25.713" v="12"/>
          <ac:spMkLst>
            <pc:docMk/>
            <pc:sldMk cId="0" sldId="269"/>
            <ac:spMk id="6" creationId="{00000000-0000-0000-0000-000000000000}"/>
          </ac:spMkLst>
        </pc:spChg>
        <pc:spChg chg="mod">
          <ac:chgData name="Jannik Schulz / HFW424" userId="S::jannik.schulz@edu.fhdw.de::664d5bb1-1155-4ac5-9258-e2c2b9d20ae5" providerId="AD" clId="Web-{A42DC8A2-2C89-EA5C-4C84-ECDC4160D258}" dt="2026-07-19T14:15:40.604" v="15" actId="1076"/>
          <ac:spMkLst>
            <pc:docMk/>
            <pc:sldMk cId="0" sldId="269"/>
            <ac:spMk id="7" creationId="{00000000-0000-0000-0000-000000000000}"/>
          </ac:spMkLst>
        </pc:spChg>
        <pc:spChg chg="mod">
          <ac:chgData name="Jannik Schulz / HFW424" userId="S::jannik.schulz@edu.fhdw.de::664d5bb1-1155-4ac5-9258-e2c2b9d20ae5" providerId="AD" clId="Web-{A42DC8A2-2C89-EA5C-4C84-ECDC4160D258}" dt="2026-07-19T14:50:31.400" v="28" actId="1076"/>
          <ac:spMkLst>
            <pc:docMk/>
            <pc:sldMk cId="0" sldId="269"/>
            <ac:spMk id="8" creationId="{00000000-0000-0000-0000-000000000000}"/>
          </ac:spMkLst>
        </pc:spChg>
        <pc:spChg chg="mod">
          <ac:chgData name="Jannik Schulz / HFW424" userId="S::jannik.schulz@edu.fhdw.de::664d5bb1-1155-4ac5-9258-e2c2b9d20ae5" providerId="AD" clId="Web-{A42DC8A2-2C89-EA5C-4C84-ECDC4160D258}" dt="2026-07-19T14:15:40.636" v="17" actId="1076"/>
          <ac:spMkLst>
            <pc:docMk/>
            <pc:sldMk cId="0" sldId="269"/>
            <ac:spMk id="9" creationId="{00000000-0000-0000-0000-000000000000}"/>
          </ac:spMkLst>
        </pc:spChg>
        <pc:spChg chg="mod">
          <ac:chgData name="Jannik Schulz / HFW424" userId="S::jannik.schulz@edu.fhdw.de::664d5bb1-1155-4ac5-9258-e2c2b9d20ae5" providerId="AD" clId="Web-{A42DC8A2-2C89-EA5C-4C84-ECDC4160D258}" dt="2026-07-19T14:15:40.651" v="18" actId="1076"/>
          <ac:spMkLst>
            <pc:docMk/>
            <pc:sldMk cId="0" sldId="269"/>
            <ac:spMk id="10" creationId="{00000000-0000-0000-0000-000000000000}"/>
          </ac:spMkLst>
        </pc:spChg>
        <pc:spChg chg="mod">
          <ac:chgData name="Jannik Schulz / HFW424" userId="S::jannik.schulz@edu.fhdw.de::664d5bb1-1155-4ac5-9258-e2c2b9d20ae5" providerId="AD" clId="Web-{A42DC8A2-2C89-EA5C-4C84-ECDC4160D258}" dt="2026-07-19T14:50:31.416" v="29" actId="1076"/>
          <ac:spMkLst>
            <pc:docMk/>
            <pc:sldMk cId="0" sldId="269"/>
            <ac:spMk id="11" creationId="{00000000-0000-0000-0000-000000000000}"/>
          </ac:spMkLst>
        </pc:spChg>
        <pc:spChg chg="mod">
          <ac:chgData name="Jannik Schulz / HFW424" userId="S::jannik.schulz@edu.fhdw.de::664d5bb1-1155-4ac5-9258-e2c2b9d20ae5" providerId="AD" clId="Web-{A42DC8A2-2C89-EA5C-4C84-ECDC4160D258}" dt="2026-07-19T14:15:40.667" v="20" actId="1076"/>
          <ac:spMkLst>
            <pc:docMk/>
            <pc:sldMk cId="0" sldId="269"/>
            <ac:spMk id="12" creationId="{00000000-0000-0000-0000-000000000000}"/>
          </ac:spMkLst>
        </pc:spChg>
        <pc:spChg chg="mod">
          <ac:chgData name="Jannik Schulz / HFW424" userId="S::jannik.schulz@edu.fhdw.de::664d5bb1-1155-4ac5-9258-e2c2b9d20ae5" providerId="AD" clId="Web-{A42DC8A2-2C89-EA5C-4C84-ECDC4160D258}" dt="2026-07-19T14:15:40.683" v="21" actId="1076"/>
          <ac:spMkLst>
            <pc:docMk/>
            <pc:sldMk cId="0" sldId="269"/>
            <ac:spMk id="13" creationId="{00000000-0000-0000-0000-000000000000}"/>
          </ac:spMkLst>
        </pc:spChg>
        <pc:spChg chg="mod">
          <ac:chgData name="Jannik Schulz / HFW424" userId="S::jannik.schulz@edu.fhdw.de::664d5bb1-1155-4ac5-9258-e2c2b9d20ae5" providerId="AD" clId="Web-{A42DC8A2-2C89-EA5C-4C84-ECDC4160D258}" dt="2026-07-19T14:50:31.416" v="30" actId="1076"/>
          <ac:spMkLst>
            <pc:docMk/>
            <pc:sldMk cId="0" sldId="269"/>
            <ac:spMk id="14" creationId="{00000000-0000-0000-0000-000000000000}"/>
          </ac:spMkLst>
        </pc:spChg>
        <pc:spChg chg="mod">
          <ac:chgData name="Jannik Schulz / HFW424" userId="S::jannik.schulz@edu.fhdw.de::664d5bb1-1155-4ac5-9258-e2c2b9d20ae5" providerId="AD" clId="Web-{A42DC8A2-2C89-EA5C-4C84-ECDC4160D258}" dt="2026-07-19T14:15:40.698" v="23" actId="1076"/>
          <ac:spMkLst>
            <pc:docMk/>
            <pc:sldMk cId="0" sldId="269"/>
            <ac:spMk id="15" creationId="{00000000-0000-0000-0000-000000000000}"/>
          </ac:spMkLst>
        </pc:spChg>
      </pc:sldChg>
    </pc:docChg>
  </pc:docChgLst>
  <pc:docChgLst>
    <pc:chgData name="Tim Ye / HFW424" userId="S::tim.ye@edu.fhdw.de::a8ecf5d7-fc97-4c57-90be-0aa66c6e5ba4" providerId="AD" clId="Web-{1EE6924A-A0A6-FF0B-B2CB-65BD0AB84184}"/>
    <pc:docChg chg="modSld">
      <pc:chgData name="Tim Ye / HFW424" userId="S::tim.ye@edu.fhdw.de::a8ecf5d7-fc97-4c57-90be-0aa66c6e5ba4" providerId="AD" clId="Web-{1EE6924A-A0A6-FF0B-B2CB-65BD0AB84184}" dt="2026-07-17T07:22:31.071" v="6"/>
      <pc:docMkLst>
        <pc:docMk/>
      </pc:docMkLst>
      <pc:sldChg chg="delSp modSp">
        <pc:chgData name="Tim Ye / HFW424" userId="S::tim.ye@edu.fhdw.de::a8ecf5d7-fc97-4c57-90be-0aa66c6e5ba4" providerId="AD" clId="Web-{1EE6924A-A0A6-FF0B-B2CB-65BD0AB84184}" dt="2026-07-17T07:22:31.071" v="6"/>
        <pc:sldMkLst>
          <pc:docMk/>
          <pc:sldMk cId="0" sldId="257"/>
        </pc:sldMkLst>
      </pc:sldChg>
    </pc:docChg>
  </pc:docChgLst>
  <pc:docChgLst>
    <pc:chgData name="Lewin Claaßen / HFW424" userId="S::lewin.claassen@edu.fhdw.de::1257112c-88fc-4c1c-90b1-2ec720a32593" providerId="AD" clId="Web-{93105443-63B9-7F6F-5A60-4E1C3BD9B080}"/>
    <pc:docChg chg="addSld modSld">
      <pc:chgData name="Lewin Claaßen / HFW424" userId="S::lewin.claassen@edu.fhdw.de::1257112c-88fc-4c1c-90b1-2ec720a32593" providerId="AD" clId="Web-{93105443-63B9-7F6F-5A60-4E1C3BD9B080}" dt="2026-07-19T17:25:19.042" v="110" actId="20577"/>
      <pc:docMkLst>
        <pc:docMk/>
      </pc:docMkLst>
      <pc:sldChg chg="modSp">
        <pc:chgData name="Lewin Claaßen / HFW424" userId="S::lewin.claassen@edu.fhdw.de::1257112c-88fc-4c1c-90b1-2ec720a32593" providerId="AD" clId="Web-{93105443-63B9-7F6F-5A60-4E1C3BD9B080}" dt="2026-07-19T14:55:47.584" v="98" actId="14100"/>
        <pc:sldMkLst>
          <pc:docMk/>
          <pc:sldMk cId="0" sldId="263"/>
        </pc:sldMkLst>
        <pc:spChg chg="mod">
          <ac:chgData name="Lewin Claaßen / HFW424" userId="S::lewin.claassen@edu.fhdw.de::1257112c-88fc-4c1c-90b1-2ec720a32593" providerId="AD" clId="Web-{93105443-63B9-7F6F-5A60-4E1C3BD9B080}" dt="2026-07-19T14:55:37.552" v="95" actId="1076"/>
          <ac:spMkLst>
            <pc:docMk/>
            <pc:sldMk cId="0" sldId="263"/>
            <ac:spMk id="8" creationId="{00000000-0000-0000-0000-000000000000}"/>
          </ac:spMkLst>
        </pc:spChg>
        <pc:spChg chg="mod">
          <ac:chgData name="Lewin Claaßen / HFW424" userId="S::lewin.claassen@edu.fhdw.de::1257112c-88fc-4c1c-90b1-2ec720a32593" providerId="AD" clId="Web-{93105443-63B9-7F6F-5A60-4E1C3BD9B080}" dt="2026-07-19T14:55:37.568" v="96" actId="1076"/>
          <ac:spMkLst>
            <pc:docMk/>
            <pc:sldMk cId="0" sldId="263"/>
            <ac:spMk id="12" creationId="{00000000-0000-0000-0000-000000000000}"/>
          </ac:spMkLst>
        </pc:spChg>
        <pc:picChg chg="mod">
          <ac:chgData name="Lewin Claaßen / HFW424" userId="S::lewin.claassen@edu.fhdw.de::1257112c-88fc-4c1c-90b1-2ec720a32593" providerId="AD" clId="Web-{93105443-63B9-7F6F-5A60-4E1C3BD9B080}" dt="2026-07-19T14:55:43.396" v="97" actId="14100"/>
          <ac:picMkLst>
            <pc:docMk/>
            <pc:sldMk cId="0" sldId="263"/>
            <ac:picMk id="7" creationId="{00000000-0000-0000-0000-000000000000}"/>
          </ac:picMkLst>
        </pc:picChg>
        <pc:picChg chg="mod">
          <ac:chgData name="Lewin Claaßen / HFW424" userId="S::lewin.claassen@edu.fhdw.de::1257112c-88fc-4c1c-90b1-2ec720a32593" providerId="AD" clId="Web-{93105443-63B9-7F6F-5A60-4E1C3BD9B080}" dt="2026-07-19T14:55:47.584" v="98" actId="14100"/>
          <ac:picMkLst>
            <pc:docMk/>
            <pc:sldMk cId="0" sldId="263"/>
            <ac:picMk id="11" creationId="{00000000-0000-0000-0000-000000000000}"/>
          </ac:picMkLst>
        </pc:picChg>
      </pc:sldChg>
      <pc:sldChg chg="modSp">
        <pc:chgData name="Lewin Claaßen / HFW424" userId="S::lewin.claassen@edu.fhdw.de::1257112c-88fc-4c1c-90b1-2ec720a32593" providerId="AD" clId="Web-{93105443-63B9-7F6F-5A60-4E1C3BD9B080}" dt="2026-07-19T13:20:47.293" v="9" actId="20577"/>
        <pc:sldMkLst>
          <pc:docMk/>
          <pc:sldMk cId="0" sldId="266"/>
        </pc:sldMkLst>
        <pc:spChg chg="mod">
          <ac:chgData name="Lewin Claaßen / HFW424" userId="S::lewin.claassen@edu.fhdw.de::1257112c-88fc-4c1c-90b1-2ec720a32593" providerId="AD" clId="Web-{93105443-63B9-7F6F-5A60-4E1C3BD9B080}" dt="2026-07-19T13:02:42.298" v="5" actId="20577"/>
          <ac:spMkLst>
            <pc:docMk/>
            <pc:sldMk cId="0" sldId="266"/>
            <ac:spMk id="12" creationId="{00000000-0000-0000-0000-000000000000}"/>
          </ac:spMkLst>
        </pc:spChg>
        <pc:spChg chg="mod">
          <ac:chgData name="Lewin Claaßen / HFW424" userId="S::lewin.claassen@edu.fhdw.de::1257112c-88fc-4c1c-90b1-2ec720a32593" providerId="AD" clId="Web-{93105443-63B9-7F6F-5A60-4E1C3BD9B080}" dt="2026-07-19T13:20:47.293" v="9" actId="20577"/>
          <ac:spMkLst>
            <pc:docMk/>
            <pc:sldMk cId="0" sldId="266"/>
            <ac:spMk id="13" creationId="{00000000-0000-0000-0000-000000000000}"/>
          </ac:spMkLst>
        </pc:spChg>
      </pc:sldChg>
      <pc:sldChg chg="addSp delSp modSp">
        <pc:chgData name="Lewin Claaßen / HFW424" userId="S::lewin.claassen@edu.fhdw.de::1257112c-88fc-4c1c-90b1-2ec720a32593" providerId="AD" clId="Web-{93105443-63B9-7F6F-5A60-4E1C3BD9B080}" dt="2026-07-19T14:12:56.792" v="94" actId="14100"/>
        <pc:sldMkLst>
          <pc:docMk/>
          <pc:sldMk cId="0" sldId="267"/>
        </pc:sldMkLst>
        <pc:spChg chg="mod">
          <ac:chgData name="Lewin Claaßen / HFW424" userId="S::lewin.claassen@edu.fhdw.de::1257112c-88fc-4c1c-90b1-2ec720a32593" providerId="AD" clId="Web-{93105443-63B9-7F6F-5A60-4E1C3BD9B080}" dt="2026-07-19T14:12:43.885" v="91" actId="14100"/>
          <ac:spMkLst>
            <pc:docMk/>
            <pc:sldMk cId="0" sldId="267"/>
            <ac:spMk id="4" creationId="{00000000-0000-0000-0000-000000000000}"/>
          </ac:spMkLst>
        </pc:spChg>
        <pc:spChg chg="mod">
          <ac:chgData name="Lewin Claaßen / HFW424" userId="S::lewin.claassen@edu.fhdw.de::1257112c-88fc-4c1c-90b1-2ec720a32593" providerId="AD" clId="Web-{93105443-63B9-7F6F-5A60-4E1C3BD9B080}" dt="2026-07-19T14:12:48.417" v="92" actId="14100"/>
          <ac:spMkLst>
            <pc:docMk/>
            <pc:sldMk cId="0" sldId="267"/>
            <ac:spMk id="7" creationId="{00000000-0000-0000-0000-000000000000}"/>
          </ac:spMkLst>
        </pc:spChg>
        <pc:spChg chg="mod">
          <ac:chgData name="Lewin Claaßen / HFW424" userId="S::lewin.claassen@edu.fhdw.de::1257112c-88fc-4c1c-90b1-2ec720a32593" providerId="AD" clId="Web-{93105443-63B9-7F6F-5A60-4E1C3BD9B080}" dt="2026-07-19T14:12:37.432" v="90" actId="14100"/>
          <ac:spMkLst>
            <pc:docMk/>
            <pc:sldMk cId="0" sldId="267"/>
            <ac:spMk id="8" creationId="{00000000-0000-0000-0000-000000000000}"/>
          </ac:spMkLst>
        </pc:spChg>
        <pc:spChg chg="mod">
          <ac:chgData name="Lewin Claaßen / HFW424" userId="S::lewin.claassen@edu.fhdw.de::1257112c-88fc-4c1c-90b1-2ec720a32593" providerId="AD" clId="Web-{93105443-63B9-7F6F-5A60-4E1C3BD9B080}" dt="2026-07-19T14:11:52.961" v="84" actId="20577"/>
          <ac:spMkLst>
            <pc:docMk/>
            <pc:sldMk cId="0" sldId="267"/>
            <ac:spMk id="11" creationId="{00000000-0000-0000-0000-000000000000}"/>
          </ac:spMkLst>
        </pc:spChg>
        <pc:spChg chg="mod">
          <ac:chgData name="Lewin Claaßen / HFW424" userId="S::lewin.claassen@edu.fhdw.de::1257112c-88fc-4c1c-90b1-2ec720a32593" providerId="AD" clId="Web-{93105443-63B9-7F6F-5A60-4E1C3BD9B080}" dt="2026-07-19T14:12:32.901" v="89" actId="14100"/>
          <ac:spMkLst>
            <pc:docMk/>
            <pc:sldMk cId="0" sldId="267"/>
            <ac:spMk id="12" creationId="{00000000-0000-0000-0000-000000000000}"/>
          </ac:spMkLst>
        </pc:spChg>
        <pc:spChg chg="mod">
          <ac:chgData name="Lewin Claaßen / HFW424" userId="S::lewin.claassen@edu.fhdw.de::1257112c-88fc-4c1c-90b1-2ec720a32593" providerId="AD" clId="Web-{93105443-63B9-7F6F-5A60-4E1C3BD9B080}" dt="2026-07-19T14:12:53.198" v="93" actId="14100"/>
          <ac:spMkLst>
            <pc:docMk/>
            <pc:sldMk cId="0" sldId="267"/>
            <ac:spMk id="15" creationId="{00000000-0000-0000-0000-000000000000}"/>
          </ac:spMkLst>
        </pc:spChg>
        <pc:spChg chg="mod">
          <ac:chgData name="Lewin Claaßen / HFW424" userId="S::lewin.claassen@edu.fhdw.de::1257112c-88fc-4c1c-90b1-2ec720a32593" providerId="AD" clId="Web-{93105443-63B9-7F6F-5A60-4E1C3BD9B080}" dt="2026-07-19T14:12:14.587" v="87" actId="14100"/>
          <ac:spMkLst>
            <pc:docMk/>
            <pc:sldMk cId="0" sldId="267"/>
            <ac:spMk id="16" creationId="{00000000-0000-0000-0000-000000000000}"/>
          </ac:spMkLst>
        </pc:spChg>
        <pc:spChg chg="mod">
          <ac:chgData name="Lewin Claaßen / HFW424" userId="S::lewin.claassen@edu.fhdw.de::1257112c-88fc-4c1c-90b1-2ec720a32593" providerId="AD" clId="Web-{93105443-63B9-7F6F-5A60-4E1C3BD9B080}" dt="2026-07-19T14:12:56.792" v="94" actId="14100"/>
          <ac:spMkLst>
            <pc:docMk/>
            <pc:sldMk cId="0" sldId="267"/>
            <ac:spMk id="19" creationId="{00000000-0000-0000-0000-000000000000}"/>
          </ac:spMkLst>
        </pc:spChg>
        <pc:spChg chg="del">
          <ac:chgData name="Lewin Claaßen / HFW424" userId="S::lewin.claassen@edu.fhdw.de::1257112c-88fc-4c1c-90b1-2ec720a32593" providerId="AD" clId="Web-{93105443-63B9-7F6F-5A60-4E1C3BD9B080}" dt="2026-07-19T14:01:50.750" v="19"/>
          <ac:spMkLst>
            <pc:docMk/>
            <pc:sldMk cId="0" sldId="267"/>
            <ac:spMk id="20" creationId="{00000000-0000-0000-0000-000000000000}"/>
          </ac:spMkLst>
        </pc:spChg>
        <pc:spChg chg="del">
          <ac:chgData name="Lewin Claaßen / HFW424" userId="S::lewin.claassen@edu.fhdw.de::1257112c-88fc-4c1c-90b1-2ec720a32593" providerId="AD" clId="Web-{93105443-63B9-7F6F-5A60-4E1C3BD9B080}" dt="2026-07-19T14:01:50.750" v="17"/>
          <ac:spMkLst>
            <pc:docMk/>
            <pc:sldMk cId="0" sldId="267"/>
            <ac:spMk id="22" creationId="{00000000-0000-0000-0000-000000000000}"/>
          </ac:spMkLst>
        </pc:spChg>
        <pc:spChg chg="del">
          <ac:chgData name="Lewin Claaßen / HFW424" userId="S::lewin.claassen@edu.fhdw.de::1257112c-88fc-4c1c-90b1-2ec720a32593" providerId="AD" clId="Web-{93105443-63B9-7F6F-5A60-4E1C3BD9B080}" dt="2026-07-19T14:01:50.750" v="15"/>
          <ac:spMkLst>
            <pc:docMk/>
            <pc:sldMk cId="0" sldId="267"/>
            <ac:spMk id="24" creationId="{00000000-0000-0000-0000-000000000000}"/>
          </ac:spMkLst>
        </pc:spChg>
        <pc:spChg chg="add del mod">
          <ac:chgData name="Lewin Claaßen / HFW424" userId="S::lewin.claassen@edu.fhdw.de::1257112c-88fc-4c1c-90b1-2ec720a32593" providerId="AD" clId="Web-{93105443-63B9-7F6F-5A60-4E1C3BD9B080}" dt="2026-07-19T13:58:03.898" v="13"/>
          <ac:spMkLst>
            <pc:docMk/>
            <pc:sldMk cId="0" sldId="267"/>
            <ac:spMk id="28" creationId="{68889562-284E-BDB0-4248-A5BED50E2BCA}"/>
          </ac:spMkLst>
        </pc:spChg>
        <pc:picChg chg="del">
          <ac:chgData name="Lewin Claaßen / HFW424" userId="S::lewin.claassen@edu.fhdw.de::1257112c-88fc-4c1c-90b1-2ec720a32593" providerId="AD" clId="Web-{93105443-63B9-7F6F-5A60-4E1C3BD9B080}" dt="2026-07-19T14:01:50.750" v="18"/>
          <ac:picMkLst>
            <pc:docMk/>
            <pc:sldMk cId="0" sldId="267"/>
            <ac:picMk id="21" creationId="{00000000-0000-0000-0000-000000000000}"/>
          </ac:picMkLst>
        </pc:picChg>
        <pc:picChg chg="del">
          <ac:chgData name="Lewin Claaßen / HFW424" userId="S::lewin.claassen@edu.fhdw.de::1257112c-88fc-4c1c-90b1-2ec720a32593" providerId="AD" clId="Web-{93105443-63B9-7F6F-5A60-4E1C3BD9B080}" dt="2026-07-19T14:01:50.750" v="16"/>
          <ac:picMkLst>
            <pc:docMk/>
            <pc:sldMk cId="0" sldId="267"/>
            <ac:picMk id="23" creationId="{00000000-0000-0000-0000-000000000000}"/>
          </ac:picMkLst>
        </pc:picChg>
      </pc:sldChg>
      <pc:sldChg chg="addSp delSp modSp">
        <pc:chgData name="Lewin Claaßen / HFW424" userId="S::lewin.claassen@edu.fhdw.de::1257112c-88fc-4c1c-90b1-2ec720a32593" providerId="AD" clId="Web-{93105443-63B9-7F6F-5A60-4E1C3BD9B080}" dt="2026-07-19T17:24:16.868" v="106" actId="20577"/>
        <pc:sldMkLst>
          <pc:docMk/>
          <pc:sldMk cId="0" sldId="268"/>
        </pc:sldMkLst>
        <pc:spChg chg="add del mod">
          <ac:chgData name="Lewin Claaßen / HFW424" userId="S::lewin.claassen@edu.fhdw.de::1257112c-88fc-4c1c-90b1-2ec720a32593" providerId="AD" clId="Web-{93105443-63B9-7F6F-5A60-4E1C3BD9B080}" dt="2026-07-19T17:24:16.868" v="106" actId="20577"/>
          <ac:spMkLst>
            <pc:docMk/>
            <pc:sldMk cId="0" sldId="268"/>
            <ac:spMk id="10" creationId="{00000000-0000-0000-0000-000000000000}"/>
          </ac:spMkLst>
        </pc:spChg>
      </pc:sldChg>
      <pc:sldChg chg="modSp">
        <pc:chgData name="Lewin Claaßen / HFW424" userId="S::lewin.claassen@edu.fhdw.de::1257112c-88fc-4c1c-90b1-2ec720a32593" providerId="AD" clId="Web-{93105443-63B9-7F6F-5A60-4E1C3BD9B080}" dt="2026-07-19T17:24:27.165" v="107" actId="20577"/>
        <pc:sldMkLst>
          <pc:docMk/>
          <pc:sldMk cId="0" sldId="269"/>
        </pc:sldMkLst>
        <pc:spChg chg="mod">
          <ac:chgData name="Lewin Claaßen / HFW424" userId="S::lewin.claassen@edu.fhdw.de::1257112c-88fc-4c1c-90b1-2ec720a32593" providerId="AD" clId="Web-{93105443-63B9-7F6F-5A60-4E1C3BD9B080}" dt="2026-07-19T17:24:27.165" v="107" actId="20577"/>
          <ac:spMkLst>
            <pc:docMk/>
            <pc:sldMk cId="0" sldId="269"/>
            <ac:spMk id="17" creationId="{00000000-0000-0000-0000-000000000000}"/>
          </ac:spMkLst>
        </pc:spChg>
      </pc:sldChg>
      <pc:sldChg chg="addSp delSp modSp add">
        <pc:chgData name="Lewin Claaßen / HFW424" userId="S::lewin.claassen@edu.fhdw.de::1257112c-88fc-4c1c-90b1-2ec720a32593" providerId="AD" clId="Web-{93105443-63B9-7F6F-5A60-4E1C3BD9B080}" dt="2026-07-19T17:24:09.258" v="105" actId="20577"/>
        <pc:sldMkLst>
          <pc:docMk/>
          <pc:sldMk cId="673098717" sldId="271"/>
        </pc:sldMkLst>
        <pc:spChg chg="del mod">
          <ac:chgData name="Lewin Claaßen / HFW424" userId="S::lewin.claassen@edu.fhdw.de::1257112c-88fc-4c1c-90b1-2ec720a32593" providerId="AD" clId="Web-{93105443-63B9-7F6F-5A60-4E1C3BD9B080}" dt="2026-07-19T14:07:47.499" v="60"/>
          <ac:spMkLst>
            <pc:docMk/>
            <pc:sldMk cId="673098717" sldId="271"/>
            <ac:spMk id="2" creationId="{39C52692-ABF4-46CA-80DE-9D75B4A2D948}"/>
          </ac:spMkLst>
        </pc:spChg>
        <pc:spChg chg="add del mod">
          <ac:chgData name="Lewin Claaßen / HFW424" userId="S::lewin.claassen@edu.fhdw.de::1257112c-88fc-4c1c-90b1-2ec720a32593" providerId="AD" clId="Web-{93105443-63B9-7F6F-5A60-4E1C3BD9B080}" dt="2026-07-19T14:07:51.764" v="62"/>
          <ac:spMkLst>
            <pc:docMk/>
            <pc:sldMk cId="673098717" sldId="271"/>
            <ac:spMk id="11" creationId="{20DA4E12-1A73-689D-D9AF-EDD27A144157}"/>
          </ac:spMkLst>
        </pc:spChg>
        <pc:spChg chg="add del mod">
          <ac:chgData name="Lewin Claaßen / HFW424" userId="S::lewin.claassen@edu.fhdw.de::1257112c-88fc-4c1c-90b1-2ec720a32593" providerId="AD" clId="Web-{93105443-63B9-7F6F-5A60-4E1C3BD9B080}" dt="2026-07-19T17:24:09.258" v="105" actId="20577"/>
          <ac:spMkLst>
            <pc:docMk/>
            <pc:sldMk cId="673098717" sldId="271"/>
            <ac:spMk id="13" creationId="{DE573B89-4C59-4F35-AD5D-6BDE1B20AC38}"/>
          </ac:spMkLst>
        </pc:spChg>
        <pc:spChg chg="add mod">
          <ac:chgData name="Lewin Claaßen / HFW424" userId="S::lewin.claassen@edu.fhdw.de::1257112c-88fc-4c1c-90b1-2ec720a32593" providerId="AD" clId="Web-{93105443-63B9-7F6F-5A60-4E1C3BD9B080}" dt="2026-07-19T14:09:22.471" v="81" actId="20577"/>
          <ac:spMkLst>
            <pc:docMk/>
            <pc:sldMk cId="673098717" sldId="271"/>
            <ac:spMk id="16" creationId="{13A5C53F-E24B-2ECE-77E2-3A576846513C}"/>
          </ac:spMkLst>
        </pc:spChg>
        <pc:picChg chg="mod">
          <ac:chgData name="Lewin Claaßen / HFW424" userId="S::lewin.claassen@edu.fhdw.de::1257112c-88fc-4c1c-90b1-2ec720a32593" providerId="AD" clId="Web-{93105443-63B9-7F6F-5A60-4E1C3BD9B080}" dt="2026-07-19T14:05:34.540" v="49" actId="1076"/>
          <ac:picMkLst>
            <pc:docMk/>
            <pc:sldMk cId="673098717" sldId="271"/>
            <ac:picMk id="22" creationId="{00000000-0000-0000-0000-000000000000}"/>
          </ac:picMkLst>
        </pc:picChg>
      </pc:sldChg>
      <pc:sldChg chg="modSp add">
        <pc:chgData name="Lewin Claaßen / HFW424" userId="S::lewin.claassen@edu.fhdw.de::1257112c-88fc-4c1c-90b1-2ec720a32593" providerId="AD" clId="Web-{93105443-63B9-7F6F-5A60-4E1C3BD9B080}" dt="2026-07-19T17:25:19.042" v="110" actId="20577"/>
        <pc:sldMkLst>
          <pc:docMk/>
          <pc:sldMk cId="4159541926" sldId="273"/>
        </pc:sldMkLst>
        <pc:spChg chg="mod">
          <ac:chgData name="Lewin Claaßen / HFW424" userId="S::lewin.claassen@edu.fhdw.de::1257112c-88fc-4c1c-90b1-2ec720a32593" providerId="AD" clId="Web-{93105443-63B9-7F6F-5A60-4E1C3BD9B080}" dt="2026-07-19T17:25:19.042" v="110" actId="20577"/>
          <ac:spMkLst>
            <pc:docMk/>
            <pc:sldMk cId="4159541926" sldId="273"/>
            <ac:spMk id="4" creationId="{93ACDAF2-E408-4D83-A8CD-D935C9318403}"/>
          </ac:spMkLst>
        </pc:spChg>
        <pc:spChg chg="mod">
          <ac:chgData name="Lewin Claaßen / HFW424" userId="S::lewin.claassen@edu.fhdw.de::1257112c-88fc-4c1c-90b1-2ec720a32593" providerId="AD" clId="Web-{93105443-63B9-7F6F-5A60-4E1C3BD9B080}" dt="2026-07-19T17:23:26.554" v="101" actId="20577"/>
          <ac:spMkLst>
            <pc:docMk/>
            <pc:sldMk cId="4159541926" sldId="273"/>
            <ac:spMk id="8" creationId="{12BAD80E-6D45-4F9E-B253-DA8D136BDEBC}"/>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6111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611188"/>
          </a:xfrm>
          <a:prstGeom prst="rect">
            <a:avLst/>
          </a:prstGeom>
        </p:spPr>
        <p:txBody>
          <a:bodyPr vert="horz" lIns="91440" tIns="45720" rIns="91440" bIns="45720" rtlCol="0"/>
          <a:lstStyle>
            <a:lvl1pPr algn="r">
              <a:defRPr sz="1200"/>
            </a:lvl1pPr>
          </a:lstStyle>
          <a:p>
            <a:fld id="{1D6B4F2B-5C96-4DBC-87FB-8CD10B8F047E}" type="datetimeFigureOut">
              <a:t>20.07.2026</a:t>
            </a:fld>
            <a:endParaRPr lang="en-US"/>
          </a:p>
        </p:txBody>
      </p:sp>
      <p:sp>
        <p:nvSpPr>
          <p:cNvPr id="4" name="Slide Image Placeholder 3"/>
          <p:cNvSpPr>
            <a:spLocks noGrp="1" noRot="1" noChangeAspect="1"/>
          </p:cNvSpPr>
          <p:nvPr>
            <p:ph type="sldImg" idx="2"/>
          </p:nvPr>
        </p:nvSpPr>
        <p:spPr>
          <a:xfrm>
            <a:off x="-228600" y="1524000"/>
            <a:ext cx="7315200" cy="41148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5867400"/>
            <a:ext cx="5486400" cy="48006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1580813"/>
            <a:ext cx="2971800" cy="6111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11580813"/>
            <a:ext cx="2971800" cy="611187"/>
          </a:xfrm>
          <a:prstGeom prst="rect">
            <a:avLst/>
          </a:prstGeom>
        </p:spPr>
        <p:txBody>
          <a:bodyPr vert="horz" lIns="91440" tIns="45720" rIns="91440" bIns="45720" rtlCol="0" anchor="b"/>
          <a:lstStyle>
            <a:lvl1pPr algn="r">
              <a:defRPr sz="1200"/>
            </a:lvl1pPr>
          </a:lstStyle>
          <a:p>
            <a:fld id="{3F9338D5-1F64-47F9-87B7-C9BE1B82C309}" type="slidenum">
              <a:t>‹#›</a:t>
            </a:fld>
            <a:endParaRPr lang="en-US"/>
          </a:p>
        </p:txBody>
      </p:sp>
    </p:spTree>
    <p:extLst>
      <p:ext uri="{BB962C8B-B14F-4D97-AF65-F5344CB8AC3E}">
        <p14:creationId xmlns:p14="http://schemas.microsoft.com/office/powerpoint/2010/main" val="42871463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Namen der Gruppenmitglieder ergänzen. Einstiegssatz: Wir haben untersucht, wie zuverlässig KIs aus Lastenheften UML-Diagramme erzeugen – und wo man ihnen nicht trauen darf.</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Systeme aus OOSE-1-Lastenheften. Pro Zelle liegt alles im Repo: Original-Code der KI, gerendertes Bild, Direktbild, Roh-Notizen, Einzelbewertung.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Kernsatz: Wir haben nicht einfach 'die KI gefragt', sondern einen wiederholbaren Messaufbau gebaut. Git-Historie ggf. hier kurz zeigen (git log --oneline), sonst in der Demo.</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"Den </a:t>
            </a:r>
            <a:r>
              <a:rPr lang="en-US" err="1">
                <a:ea typeface="Calibri"/>
                <a:cs typeface="Calibri"/>
              </a:rPr>
              <a:t>Diagrammauftrag</a:t>
            </a:r>
            <a:r>
              <a:rPr lang="en-US">
                <a:ea typeface="Calibri"/>
                <a:cs typeface="Calibri"/>
              </a:rPr>
              <a:t> </a:t>
            </a:r>
            <a:r>
              <a:rPr lang="en-US" err="1">
                <a:ea typeface="Calibri"/>
                <a:cs typeface="Calibri"/>
              </a:rPr>
              <a:t>grundlegend</a:t>
            </a:r>
            <a:r>
              <a:rPr lang="en-US">
                <a:ea typeface="Calibri"/>
                <a:cs typeface="Calibri"/>
              </a:rPr>
              <a:t> </a:t>
            </a:r>
            <a:r>
              <a:rPr lang="en-US" err="1">
                <a:ea typeface="Calibri"/>
                <a:cs typeface="Calibri"/>
              </a:rPr>
              <a:t>selber</a:t>
            </a:r>
            <a:r>
              <a:rPr lang="en-US">
                <a:ea typeface="Calibri"/>
                <a:cs typeface="Calibri"/>
              </a:rPr>
              <a:t> </a:t>
            </a:r>
            <a:r>
              <a:rPr lang="en-US" err="1">
                <a:ea typeface="Calibri"/>
                <a:cs typeface="Calibri"/>
              </a:rPr>
              <a:t>geschrieben</a:t>
            </a:r>
            <a:r>
              <a:rPr lang="en-US">
                <a:ea typeface="Calibri"/>
                <a:cs typeface="Calibri"/>
              </a:rPr>
              <a:t>, </a:t>
            </a:r>
            <a:r>
              <a:rPr lang="en-US" err="1">
                <a:ea typeface="Calibri"/>
                <a:cs typeface="Calibri"/>
              </a:rPr>
              <a:t>ihn</a:t>
            </a:r>
            <a:r>
              <a:rPr lang="en-US">
                <a:ea typeface="Calibri"/>
                <a:cs typeface="Calibri"/>
              </a:rPr>
              <a:t> </a:t>
            </a:r>
            <a:r>
              <a:rPr lang="en-US" err="1">
                <a:ea typeface="Calibri"/>
                <a:cs typeface="Calibri"/>
              </a:rPr>
              <a:t>aber</a:t>
            </a:r>
            <a:r>
              <a:rPr lang="en-US">
                <a:ea typeface="Calibri"/>
                <a:cs typeface="Calibri"/>
              </a:rPr>
              <a:t> von </a:t>
            </a:r>
            <a:r>
              <a:rPr lang="en-US" err="1">
                <a:ea typeface="Calibri"/>
                <a:cs typeface="Calibri"/>
              </a:rPr>
              <a:t>einer</a:t>
            </a:r>
            <a:r>
              <a:rPr lang="en-US">
                <a:ea typeface="Calibri"/>
                <a:cs typeface="Calibri"/>
              </a:rPr>
              <a:t> KI </a:t>
            </a:r>
            <a:r>
              <a:rPr lang="en-US" err="1">
                <a:ea typeface="Calibri"/>
                <a:cs typeface="Calibri"/>
              </a:rPr>
              <a:t>Verbessern</a:t>
            </a:r>
            <a:r>
              <a:rPr lang="en-US">
                <a:ea typeface="Calibri"/>
                <a:cs typeface="Calibri"/>
              </a:rPr>
              <a:t> </a:t>
            </a:r>
            <a:r>
              <a:rPr lang="en-US" err="1">
                <a:ea typeface="Calibri"/>
                <a:cs typeface="Calibri"/>
              </a:rPr>
              <a:t>lassen</a:t>
            </a:r>
            <a:r>
              <a:rPr lang="en-US">
                <a:ea typeface="Calibri"/>
                <a:cs typeface="Calibri"/>
              </a:rPr>
              <a:t> </a:t>
            </a:r>
            <a:r>
              <a:rPr lang="en-US" err="1">
                <a:ea typeface="Calibri"/>
                <a:cs typeface="Calibri"/>
              </a:rPr>
              <a:t>damit</a:t>
            </a:r>
            <a:r>
              <a:rPr lang="en-US">
                <a:ea typeface="Calibri"/>
                <a:cs typeface="Calibri"/>
              </a:rPr>
              <a:t> er maximal </a:t>
            </a:r>
            <a:r>
              <a:rPr lang="en-US" err="1">
                <a:ea typeface="Calibri"/>
                <a:cs typeface="Calibri"/>
              </a:rPr>
              <a:t>effe</a:t>
            </a:r>
            <a:r>
              <a:rPr lang="en-US">
                <a:ea typeface="Calibri"/>
                <a:cs typeface="Calibri"/>
              </a:rPr>
              <a:t>ktiv </a:t>
            </a:r>
            <a:r>
              <a:rPr lang="en-US" err="1">
                <a:ea typeface="Calibri"/>
                <a:cs typeface="Calibri"/>
              </a:rPr>
              <a:t>ist</a:t>
            </a:r>
            <a:r>
              <a:rPr lang="en-US">
                <a:ea typeface="Calibri"/>
                <a:cs typeface="Calibri"/>
              </a:rPr>
              <a:t>."</a:t>
            </a:r>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Je Zelle </a:t>
            </a:r>
            <a:r>
              <a:rPr lang="en-US" err="1"/>
              <a:t>gibt</a:t>
            </a:r>
            <a:r>
              <a:rPr lang="en-US"/>
              <a:t> es </a:t>
            </a:r>
            <a:r>
              <a:rPr lang="en-US" err="1"/>
              <a:t>eine</a:t>
            </a:r>
            <a:r>
              <a:rPr lang="en-US"/>
              <a:t> </a:t>
            </a:r>
            <a:r>
              <a:rPr lang="en-US" err="1"/>
              <a:t>schriftliche</a:t>
            </a:r>
            <a:r>
              <a:rPr lang="en-US"/>
              <a:t> </a:t>
            </a:r>
            <a:r>
              <a:rPr lang="en-US" err="1"/>
              <a:t>Einzelbewertung</a:t>
            </a:r>
            <a:r>
              <a:rPr lang="en-US"/>
              <a:t> (evaluation.md) </a:t>
            </a:r>
            <a:r>
              <a:rPr lang="en-US" err="1"/>
              <a:t>mit</a:t>
            </a:r>
            <a:r>
              <a:rPr lang="en-US"/>
              <a:t> </a:t>
            </a:r>
            <a:r>
              <a:rPr lang="en-US" err="1"/>
              <a:t>Befundlisten</a:t>
            </a:r>
            <a:r>
              <a:rPr lang="en-US"/>
              <a:t> – </a:t>
            </a:r>
            <a:r>
              <a:rPr lang="en-US" err="1"/>
              <a:t>jede</a:t>
            </a:r>
            <a:r>
              <a:rPr lang="en-US"/>
              <a:t> </a:t>
            </a:r>
            <a:r>
              <a:rPr lang="en-US" err="1"/>
              <a:t>Aussage</a:t>
            </a:r>
            <a:r>
              <a:rPr lang="en-US"/>
              <a:t> in </a:t>
            </a:r>
            <a:r>
              <a:rPr lang="en-US" err="1"/>
              <a:t>diesem</a:t>
            </a:r>
            <a:r>
              <a:rPr lang="en-US"/>
              <a:t> </a:t>
            </a:r>
            <a:r>
              <a:rPr lang="en-US" err="1"/>
              <a:t>Vortrag</a:t>
            </a:r>
            <a:r>
              <a:rPr lang="en-US"/>
              <a:t> </a:t>
            </a:r>
            <a:r>
              <a:rPr lang="en-US" err="1"/>
              <a:t>ist</a:t>
            </a:r>
            <a:r>
              <a:rPr lang="en-US"/>
              <a:t> </a:t>
            </a:r>
            <a:r>
              <a:rPr lang="en-US" err="1"/>
              <a:t>dort</a:t>
            </a:r>
            <a:r>
              <a:rPr lang="en-US"/>
              <a:t> </a:t>
            </a:r>
            <a:r>
              <a:rPr lang="en-US" err="1"/>
              <a:t>mit</a:t>
            </a:r>
            <a:r>
              <a:rPr lang="en-US"/>
              <a:t> </a:t>
            </a:r>
            <a:r>
              <a:rPr lang="en-US" err="1"/>
              <a:t>einer</a:t>
            </a:r>
            <a:r>
              <a:rPr lang="en-US"/>
              <a:t> </a:t>
            </a:r>
            <a:r>
              <a:rPr lang="en-US" err="1"/>
              <a:t>konkreten</a:t>
            </a:r>
            <a:r>
              <a:rPr lang="en-US"/>
              <a:t> Zelle </a:t>
            </a:r>
            <a:r>
              <a:rPr lang="en-US" err="1"/>
              <a:t>belegbar</a:t>
            </a:r>
            <a:r>
              <a:rPr lang="en-US"/>
              <a:t>.</a:t>
            </a:r>
          </a:p>
          <a:p>
            <a:endParaRPr lang="en-US">
              <a:ea typeface="Calibri"/>
              <a:cs typeface="Calibri"/>
            </a:endParaRPr>
          </a:p>
          <a:p>
            <a:r>
              <a:rPr lang="en-US">
                <a:ea typeface="Calibri"/>
                <a:cs typeface="Calibri"/>
              </a:rPr>
              <a:t>-&gt; Sagen, </a:t>
            </a:r>
            <a:r>
              <a:rPr lang="en-US" err="1">
                <a:ea typeface="Calibri"/>
                <a:cs typeface="Calibri"/>
              </a:rPr>
              <a:t>dass</a:t>
            </a:r>
            <a:r>
              <a:rPr lang="en-US">
                <a:ea typeface="Calibri"/>
                <a:cs typeface="Calibri"/>
              </a:rPr>
              <a:t> die KIs die </a:t>
            </a:r>
            <a:r>
              <a:rPr lang="en-US" err="1">
                <a:ea typeface="Calibri"/>
                <a:cs typeface="Calibri"/>
              </a:rPr>
              <a:t>Unterschiede</a:t>
            </a:r>
            <a:r>
              <a:rPr lang="en-US">
                <a:ea typeface="Calibri"/>
                <a:cs typeface="Calibri"/>
              </a:rPr>
              <a:t> von </a:t>
            </a:r>
            <a:r>
              <a:rPr lang="en-US" err="1">
                <a:ea typeface="Calibri"/>
                <a:cs typeface="Calibri"/>
              </a:rPr>
              <a:t>direktbild</a:t>
            </a:r>
            <a:r>
              <a:rPr lang="en-US">
                <a:ea typeface="Calibri"/>
                <a:cs typeface="Calibri"/>
              </a:rPr>
              <a:t> und </a:t>
            </a:r>
            <a:r>
              <a:rPr lang="en-US" err="1">
                <a:ea typeface="Calibri"/>
                <a:cs typeface="Calibri"/>
              </a:rPr>
              <a:t>PlantUML</a:t>
            </a:r>
            <a:r>
              <a:rPr lang="en-US">
                <a:ea typeface="Calibri"/>
                <a:cs typeface="Calibri"/>
              </a:rPr>
              <a:t> </a:t>
            </a:r>
            <a:r>
              <a:rPr lang="en-US" err="1">
                <a:ea typeface="Calibri"/>
                <a:cs typeface="Calibri"/>
              </a:rPr>
              <a:t>durch</a:t>
            </a:r>
            <a:r>
              <a:rPr lang="en-US">
                <a:ea typeface="Calibri"/>
                <a:cs typeface="Calibri"/>
              </a:rPr>
              <a:t> </a:t>
            </a:r>
            <a:r>
              <a:rPr lang="en-US" err="1">
                <a:ea typeface="Calibri"/>
                <a:cs typeface="Calibri"/>
              </a:rPr>
              <a:t>diese</a:t>
            </a:r>
            <a:r>
              <a:rPr lang="en-US">
                <a:ea typeface="Calibri"/>
                <a:cs typeface="Calibri"/>
              </a:rPr>
              <a:t> vier </a:t>
            </a:r>
            <a:r>
              <a:rPr lang="en-US" err="1">
                <a:ea typeface="Calibri"/>
                <a:cs typeface="Calibri"/>
              </a:rPr>
              <a:t>Fragen</a:t>
            </a:r>
            <a:r>
              <a:rPr lang="en-US">
                <a:ea typeface="Calibri"/>
                <a:cs typeface="Calibri"/>
              </a:rPr>
              <a:t> </a:t>
            </a:r>
            <a:r>
              <a:rPr lang="en-US" err="1">
                <a:ea typeface="Calibri"/>
                <a:cs typeface="Calibri"/>
              </a:rPr>
              <a:t>verglichen</a:t>
            </a:r>
            <a:r>
              <a:rPr lang="en-US">
                <a:ea typeface="Calibri"/>
                <a:cs typeface="Calibri"/>
              </a:rPr>
              <a:t> </a:t>
            </a:r>
            <a:r>
              <a:rPr lang="en-US" err="1">
                <a:ea typeface="Calibri"/>
                <a:cs typeface="Calibri"/>
              </a:rPr>
              <a:t>haben</a:t>
            </a:r>
            <a:r>
              <a:rPr lang="en-US">
                <a:ea typeface="Calibri"/>
                <a:cs typeface="Calibri"/>
              </a:rPr>
              <a: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Erwartung vieler: KI-Code ist fehlerhaft. Unser Ergebnis: Kompilierbarkeit war nie das Problem. Belege: ergebnisse/easylib/chatgpt/use-case, ergebnisse/easyride/chatgpt/aktivitaet.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Das ist unser Leitbeispiel: Das aufgeräumte, kontrastreiche Direktbild wirkt überzeugend – enthält aber fachliche Fehler gegen das Lastenheft. Der PlantUML-Code aus derselben Antwort modelliert alles richtig. Quelle: ergebnisse/easyride/chatgpt/klassendiagramm/. Merksatz für die Folie danach: Im Zweifel gilt der Code.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Muster statt Einzelfälle: Diese vier Kategorien decken alle beobachteten Bildfehler ab. Systeme und Diagrammtypen stehen jetzt ausformuliert auf der Folie; vollständige Zellpfade hier. Belege (je Muster mind. 2): M1 easyscoot/chatgpt/klassendiagramm (Preis-Abhängigkeit am EScooter statt an Fahrt; im Code korrekt) und easyride/chatgpt/klassendiagramm (Folie 8: drei Fehlanschlüsse, K2 direkt 2/5). M2 easyscoot/chatgpt/use-case (Nutzung beenden an E-Scooter-Software, Wartungsmodus beenden am Rechnungssystem – vertauscht), easylib/chatgpt/use-case (Vernetzte Bibliotheken an Leihfrist verlängern statt Bestandssuche; Kundendaten einsehen ohne Akteur) und easyscoot/chatgpt/aktivitaet (Nutzung beenden in der System- statt Kunden-Swimlane). M3 easylib/chatgpt/use-case (Bestand durchsuchen + Standort/Status einsehen je doppelt, 17 statt 15 Use Cases) und easyscoot/chatgpt/sequenz (Fahrtzusammenfassung doppelt gesendet, einmal vor der Preisberechnung). M4 easyride/claude/sequenz (loop-Fragment + Notizen fehlen im Direktbild), easylib/claude/sequenz (alt-Fragment/Fehlerfall fehlt) sowie bei ChatGPT alle drei Aktivitätsdiagramme: easyscoot (geforderte Entscheidung fehlt komplett), easyride (zweite Entscheidung fehlt), easylib (drei Swimlanes fehlen) – jeweils im Code vorhanden. Für Rückfragen: Bei ChatGPT stammen Bild und Code aus getrennten Durchläufen mit identischem Prompt (dokumentiert in den evaluation.md); bei Claudes Sequenz-v2 nachweislich aus demselben Durchlauf.</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Belege: +28 Tage in ergebnisse/easylib/claude/sequenz (als Annahme gekennzeichnet, aber nicht im Lastenheft); Auto-Layout in ergebnisse/easyride/claude/klassendiagramm; ChatGPT-Bildfehler s. Fehlermuster-Folie. Hinweis zur Logik der Folie: Die Code-Staerke von ChatGPT ist bewusst als Beleg der Format-These formuliert (Code korrekt trotz falschem Bild derselben Zelle) – kein KI-Vorteil, denn laut Fusszeile liefern beide KIs beim Code vergleichbar stark. Erfundene Features gab es uebrigens bei KEINER der beiden KIs (in allen evaluation.md geprueft); deshalb steht das nicht mehr als Claude-Alleinstellungsmerkmal in der Spalte.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Wichtig: Der schlechteste Einzelfall (Leitbeispiel) lag ausgerechnet beim einfachsten System EasyRide – ein einfaches Lastenheft schützt also nicht überall; die Komplexität sitzt dort in den Assoziationen.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Mindestanforderungen (≥5 Use Cases/Aktivitäten/Aufrufe) wurden übrigens ausnahmslos erfüllt – die Schwächen liegen im Layout und in der Bildtreue, nicht im Umfang. Bilder: ergebnisse/easyride/claude/klassendiagramm/.</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Dieses Direktbild wirkt auf den ersten Blick vollständig und übersichtlich. Bei genauer Prüfung gegen das Lastenheft und die UML-Semantik zeigen sich jedoch mehrere Fehler. Die vernetzten Bibliotheken sind an den falschen Use Case angeschlossen; Kundendaten einsehen besitzt keinen Akteursanschluss. Außerdem wurden Bestand durchsuchen und Standort und Status einsehen jeweils doppelt gezeichnet. Dadurch entstehen 17 statt der geforderten 15 Use Cases. Die Duplikate sind zusätzlich durch ungültige direkte Use-Case-zu-Use-Case-Linien verbunden. Das Beispiel bestätigt: Ein ordentliches Bild ersetzt keine fachliche Prüfung.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Wie stark allein der Darstellungsweg wirkt, zeigt dieses Klassendiagramm. Beide Bilder enthalten dasselbe Modell. Das rechte Bild wurde aus dem vorhandenen PlantUML-Modell abgeleitet; deshalb vergleichen wir hier ausschließlich die Anordnung und Lesbarkeit, nicht die inhaltliche Qualität. PlantUML verteilt die Beziehungen weit über die Fläche, während der alternative Zeichenweg denselben Inhalt kompakter anordnet. Übergabe: Wir wissen jetzt, welche Strukturen robuster sind. Aber liefert derselbe Prompt beim nächsten Durchlauf überhaupt wieder dasselbe Ergebnis?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Transparenz: Die zweiten Durchläufe liefen bei Claude (v2-Dateien in den Zellen). Das ist bewusst keine Prompt-Iteration, sondern ein Reproduzierbarkeits-Test – wissenschaftlich mindestens so interessant.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Diese Folie proaktiv bringen – sie beantwortet die kritischste Frage der Fragerunde, bevor sie gestellt wird, und zeigt wissenschaftliche Redlichkeit (Stichwort mögliche Publikation der Multi-Case-Studies).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Antworten für die Fragerunde: Warum kein Gemini? (keine Artefakte, Zellen offen statt erfunden) · Ist der Vergleich fair? (identische Prompts, frische Sessions, Original als Messobjekt) · Welche KI ist besser? (beim Code kaum Unterschied – der Unterschied liegt zwischen den Formaten) · Was würden wir anders machen? (echte Prompt-Iteration, unabhängige Bewertung von Anfang an, Gemini nachziehen).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8321040" y="1417320"/>
            <a:ext cx="566928" cy="566928"/>
          </a:xfrm>
          <a:prstGeom prst="roundRect">
            <a:avLst>
              <a:gd name="adj" fmla="val 9677"/>
            </a:avLst>
          </a:prstGeom>
          <a:solidFill>
            <a:srgbClr val="CADCFC">
              <a:alpha val="45000"/>
            </a:srgbClr>
          </a:solidFill>
          <a:ln/>
        </p:spPr>
        <p:txBody>
          <a:bodyPr/>
          <a:lstStyle/>
          <a:p>
            <a:endParaRPr lang="de-DE"/>
          </a:p>
        </p:txBody>
      </p:sp>
      <p:sp>
        <p:nvSpPr>
          <p:cNvPr id="3" name="Shape 1"/>
          <p:cNvSpPr/>
          <p:nvPr/>
        </p:nvSpPr>
        <p:spPr>
          <a:xfrm>
            <a:off x="9034272" y="1417320"/>
            <a:ext cx="566928" cy="566928"/>
          </a:xfrm>
          <a:prstGeom prst="roundRect">
            <a:avLst>
              <a:gd name="adj" fmla="val 9677"/>
            </a:avLst>
          </a:prstGeom>
          <a:solidFill>
            <a:srgbClr val="3E5FA3">
              <a:alpha val="70000"/>
            </a:srgbClr>
          </a:solidFill>
          <a:ln/>
        </p:spPr>
        <p:txBody>
          <a:bodyPr/>
          <a:lstStyle/>
          <a:p>
            <a:endParaRPr lang="de-DE"/>
          </a:p>
        </p:txBody>
      </p:sp>
      <p:sp>
        <p:nvSpPr>
          <p:cNvPr id="4" name="Shape 2"/>
          <p:cNvSpPr/>
          <p:nvPr/>
        </p:nvSpPr>
        <p:spPr>
          <a:xfrm>
            <a:off x="9747504" y="1417320"/>
            <a:ext cx="566928" cy="566928"/>
          </a:xfrm>
          <a:prstGeom prst="roundRect">
            <a:avLst>
              <a:gd name="adj" fmla="val 9677"/>
            </a:avLst>
          </a:prstGeom>
          <a:solidFill>
            <a:srgbClr val="CADCFC">
              <a:alpha val="25000"/>
            </a:srgbClr>
          </a:solidFill>
          <a:ln/>
        </p:spPr>
        <p:txBody>
          <a:bodyPr/>
          <a:lstStyle/>
          <a:p>
            <a:endParaRPr lang="de-DE"/>
          </a:p>
        </p:txBody>
      </p:sp>
      <p:sp>
        <p:nvSpPr>
          <p:cNvPr id="5" name="Shape 3"/>
          <p:cNvSpPr/>
          <p:nvPr/>
        </p:nvSpPr>
        <p:spPr>
          <a:xfrm>
            <a:off x="10460736" y="1417320"/>
            <a:ext cx="566928" cy="566928"/>
          </a:xfrm>
          <a:prstGeom prst="roundRect">
            <a:avLst>
              <a:gd name="adj" fmla="val 9677"/>
            </a:avLst>
          </a:prstGeom>
          <a:solidFill>
            <a:srgbClr val="FFFFFF">
              <a:alpha val="12000"/>
            </a:srgbClr>
          </a:solidFill>
          <a:ln/>
        </p:spPr>
        <p:txBody>
          <a:bodyPr/>
          <a:lstStyle/>
          <a:p>
            <a:endParaRPr lang="de-DE"/>
          </a:p>
        </p:txBody>
      </p:sp>
      <p:sp>
        <p:nvSpPr>
          <p:cNvPr id="6" name="Shape 4"/>
          <p:cNvSpPr/>
          <p:nvPr/>
        </p:nvSpPr>
        <p:spPr>
          <a:xfrm>
            <a:off x="8321040" y="2130552"/>
            <a:ext cx="566928" cy="566928"/>
          </a:xfrm>
          <a:prstGeom prst="roundRect">
            <a:avLst>
              <a:gd name="adj" fmla="val 9677"/>
            </a:avLst>
          </a:prstGeom>
          <a:solidFill>
            <a:srgbClr val="3E5FA3">
              <a:alpha val="45000"/>
            </a:srgbClr>
          </a:solidFill>
          <a:ln/>
        </p:spPr>
        <p:txBody>
          <a:bodyPr/>
          <a:lstStyle/>
          <a:p>
            <a:endParaRPr lang="de-DE"/>
          </a:p>
        </p:txBody>
      </p:sp>
      <p:sp>
        <p:nvSpPr>
          <p:cNvPr id="7" name="Shape 5"/>
          <p:cNvSpPr/>
          <p:nvPr/>
        </p:nvSpPr>
        <p:spPr>
          <a:xfrm>
            <a:off x="9034272" y="2130552"/>
            <a:ext cx="566928" cy="566928"/>
          </a:xfrm>
          <a:prstGeom prst="roundRect">
            <a:avLst>
              <a:gd name="adj" fmla="val 9677"/>
            </a:avLst>
          </a:prstGeom>
          <a:solidFill>
            <a:srgbClr val="CADCFC">
              <a:alpha val="60000"/>
            </a:srgbClr>
          </a:solidFill>
          <a:ln/>
        </p:spPr>
        <p:txBody>
          <a:bodyPr/>
          <a:lstStyle/>
          <a:p>
            <a:endParaRPr lang="de-DE"/>
          </a:p>
        </p:txBody>
      </p:sp>
      <p:sp>
        <p:nvSpPr>
          <p:cNvPr id="8" name="Shape 6"/>
          <p:cNvSpPr/>
          <p:nvPr/>
        </p:nvSpPr>
        <p:spPr>
          <a:xfrm>
            <a:off x="9747504" y="2130552"/>
            <a:ext cx="566928" cy="566928"/>
          </a:xfrm>
          <a:prstGeom prst="roundRect">
            <a:avLst>
              <a:gd name="adj" fmla="val 9677"/>
            </a:avLst>
          </a:prstGeom>
          <a:solidFill>
            <a:srgbClr val="CADCFC">
              <a:alpha val="45000"/>
            </a:srgbClr>
          </a:solidFill>
          <a:ln/>
        </p:spPr>
        <p:txBody>
          <a:bodyPr/>
          <a:lstStyle/>
          <a:p>
            <a:endParaRPr lang="de-DE"/>
          </a:p>
        </p:txBody>
      </p:sp>
      <p:sp>
        <p:nvSpPr>
          <p:cNvPr id="9" name="Shape 7"/>
          <p:cNvSpPr/>
          <p:nvPr/>
        </p:nvSpPr>
        <p:spPr>
          <a:xfrm>
            <a:off x="10460736" y="2130552"/>
            <a:ext cx="566928" cy="566928"/>
          </a:xfrm>
          <a:prstGeom prst="roundRect">
            <a:avLst>
              <a:gd name="adj" fmla="val 9677"/>
            </a:avLst>
          </a:prstGeom>
          <a:solidFill>
            <a:srgbClr val="3E5FA3">
              <a:alpha val="70000"/>
            </a:srgbClr>
          </a:solidFill>
          <a:ln/>
        </p:spPr>
        <p:txBody>
          <a:bodyPr/>
          <a:lstStyle/>
          <a:p>
            <a:endParaRPr lang="de-DE"/>
          </a:p>
        </p:txBody>
      </p:sp>
      <p:sp>
        <p:nvSpPr>
          <p:cNvPr id="10" name="Shape 8"/>
          <p:cNvSpPr/>
          <p:nvPr/>
        </p:nvSpPr>
        <p:spPr>
          <a:xfrm>
            <a:off x="8321040" y="2843784"/>
            <a:ext cx="566928" cy="566928"/>
          </a:xfrm>
          <a:prstGeom prst="roundRect">
            <a:avLst>
              <a:gd name="adj" fmla="val 9677"/>
            </a:avLst>
          </a:prstGeom>
          <a:solidFill>
            <a:srgbClr val="CADCFC">
              <a:alpha val="25000"/>
            </a:srgbClr>
          </a:solidFill>
          <a:ln/>
        </p:spPr>
        <p:txBody>
          <a:bodyPr/>
          <a:lstStyle/>
          <a:p>
            <a:endParaRPr lang="de-DE"/>
          </a:p>
        </p:txBody>
      </p:sp>
      <p:sp>
        <p:nvSpPr>
          <p:cNvPr id="11" name="Shape 9"/>
          <p:cNvSpPr/>
          <p:nvPr/>
        </p:nvSpPr>
        <p:spPr>
          <a:xfrm>
            <a:off x="9034272" y="2843784"/>
            <a:ext cx="566928" cy="566928"/>
          </a:xfrm>
          <a:prstGeom prst="roundRect">
            <a:avLst>
              <a:gd name="adj" fmla="val 9677"/>
            </a:avLst>
          </a:prstGeom>
          <a:solidFill>
            <a:srgbClr val="FFFFFF">
              <a:alpha val="12000"/>
            </a:srgbClr>
          </a:solidFill>
          <a:ln/>
        </p:spPr>
        <p:txBody>
          <a:bodyPr/>
          <a:lstStyle/>
          <a:p>
            <a:endParaRPr lang="de-DE"/>
          </a:p>
        </p:txBody>
      </p:sp>
      <p:sp>
        <p:nvSpPr>
          <p:cNvPr id="12" name="Shape 10"/>
          <p:cNvSpPr/>
          <p:nvPr/>
        </p:nvSpPr>
        <p:spPr>
          <a:xfrm>
            <a:off x="9747504" y="2843784"/>
            <a:ext cx="566928" cy="566928"/>
          </a:xfrm>
          <a:prstGeom prst="roundRect">
            <a:avLst>
              <a:gd name="adj" fmla="val 9677"/>
            </a:avLst>
          </a:prstGeom>
          <a:solidFill>
            <a:srgbClr val="3E5FA3">
              <a:alpha val="45000"/>
            </a:srgbClr>
          </a:solidFill>
          <a:ln/>
        </p:spPr>
        <p:txBody>
          <a:bodyPr/>
          <a:lstStyle/>
          <a:p>
            <a:endParaRPr lang="de-DE"/>
          </a:p>
        </p:txBody>
      </p:sp>
      <p:sp>
        <p:nvSpPr>
          <p:cNvPr id="13" name="Shape 11"/>
          <p:cNvSpPr/>
          <p:nvPr/>
        </p:nvSpPr>
        <p:spPr>
          <a:xfrm>
            <a:off x="10460736" y="2843784"/>
            <a:ext cx="566928" cy="566928"/>
          </a:xfrm>
          <a:prstGeom prst="roundRect">
            <a:avLst>
              <a:gd name="adj" fmla="val 9677"/>
            </a:avLst>
          </a:prstGeom>
          <a:solidFill>
            <a:srgbClr val="CADCFC">
              <a:alpha val="60000"/>
            </a:srgbClr>
          </a:solidFill>
          <a:ln/>
        </p:spPr>
        <p:txBody>
          <a:bodyPr/>
          <a:lstStyle/>
          <a:p>
            <a:endParaRPr lang="de-DE"/>
          </a:p>
        </p:txBody>
      </p:sp>
      <p:sp>
        <p:nvSpPr>
          <p:cNvPr id="14" name="Shape 12"/>
          <p:cNvSpPr/>
          <p:nvPr/>
        </p:nvSpPr>
        <p:spPr>
          <a:xfrm>
            <a:off x="8321040" y="3557016"/>
            <a:ext cx="566928" cy="566928"/>
          </a:xfrm>
          <a:prstGeom prst="roundRect">
            <a:avLst>
              <a:gd name="adj" fmla="val 9677"/>
            </a:avLst>
          </a:prstGeom>
          <a:solidFill>
            <a:srgbClr val="CADCFC">
              <a:alpha val="45000"/>
            </a:srgbClr>
          </a:solidFill>
          <a:ln/>
        </p:spPr>
        <p:txBody>
          <a:bodyPr/>
          <a:lstStyle/>
          <a:p>
            <a:endParaRPr lang="de-DE"/>
          </a:p>
        </p:txBody>
      </p:sp>
      <p:sp>
        <p:nvSpPr>
          <p:cNvPr id="15" name="Shape 13"/>
          <p:cNvSpPr/>
          <p:nvPr/>
        </p:nvSpPr>
        <p:spPr>
          <a:xfrm>
            <a:off x="9034272" y="3557016"/>
            <a:ext cx="566928" cy="566928"/>
          </a:xfrm>
          <a:prstGeom prst="roundRect">
            <a:avLst>
              <a:gd name="adj" fmla="val 9677"/>
            </a:avLst>
          </a:prstGeom>
          <a:solidFill>
            <a:srgbClr val="3E5FA3">
              <a:alpha val="70000"/>
            </a:srgbClr>
          </a:solidFill>
          <a:ln/>
        </p:spPr>
        <p:txBody>
          <a:bodyPr/>
          <a:lstStyle/>
          <a:p>
            <a:endParaRPr lang="de-DE"/>
          </a:p>
        </p:txBody>
      </p:sp>
      <p:sp>
        <p:nvSpPr>
          <p:cNvPr id="16" name="Shape 14"/>
          <p:cNvSpPr/>
          <p:nvPr/>
        </p:nvSpPr>
        <p:spPr>
          <a:xfrm>
            <a:off x="9747504" y="3557016"/>
            <a:ext cx="566928" cy="566928"/>
          </a:xfrm>
          <a:prstGeom prst="roundRect">
            <a:avLst>
              <a:gd name="adj" fmla="val 9677"/>
            </a:avLst>
          </a:prstGeom>
          <a:solidFill>
            <a:srgbClr val="CADCFC">
              <a:alpha val="25000"/>
            </a:srgbClr>
          </a:solidFill>
          <a:ln/>
        </p:spPr>
        <p:txBody>
          <a:bodyPr/>
          <a:lstStyle/>
          <a:p>
            <a:endParaRPr lang="de-DE"/>
          </a:p>
        </p:txBody>
      </p:sp>
      <p:sp>
        <p:nvSpPr>
          <p:cNvPr id="17" name="Shape 15"/>
          <p:cNvSpPr/>
          <p:nvPr/>
        </p:nvSpPr>
        <p:spPr>
          <a:xfrm>
            <a:off x="10460736" y="3557016"/>
            <a:ext cx="566928" cy="566928"/>
          </a:xfrm>
          <a:prstGeom prst="roundRect">
            <a:avLst>
              <a:gd name="adj" fmla="val 9677"/>
            </a:avLst>
          </a:prstGeom>
          <a:solidFill>
            <a:srgbClr val="FFFFFF">
              <a:alpha val="12000"/>
            </a:srgbClr>
          </a:solidFill>
          <a:ln/>
        </p:spPr>
        <p:txBody>
          <a:bodyPr/>
          <a:lstStyle/>
          <a:p>
            <a:endParaRPr lang="de-DE"/>
          </a:p>
        </p:txBody>
      </p:sp>
      <p:sp>
        <p:nvSpPr>
          <p:cNvPr id="18" name="Shape 16"/>
          <p:cNvSpPr/>
          <p:nvPr/>
        </p:nvSpPr>
        <p:spPr>
          <a:xfrm>
            <a:off x="8321040" y="4270248"/>
            <a:ext cx="566928" cy="566928"/>
          </a:xfrm>
          <a:prstGeom prst="roundRect">
            <a:avLst>
              <a:gd name="adj" fmla="val 9677"/>
            </a:avLst>
          </a:prstGeom>
          <a:solidFill>
            <a:srgbClr val="3E5FA3">
              <a:alpha val="45000"/>
            </a:srgbClr>
          </a:solidFill>
          <a:ln/>
        </p:spPr>
        <p:txBody>
          <a:bodyPr/>
          <a:lstStyle/>
          <a:p>
            <a:endParaRPr lang="de-DE"/>
          </a:p>
        </p:txBody>
      </p:sp>
      <p:sp>
        <p:nvSpPr>
          <p:cNvPr id="19" name="Shape 17"/>
          <p:cNvSpPr/>
          <p:nvPr/>
        </p:nvSpPr>
        <p:spPr>
          <a:xfrm>
            <a:off x="9034272" y="4270248"/>
            <a:ext cx="566928" cy="566928"/>
          </a:xfrm>
          <a:prstGeom prst="roundRect">
            <a:avLst>
              <a:gd name="adj" fmla="val 9677"/>
            </a:avLst>
          </a:prstGeom>
          <a:solidFill>
            <a:srgbClr val="CADCFC">
              <a:alpha val="60000"/>
            </a:srgbClr>
          </a:solidFill>
          <a:ln/>
        </p:spPr>
        <p:txBody>
          <a:bodyPr/>
          <a:lstStyle/>
          <a:p>
            <a:endParaRPr lang="de-DE"/>
          </a:p>
        </p:txBody>
      </p:sp>
      <p:sp>
        <p:nvSpPr>
          <p:cNvPr id="20" name="Shape 18"/>
          <p:cNvSpPr/>
          <p:nvPr/>
        </p:nvSpPr>
        <p:spPr>
          <a:xfrm>
            <a:off x="9747504" y="4270248"/>
            <a:ext cx="566928" cy="566928"/>
          </a:xfrm>
          <a:prstGeom prst="roundRect">
            <a:avLst>
              <a:gd name="adj" fmla="val 9677"/>
            </a:avLst>
          </a:prstGeom>
          <a:solidFill>
            <a:srgbClr val="CADCFC">
              <a:alpha val="45000"/>
            </a:srgbClr>
          </a:solidFill>
          <a:ln/>
        </p:spPr>
        <p:txBody>
          <a:bodyPr/>
          <a:lstStyle/>
          <a:p>
            <a:endParaRPr lang="de-DE"/>
          </a:p>
        </p:txBody>
      </p:sp>
      <p:sp>
        <p:nvSpPr>
          <p:cNvPr id="21" name="Shape 19"/>
          <p:cNvSpPr/>
          <p:nvPr/>
        </p:nvSpPr>
        <p:spPr>
          <a:xfrm>
            <a:off x="10460736" y="4270248"/>
            <a:ext cx="566928" cy="566928"/>
          </a:xfrm>
          <a:prstGeom prst="roundRect">
            <a:avLst>
              <a:gd name="adj" fmla="val 9677"/>
            </a:avLst>
          </a:prstGeom>
          <a:solidFill>
            <a:srgbClr val="3E5FA3">
              <a:alpha val="70000"/>
            </a:srgbClr>
          </a:solidFill>
          <a:ln/>
        </p:spPr>
        <p:txBody>
          <a:bodyPr/>
          <a:lstStyle/>
          <a:p>
            <a:endParaRPr lang="de-DE"/>
          </a:p>
        </p:txBody>
      </p:sp>
      <p:sp>
        <p:nvSpPr>
          <p:cNvPr id="22" name="Shape 20"/>
          <p:cNvSpPr/>
          <p:nvPr/>
        </p:nvSpPr>
        <p:spPr>
          <a:xfrm>
            <a:off x="8321040" y="4983480"/>
            <a:ext cx="566928" cy="566928"/>
          </a:xfrm>
          <a:prstGeom prst="roundRect">
            <a:avLst>
              <a:gd name="adj" fmla="val 9677"/>
            </a:avLst>
          </a:prstGeom>
          <a:solidFill>
            <a:srgbClr val="CADCFC">
              <a:alpha val="25000"/>
            </a:srgbClr>
          </a:solidFill>
          <a:ln/>
        </p:spPr>
        <p:txBody>
          <a:bodyPr/>
          <a:lstStyle/>
          <a:p>
            <a:endParaRPr lang="de-DE"/>
          </a:p>
        </p:txBody>
      </p:sp>
      <p:sp>
        <p:nvSpPr>
          <p:cNvPr id="23" name="Shape 21"/>
          <p:cNvSpPr/>
          <p:nvPr/>
        </p:nvSpPr>
        <p:spPr>
          <a:xfrm>
            <a:off x="9034272" y="4983480"/>
            <a:ext cx="566928" cy="566928"/>
          </a:xfrm>
          <a:prstGeom prst="roundRect">
            <a:avLst>
              <a:gd name="adj" fmla="val 9677"/>
            </a:avLst>
          </a:prstGeom>
          <a:solidFill>
            <a:srgbClr val="FFFFFF">
              <a:alpha val="12000"/>
            </a:srgbClr>
          </a:solidFill>
          <a:ln/>
        </p:spPr>
        <p:txBody>
          <a:bodyPr/>
          <a:lstStyle/>
          <a:p>
            <a:endParaRPr lang="de-DE"/>
          </a:p>
        </p:txBody>
      </p:sp>
      <p:sp>
        <p:nvSpPr>
          <p:cNvPr id="24" name="Shape 22"/>
          <p:cNvSpPr/>
          <p:nvPr/>
        </p:nvSpPr>
        <p:spPr>
          <a:xfrm>
            <a:off x="9747504" y="4983480"/>
            <a:ext cx="566928" cy="566928"/>
          </a:xfrm>
          <a:prstGeom prst="roundRect">
            <a:avLst>
              <a:gd name="adj" fmla="val 9677"/>
            </a:avLst>
          </a:prstGeom>
          <a:solidFill>
            <a:srgbClr val="3E5FA3">
              <a:alpha val="45000"/>
            </a:srgbClr>
          </a:solidFill>
          <a:ln/>
        </p:spPr>
        <p:txBody>
          <a:bodyPr/>
          <a:lstStyle/>
          <a:p>
            <a:endParaRPr lang="de-DE"/>
          </a:p>
        </p:txBody>
      </p:sp>
      <p:sp>
        <p:nvSpPr>
          <p:cNvPr id="25" name="Shape 23"/>
          <p:cNvSpPr/>
          <p:nvPr/>
        </p:nvSpPr>
        <p:spPr>
          <a:xfrm>
            <a:off x="10460736" y="4983480"/>
            <a:ext cx="566928" cy="566928"/>
          </a:xfrm>
          <a:prstGeom prst="roundRect">
            <a:avLst>
              <a:gd name="adj" fmla="val 9677"/>
            </a:avLst>
          </a:prstGeom>
          <a:solidFill>
            <a:srgbClr val="CADCFC">
              <a:alpha val="60000"/>
            </a:srgbClr>
          </a:solidFill>
          <a:ln/>
        </p:spPr>
        <p:txBody>
          <a:bodyPr/>
          <a:lstStyle/>
          <a:p>
            <a:endParaRPr lang="de-DE"/>
          </a:p>
        </p:txBody>
      </p:sp>
      <p:sp>
        <p:nvSpPr>
          <p:cNvPr id="26" name="Text 24"/>
          <p:cNvSpPr/>
          <p:nvPr/>
        </p:nvSpPr>
        <p:spPr>
          <a:xfrm>
            <a:off x="640080" y="1417320"/>
            <a:ext cx="6949440" cy="320040"/>
          </a:xfrm>
          <a:prstGeom prst="rect">
            <a:avLst/>
          </a:prstGeom>
          <a:noFill/>
          <a:ln/>
        </p:spPr>
        <p:txBody>
          <a:bodyPr wrap="square" lIns="0" tIns="0" rIns="0" bIns="0" rtlCol="0" anchor="ctr"/>
          <a:lstStyle/>
          <a:p>
            <a:pPr marL="0" indent="0">
              <a:buNone/>
            </a:pPr>
            <a:r>
              <a:rPr lang="en-US" sz="1400" b="1" kern="0" spc="200">
                <a:solidFill>
                  <a:srgbClr val="CADCFC"/>
                </a:solidFill>
                <a:latin typeface="Calibri" pitchFamily="34" charset="0"/>
                <a:ea typeface="Calibri" pitchFamily="34" charset="-122"/>
                <a:cs typeface="Calibri" pitchFamily="34" charset="-120"/>
              </a:rPr>
              <a:t>INFORMATIONSINFRASTRUKTUREN · FHDW · Q3-2026</a:t>
            </a:r>
            <a:endParaRPr lang="en-US" sz="1400"/>
          </a:p>
        </p:txBody>
      </p:sp>
      <p:sp>
        <p:nvSpPr>
          <p:cNvPr id="27" name="Text 25"/>
          <p:cNvSpPr/>
          <p:nvPr/>
        </p:nvSpPr>
        <p:spPr>
          <a:xfrm>
            <a:off x="640080" y="1828800"/>
            <a:ext cx="7498080" cy="960120"/>
          </a:xfrm>
          <a:prstGeom prst="rect">
            <a:avLst/>
          </a:prstGeom>
          <a:noFill/>
          <a:ln/>
        </p:spPr>
        <p:txBody>
          <a:bodyPr wrap="square" lIns="0" tIns="0" rIns="0" bIns="0" rtlCol="0" anchor="ctr"/>
          <a:lstStyle/>
          <a:p>
            <a:pPr marL="0" indent="0">
              <a:buNone/>
            </a:pPr>
            <a:r>
              <a:rPr lang="en-US" sz="5400" b="1">
                <a:solidFill>
                  <a:srgbClr val="FFFFFF"/>
                </a:solidFill>
                <a:latin typeface="Cambria" pitchFamily="34" charset="0"/>
                <a:ea typeface="Cambria" pitchFamily="34" charset="-122"/>
                <a:cs typeface="Cambria" pitchFamily="34" charset="-120"/>
              </a:rPr>
              <a:t>Modellierung mit KI</a:t>
            </a:r>
            <a:endParaRPr lang="en-US" sz="5400"/>
          </a:p>
        </p:txBody>
      </p:sp>
      <p:sp>
        <p:nvSpPr>
          <p:cNvPr id="28" name="Text 26"/>
          <p:cNvSpPr/>
          <p:nvPr/>
        </p:nvSpPr>
        <p:spPr>
          <a:xfrm>
            <a:off x="640080" y="2834640"/>
            <a:ext cx="7223760" cy="777240"/>
          </a:xfrm>
          <a:prstGeom prst="rect">
            <a:avLst/>
          </a:prstGeom>
          <a:noFill/>
          <a:ln/>
        </p:spPr>
        <p:txBody>
          <a:bodyPr wrap="square" lIns="0" tIns="0" rIns="0" bIns="0" rtlCol="0" anchor="ctr"/>
          <a:lstStyle/>
          <a:p>
            <a:pPr marL="0" indent="0">
              <a:buNone/>
            </a:pPr>
            <a:r>
              <a:rPr lang="en-US" sz="2000">
                <a:solidFill>
                  <a:srgbClr val="E8EEF9"/>
                </a:solidFill>
                <a:latin typeface="Calibri" pitchFamily="34" charset="0"/>
                <a:ea typeface="Calibri" pitchFamily="34" charset="-122"/>
                <a:cs typeface="Calibri" pitchFamily="34" charset="-120"/>
              </a:rPr>
              <a:t>Multi-Case-Study mit UML — Vorgehen, Evaluation und Erkenntnisse</a:t>
            </a:r>
            <a:endParaRPr lang="en-US" sz="2000"/>
          </a:p>
        </p:txBody>
      </p:sp>
      <p:sp>
        <p:nvSpPr>
          <p:cNvPr id="29" name="Text 27"/>
          <p:cNvSpPr/>
          <p:nvPr/>
        </p:nvSpPr>
        <p:spPr>
          <a:xfrm>
            <a:off x="640080" y="5358673"/>
            <a:ext cx="6858000" cy="545738"/>
          </a:xfrm>
          <a:prstGeom prst="rect">
            <a:avLst/>
          </a:prstGeom>
          <a:noFill/>
          <a:ln/>
        </p:spPr>
        <p:txBody>
          <a:bodyPr wrap="square" lIns="0" tIns="0" rIns="0" bIns="0" rtlCol="0" anchor="ctr"/>
          <a:lstStyle/>
          <a:p>
            <a:pPr marL="0" indent="0">
              <a:lnSpc>
                <a:spcPct val="120000"/>
              </a:lnSpc>
              <a:buNone/>
            </a:pPr>
            <a:r>
              <a:rPr lang="en-US" sz="1400" err="1">
                <a:solidFill>
                  <a:srgbClr val="CADCFC"/>
                </a:solidFill>
                <a:latin typeface="Calibri"/>
                <a:ea typeface="Calibri"/>
                <a:cs typeface="Calibri"/>
              </a:rPr>
              <a:t>Projektpräsentation</a:t>
            </a:r>
            <a:r>
              <a:rPr lang="en-US" sz="1400">
                <a:solidFill>
                  <a:srgbClr val="CADCFC"/>
                </a:solidFill>
                <a:latin typeface="Calibri"/>
                <a:ea typeface="Calibri"/>
                <a:cs typeface="Calibri"/>
              </a:rPr>
              <a:t> · 20.07.2026</a:t>
            </a:r>
            <a:endParaRPr lang="en-US" sz="1400">
              <a:latin typeface="Calibri"/>
              <a:ea typeface="Calibri"/>
              <a:cs typeface="Calibri"/>
            </a:endParaRPr>
          </a:p>
          <a:p>
            <a:pPr>
              <a:lnSpc>
                <a:spcPct val="120000"/>
              </a:lnSpc>
            </a:pPr>
            <a:r>
              <a:rPr lang="en-US" sz="1400">
                <a:solidFill>
                  <a:srgbClr val="CADCFC"/>
                </a:solidFill>
                <a:ea typeface="Calibri"/>
                <a:cs typeface="Calibri"/>
              </a:rPr>
              <a:t>Tim, Basti, Linus, Lewin, Jannik und Alex</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AGENDA</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In 20 Minuten durch die Studie</a:t>
            </a:r>
            <a:endParaRPr lang="en-US" sz="3000"/>
          </a:p>
        </p:txBody>
      </p:sp>
      <p:sp>
        <p:nvSpPr>
          <p:cNvPr id="4" name="Shape 2"/>
          <p:cNvSpPr/>
          <p:nvPr/>
        </p:nvSpPr>
        <p:spPr>
          <a:xfrm>
            <a:off x="566928" y="1746504"/>
            <a:ext cx="384048" cy="384048"/>
          </a:xfrm>
          <a:prstGeom prst="ellipse">
            <a:avLst/>
          </a:prstGeom>
          <a:solidFill>
            <a:srgbClr val="3E5FA3"/>
          </a:solidFill>
          <a:ln/>
        </p:spPr>
        <p:txBody>
          <a:bodyPr/>
          <a:lstStyle/>
          <a:p>
            <a:endParaRPr lang="de-DE"/>
          </a:p>
        </p:txBody>
      </p:sp>
      <p:sp>
        <p:nvSpPr>
          <p:cNvPr id="5" name="Text 3"/>
          <p:cNvSpPr/>
          <p:nvPr/>
        </p:nvSpPr>
        <p:spPr>
          <a:xfrm>
            <a:off x="566928" y="1737360"/>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1</a:t>
            </a:r>
            <a:endParaRPr lang="en-US" sz="1500"/>
          </a:p>
        </p:txBody>
      </p:sp>
      <p:sp>
        <p:nvSpPr>
          <p:cNvPr id="6" name="Text 4"/>
          <p:cNvSpPr/>
          <p:nvPr/>
        </p:nvSpPr>
        <p:spPr>
          <a:xfrm>
            <a:off x="1143000" y="1691640"/>
            <a:ext cx="5394960" cy="493776"/>
          </a:xfrm>
          <a:prstGeom prst="rect">
            <a:avLst/>
          </a:prstGeom>
          <a:noFill/>
          <a:ln/>
        </p:spPr>
        <p:txBody>
          <a:bodyPr wrap="square" lIns="0" tIns="0" rIns="0" bIns="0" rtlCol="0" anchor="ctr"/>
          <a:lstStyle/>
          <a:p>
            <a:pPr marL="0" indent="0">
              <a:buNone/>
            </a:pPr>
            <a:r>
              <a:rPr lang="en-US" sz="1600" b="1">
                <a:solidFill>
                  <a:srgbClr val="1C2434"/>
                </a:solidFill>
                <a:latin typeface="Calibri"/>
                <a:ea typeface="Calibri"/>
                <a:cs typeface="Calibri"/>
              </a:rPr>
              <a:t>Aufgabe </a:t>
            </a:r>
          </a:p>
        </p:txBody>
      </p:sp>
      <p:sp>
        <p:nvSpPr>
          <p:cNvPr id="8" name="Shape 6"/>
          <p:cNvSpPr/>
          <p:nvPr/>
        </p:nvSpPr>
        <p:spPr>
          <a:xfrm>
            <a:off x="566928" y="2368296"/>
            <a:ext cx="384048" cy="384048"/>
          </a:xfrm>
          <a:prstGeom prst="ellipse">
            <a:avLst/>
          </a:prstGeom>
          <a:solidFill>
            <a:srgbClr val="3E5FA3"/>
          </a:solidFill>
          <a:ln/>
        </p:spPr>
        <p:txBody>
          <a:bodyPr/>
          <a:lstStyle/>
          <a:p>
            <a:endParaRPr lang="de-DE"/>
          </a:p>
        </p:txBody>
      </p:sp>
      <p:sp>
        <p:nvSpPr>
          <p:cNvPr id="9" name="Text 7"/>
          <p:cNvSpPr/>
          <p:nvPr/>
        </p:nvSpPr>
        <p:spPr>
          <a:xfrm>
            <a:off x="566928" y="2359152"/>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2</a:t>
            </a:r>
            <a:endParaRPr lang="en-US" sz="1500"/>
          </a:p>
        </p:txBody>
      </p:sp>
      <p:sp>
        <p:nvSpPr>
          <p:cNvPr id="10" name="Text 8"/>
          <p:cNvSpPr/>
          <p:nvPr/>
        </p:nvSpPr>
        <p:spPr>
          <a:xfrm>
            <a:off x="1143000" y="2313432"/>
            <a:ext cx="5394960" cy="493776"/>
          </a:xfrm>
          <a:prstGeom prst="rect">
            <a:avLst/>
          </a:prstGeom>
          <a:noFill/>
          <a:ln/>
        </p:spPr>
        <p:txBody>
          <a:bodyPr wrap="square" lIns="0" tIns="0" rIns="0" bIns="0" rtlCol="0" anchor="ctr"/>
          <a:lstStyle/>
          <a:p>
            <a:pPr marL="0" indent="0">
              <a:buNone/>
            </a:pPr>
            <a:r>
              <a:rPr lang="en-US" sz="1600" b="1" err="1">
                <a:solidFill>
                  <a:srgbClr val="1C2434"/>
                </a:solidFill>
                <a:latin typeface="Calibri"/>
                <a:ea typeface="Calibri"/>
                <a:cs typeface="Calibri"/>
              </a:rPr>
              <a:t>Vorgehen</a:t>
            </a:r>
          </a:p>
        </p:txBody>
      </p:sp>
      <p:sp>
        <p:nvSpPr>
          <p:cNvPr id="12" name="Shape 10"/>
          <p:cNvSpPr/>
          <p:nvPr/>
        </p:nvSpPr>
        <p:spPr>
          <a:xfrm>
            <a:off x="566928" y="2990088"/>
            <a:ext cx="384048" cy="384048"/>
          </a:xfrm>
          <a:prstGeom prst="ellipse">
            <a:avLst/>
          </a:prstGeom>
          <a:solidFill>
            <a:srgbClr val="3E5FA3"/>
          </a:solidFill>
          <a:ln/>
        </p:spPr>
        <p:txBody>
          <a:bodyPr/>
          <a:lstStyle/>
          <a:p>
            <a:endParaRPr lang="de-DE"/>
          </a:p>
        </p:txBody>
      </p:sp>
      <p:sp>
        <p:nvSpPr>
          <p:cNvPr id="13" name="Text 11"/>
          <p:cNvSpPr/>
          <p:nvPr/>
        </p:nvSpPr>
        <p:spPr>
          <a:xfrm>
            <a:off x="566928" y="2980944"/>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3</a:t>
            </a:r>
            <a:endParaRPr lang="en-US" sz="1500"/>
          </a:p>
        </p:txBody>
      </p:sp>
      <p:sp>
        <p:nvSpPr>
          <p:cNvPr id="14" name="Text 12"/>
          <p:cNvSpPr/>
          <p:nvPr/>
        </p:nvSpPr>
        <p:spPr>
          <a:xfrm>
            <a:off x="1143000" y="2935224"/>
            <a:ext cx="5394960" cy="493776"/>
          </a:xfrm>
          <a:prstGeom prst="rect">
            <a:avLst/>
          </a:prstGeom>
          <a:noFill/>
          <a:ln/>
        </p:spPr>
        <p:txBody>
          <a:bodyPr wrap="square" lIns="0" tIns="0" rIns="0" bIns="0" rtlCol="0" anchor="ctr"/>
          <a:lstStyle/>
          <a:p>
            <a:pPr marL="0" indent="0">
              <a:buNone/>
            </a:pPr>
            <a:r>
              <a:rPr lang="en-US" sz="1600" b="1">
                <a:solidFill>
                  <a:srgbClr val="1C2434"/>
                </a:solidFill>
                <a:latin typeface="Calibri" pitchFamily="34" charset="0"/>
                <a:ea typeface="Calibri" pitchFamily="34" charset="-122"/>
                <a:cs typeface="Calibri" pitchFamily="34" charset="-120"/>
              </a:rPr>
              <a:t>Wie haben wir bewertet?</a:t>
            </a:r>
            <a:endParaRPr lang="en-US" sz="1600"/>
          </a:p>
        </p:txBody>
      </p:sp>
      <p:sp>
        <p:nvSpPr>
          <p:cNvPr id="16" name="Shape 14"/>
          <p:cNvSpPr/>
          <p:nvPr/>
        </p:nvSpPr>
        <p:spPr>
          <a:xfrm>
            <a:off x="566928" y="3611880"/>
            <a:ext cx="384048" cy="384048"/>
          </a:xfrm>
          <a:prstGeom prst="ellipse">
            <a:avLst/>
          </a:prstGeom>
          <a:solidFill>
            <a:srgbClr val="3E5FA3"/>
          </a:solidFill>
          <a:ln/>
        </p:spPr>
        <p:txBody>
          <a:bodyPr/>
          <a:lstStyle/>
          <a:p>
            <a:endParaRPr lang="de-DE"/>
          </a:p>
        </p:txBody>
      </p:sp>
      <p:sp>
        <p:nvSpPr>
          <p:cNvPr id="17" name="Text 15"/>
          <p:cNvSpPr/>
          <p:nvPr/>
        </p:nvSpPr>
        <p:spPr>
          <a:xfrm>
            <a:off x="566928" y="3602736"/>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4</a:t>
            </a:r>
            <a:endParaRPr lang="en-US" sz="1500"/>
          </a:p>
        </p:txBody>
      </p:sp>
      <p:sp>
        <p:nvSpPr>
          <p:cNvPr id="18" name="Text 16"/>
          <p:cNvSpPr/>
          <p:nvPr/>
        </p:nvSpPr>
        <p:spPr>
          <a:xfrm>
            <a:off x="1143000" y="3557016"/>
            <a:ext cx="5394960" cy="493776"/>
          </a:xfrm>
          <a:prstGeom prst="rect">
            <a:avLst/>
          </a:prstGeom>
          <a:noFill/>
          <a:ln/>
        </p:spPr>
        <p:txBody>
          <a:bodyPr wrap="square" lIns="0" tIns="0" rIns="0" bIns="0" rtlCol="0" anchor="ctr"/>
          <a:lstStyle/>
          <a:p>
            <a:pPr marL="0" indent="0">
              <a:buNone/>
            </a:pPr>
            <a:r>
              <a:rPr lang="en-US" sz="1600" b="1">
                <a:solidFill>
                  <a:srgbClr val="1C2434"/>
                </a:solidFill>
                <a:latin typeface="Calibri" pitchFamily="34" charset="0"/>
                <a:ea typeface="Calibri" pitchFamily="34" charset="-122"/>
                <a:cs typeface="Calibri" pitchFamily="34" charset="-120"/>
              </a:rPr>
              <a:t>Kernbefunde der Evaluation</a:t>
            </a:r>
            <a:endParaRPr lang="en-US" sz="1600"/>
          </a:p>
        </p:txBody>
      </p:sp>
      <p:sp>
        <p:nvSpPr>
          <p:cNvPr id="20" name="Shape 18"/>
          <p:cNvSpPr/>
          <p:nvPr/>
        </p:nvSpPr>
        <p:spPr>
          <a:xfrm>
            <a:off x="566928" y="4233672"/>
            <a:ext cx="384048" cy="384048"/>
          </a:xfrm>
          <a:prstGeom prst="ellipse">
            <a:avLst/>
          </a:prstGeom>
          <a:solidFill>
            <a:srgbClr val="3E5FA3"/>
          </a:solidFill>
          <a:ln/>
        </p:spPr>
        <p:txBody>
          <a:bodyPr/>
          <a:lstStyle/>
          <a:p>
            <a:endParaRPr lang="de-DE"/>
          </a:p>
        </p:txBody>
      </p:sp>
      <p:sp>
        <p:nvSpPr>
          <p:cNvPr id="21" name="Text 19"/>
          <p:cNvSpPr/>
          <p:nvPr/>
        </p:nvSpPr>
        <p:spPr>
          <a:xfrm>
            <a:off x="566928" y="4224528"/>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5</a:t>
            </a:r>
            <a:endParaRPr lang="en-US" sz="1500"/>
          </a:p>
        </p:txBody>
      </p:sp>
      <p:sp>
        <p:nvSpPr>
          <p:cNvPr id="22" name="Text 20"/>
          <p:cNvSpPr/>
          <p:nvPr/>
        </p:nvSpPr>
        <p:spPr>
          <a:xfrm>
            <a:off x="1143000" y="4178808"/>
            <a:ext cx="5394960" cy="493776"/>
          </a:xfrm>
          <a:prstGeom prst="rect">
            <a:avLst/>
          </a:prstGeom>
          <a:noFill/>
          <a:ln/>
        </p:spPr>
        <p:txBody>
          <a:bodyPr wrap="square" lIns="0" tIns="0" rIns="0" bIns="0" rtlCol="0" anchor="ctr"/>
          <a:lstStyle/>
          <a:p>
            <a:pPr marL="0" indent="0">
              <a:buNone/>
            </a:pPr>
            <a:r>
              <a:rPr lang="en-US" sz="1600" b="1">
                <a:solidFill>
                  <a:srgbClr val="1C2434"/>
                </a:solidFill>
                <a:latin typeface="Calibri" pitchFamily="34" charset="0"/>
                <a:ea typeface="Calibri" pitchFamily="34" charset="-122"/>
                <a:cs typeface="Calibri" pitchFamily="34" charset="-120"/>
              </a:rPr>
              <a:t>Grenzen der Studie</a:t>
            </a:r>
            <a:endParaRPr lang="en-US" sz="1600"/>
          </a:p>
        </p:txBody>
      </p:sp>
      <p:sp>
        <p:nvSpPr>
          <p:cNvPr id="24" name="Shape 22"/>
          <p:cNvSpPr/>
          <p:nvPr/>
        </p:nvSpPr>
        <p:spPr>
          <a:xfrm>
            <a:off x="566928" y="4855464"/>
            <a:ext cx="384048" cy="384048"/>
          </a:xfrm>
          <a:prstGeom prst="ellipse">
            <a:avLst/>
          </a:prstGeom>
          <a:solidFill>
            <a:srgbClr val="3E5FA3"/>
          </a:solidFill>
          <a:ln/>
        </p:spPr>
        <p:txBody>
          <a:bodyPr/>
          <a:lstStyle/>
          <a:p>
            <a:endParaRPr lang="de-DE"/>
          </a:p>
        </p:txBody>
      </p:sp>
      <p:sp>
        <p:nvSpPr>
          <p:cNvPr id="25" name="Text 23"/>
          <p:cNvSpPr/>
          <p:nvPr/>
        </p:nvSpPr>
        <p:spPr>
          <a:xfrm>
            <a:off x="566928" y="4846320"/>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6</a:t>
            </a:r>
            <a:endParaRPr lang="en-US" sz="1500"/>
          </a:p>
        </p:txBody>
      </p:sp>
      <p:sp>
        <p:nvSpPr>
          <p:cNvPr id="26" name="Text 24"/>
          <p:cNvSpPr/>
          <p:nvPr/>
        </p:nvSpPr>
        <p:spPr>
          <a:xfrm>
            <a:off x="1143000" y="4800600"/>
            <a:ext cx="5394960" cy="493776"/>
          </a:xfrm>
          <a:prstGeom prst="rect">
            <a:avLst/>
          </a:prstGeom>
          <a:noFill/>
          <a:ln/>
        </p:spPr>
        <p:txBody>
          <a:bodyPr wrap="square" lIns="0" tIns="0" rIns="0" bIns="0" rtlCol="0" anchor="ctr"/>
          <a:lstStyle/>
          <a:p>
            <a:pPr marL="0" indent="0">
              <a:buNone/>
            </a:pPr>
            <a:r>
              <a:rPr lang="en-US" sz="1600" b="1">
                <a:solidFill>
                  <a:srgbClr val="1C2434"/>
                </a:solidFill>
                <a:latin typeface="Calibri"/>
                <a:ea typeface="Calibri"/>
                <a:cs typeface="Calibri"/>
              </a:rPr>
              <a:t>Erkenntnisse </a:t>
            </a:r>
          </a:p>
        </p:txBody>
      </p:sp>
      <p:sp>
        <p:nvSpPr>
          <p:cNvPr id="28" name="Shape 26"/>
          <p:cNvSpPr/>
          <p:nvPr/>
        </p:nvSpPr>
        <p:spPr>
          <a:xfrm>
            <a:off x="8092440" y="1783080"/>
            <a:ext cx="3566160" cy="3931920"/>
          </a:xfrm>
          <a:prstGeom prst="roundRect">
            <a:avLst>
              <a:gd name="adj" fmla="val 3077"/>
            </a:avLst>
          </a:prstGeom>
          <a:solidFill>
            <a:srgbClr val="1E2A47"/>
          </a:solidFill>
          <a:ln/>
        </p:spPr>
        <p:txBody>
          <a:bodyPr/>
          <a:lstStyle/>
          <a:p>
            <a:endParaRPr lang="de-DE"/>
          </a:p>
        </p:txBody>
      </p:sp>
      <p:sp>
        <p:nvSpPr>
          <p:cNvPr id="29" name="Text 27"/>
          <p:cNvSpPr/>
          <p:nvPr/>
        </p:nvSpPr>
        <p:spPr>
          <a:xfrm>
            <a:off x="8458200" y="2148840"/>
            <a:ext cx="2834640" cy="274320"/>
          </a:xfrm>
          <a:prstGeom prst="rect">
            <a:avLst/>
          </a:prstGeom>
          <a:noFill/>
          <a:ln/>
        </p:spPr>
        <p:txBody>
          <a:bodyPr wrap="square" lIns="0" tIns="0" rIns="0" bIns="0" rtlCol="0" anchor="ctr"/>
          <a:lstStyle/>
          <a:p>
            <a:pPr marL="0" indent="0">
              <a:buNone/>
            </a:pPr>
            <a:r>
              <a:rPr lang="en-US" sz="1200" b="1" kern="0" spc="200">
                <a:solidFill>
                  <a:srgbClr val="CADCFC"/>
                </a:solidFill>
                <a:latin typeface="Calibri" pitchFamily="34" charset="0"/>
                <a:ea typeface="Calibri" pitchFamily="34" charset="-122"/>
                <a:cs typeface="Calibri" pitchFamily="34" charset="-120"/>
              </a:rPr>
              <a:t>RAHMEN</a:t>
            </a:r>
            <a:endParaRPr lang="en-US" sz="1200"/>
          </a:p>
        </p:txBody>
      </p:sp>
      <p:sp>
        <p:nvSpPr>
          <p:cNvPr id="30" name="Text 28"/>
          <p:cNvSpPr/>
          <p:nvPr/>
        </p:nvSpPr>
        <p:spPr>
          <a:xfrm>
            <a:off x="8458200" y="2468880"/>
            <a:ext cx="2880360" cy="3017520"/>
          </a:xfrm>
          <a:prstGeom prst="rect">
            <a:avLst/>
          </a:prstGeom>
          <a:noFill/>
          <a:ln/>
        </p:spPr>
        <p:txBody>
          <a:bodyPr wrap="square" lIns="0" tIns="0" rIns="0" bIns="0" rtlCol="0" anchor="t"/>
          <a:lstStyle/>
          <a:p>
            <a:pPr marL="0" indent="0">
              <a:lnSpc>
                <a:spcPct val="115000"/>
              </a:lnSpc>
              <a:spcAft>
                <a:spcPts val="400"/>
              </a:spcAft>
              <a:buNone/>
            </a:pPr>
            <a:r>
              <a:rPr lang="en-US" sz="2400" b="1">
                <a:solidFill>
                  <a:srgbClr val="FFFFFF"/>
                </a:solidFill>
                <a:latin typeface="Calibri" pitchFamily="34" charset="0"/>
                <a:ea typeface="Calibri" pitchFamily="34" charset="-122"/>
                <a:cs typeface="Calibri" pitchFamily="34" charset="-120"/>
              </a:rPr>
              <a:t>20 min Vortrag</a:t>
            </a:r>
            <a:endParaRPr lang="en-US" sz="2400"/>
          </a:p>
          <a:p>
            <a:pPr marL="0" indent="0">
              <a:lnSpc>
                <a:spcPct val="115000"/>
              </a:lnSpc>
              <a:spcAft>
                <a:spcPts val="1600"/>
              </a:spcAft>
              <a:buNone/>
            </a:pPr>
            <a:r>
              <a:rPr lang="en-US" sz="1600">
                <a:solidFill>
                  <a:srgbClr val="CADCFC"/>
                </a:solidFill>
                <a:latin typeface="Calibri" pitchFamily="34" charset="0"/>
                <a:ea typeface="Calibri" pitchFamily="34" charset="-122"/>
                <a:cs typeface="Calibri" pitchFamily="34" charset="-120"/>
              </a:rPr>
              <a:t>+ 5 min Fragen</a:t>
            </a:r>
            <a:endParaRPr lang="en-US" sz="2400"/>
          </a:p>
          <a:p>
            <a:pPr marL="0" indent="0">
              <a:lnSpc>
                <a:spcPct val="115000"/>
              </a:lnSpc>
              <a:buNone/>
            </a:pPr>
            <a:r>
              <a:rPr lang="en-US" sz="1300">
                <a:solidFill>
                  <a:srgbClr val="E8EEF9"/>
                </a:solidFill>
                <a:latin typeface="Calibri" pitchFamily="34" charset="0"/>
                <a:ea typeface="Calibri" pitchFamily="34" charset="-122"/>
                <a:cs typeface="Calibri" pitchFamily="34" charset="-120"/>
              </a:rPr>
              <a:t>Gefordert: Vorgehen, Ergebnisse, Erkenntnisse. Wir zeigen die Ergebnisse an vielen echten Diagramm-Beispielen.</a:t>
            </a:r>
            <a:endParaRPr lang="en-US" sz="2400"/>
          </a:p>
        </p:txBody>
      </p:sp>
      <p:sp>
        <p:nvSpPr>
          <p:cNvPr id="31" name="Text 29"/>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2</a:t>
            </a:r>
            <a:endParaRPr lang="en-US" sz="1000"/>
          </a:p>
        </p:txBody>
      </p:sp>
      <p:sp>
        <p:nvSpPr>
          <p:cNvPr id="32" name="Text 30"/>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r>
              <a:rPr lang="en-US" sz="1300" b="1" kern="0" spc="200">
                <a:solidFill>
                  <a:srgbClr val="3E5FA3"/>
                </a:solidFill>
                <a:latin typeface="Calibri"/>
                <a:ea typeface="Calibri"/>
                <a:cs typeface="Calibri"/>
              </a:rPr>
              <a:t>1 · AUFGABE </a:t>
            </a:r>
            <a:endParaRPr lang="en-US" sz="1300">
              <a:latin typeface="Calibri"/>
              <a:ea typeface="Calibri"/>
              <a:cs typeface="Calibri"/>
            </a:endParaRPr>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Ein Experiment in 24 Zellen</a:t>
            </a:r>
            <a:endParaRPr lang="en-US" sz="3000"/>
          </a:p>
        </p:txBody>
      </p:sp>
      <p:sp>
        <p:nvSpPr>
          <p:cNvPr id="4" name="Text 2"/>
          <p:cNvSpPr/>
          <p:nvPr/>
        </p:nvSpPr>
        <p:spPr>
          <a:xfrm>
            <a:off x="502920" y="1554480"/>
            <a:ext cx="6035040" cy="1463040"/>
          </a:xfrm>
          <a:prstGeom prst="rect">
            <a:avLst/>
          </a:prstGeom>
          <a:noFill/>
          <a:ln/>
        </p:spPr>
        <p:txBody>
          <a:bodyPr wrap="square" lIns="0" tIns="0" rIns="0" bIns="0" rtlCol="0" anchor="t"/>
          <a:lstStyle/>
          <a:p>
            <a:pPr marL="0" indent="0">
              <a:lnSpc>
                <a:spcPct val="115000"/>
              </a:lnSpc>
              <a:buNone/>
            </a:pPr>
            <a:r>
              <a:rPr lang="en-US" sz="1400">
                <a:solidFill>
                  <a:srgbClr val="1C2434"/>
                </a:solidFill>
                <a:latin typeface="Calibri" pitchFamily="34" charset="0"/>
                <a:ea typeface="Calibri" pitchFamily="34" charset="-122"/>
                <a:cs typeface="Calibri" pitchFamily="34" charset="-120"/>
              </a:rPr>
              <a:t>Aus drei Lastenheften lassen wir KIs vier UML-Diagrammtypen erzeugen – jedes Diagramm in zwei Formen: als direkt gezeichnetes Bild und als PlantUML-Code, den wir selbst rendern. Jede Kombination wird einzeln dokumentiert und bewertet.</a:t>
            </a:r>
            <a:endParaRPr lang="en-US" sz="1400"/>
          </a:p>
        </p:txBody>
      </p:sp>
      <p:sp>
        <p:nvSpPr>
          <p:cNvPr id="5" name="Shape 3"/>
          <p:cNvSpPr/>
          <p:nvPr/>
        </p:nvSpPr>
        <p:spPr>
          <a:xfrm>
            <a:off x="502920" y="3246120"/>
            <a:ext cx="6035040" cy="1600200"/>
          </a:xfrm>
          <a:prstGeom prst="roundRect">
            <a:avLst>
              <a:gd name="adj" fmla="val 5714"/>
            </a:avLst>
          </a:prstGeom>
          <a:solidFill>
            <a:srgbClr val="F3F6FB"/>
          </a:solidFill>
          <a:ln w="12700">
            <a:solidFill>
              <a:srgbClr val="D9E1EE"/>
            </a:solidFill>
            <a:prstDash val="solid"/>
          </a:ln>
        </p:spPr>
        <p:txBody>
          <a:bodyPr/>
          <a:lstStyle/>
          <a:p>
            <a:endParaRPr lang="de-DE"/>
          </a:p>
        </p:txBody>
      </p:sp>
      <p:sp>
        <p:nvSpPr>
          <p:cNvPr id="6" name="Text 4"/>
          <p:cNvSpPr/>
          <p:nvPr/>
        </p:nvSpPr>
        <p:spPr>
          <a:xfrm>
            <a:off x="822960" y="3474720"/>
            <a:ext cx="5486400" cy="274320"/>
          </a:xfrm>
          <a:prstGeom prst="rect">
            <a:avLst/>
          </a:prstGeom>
          <a:noFill/>
          <a:ln/>
        </p:spPr>
        <p:txBody>
          <a:bodyPr wrap="square" lIns="0" tIns="0" rIns="0" bIns="0" rtlCol="0" anchor="ctr"/>
          <a:lstStyle/>
          <a:p>
            <a:pPr marL="0" indent="0">
              <a:buNone/>
            </a:pPr>
            <a:r>
              <a:rPr lang="en-US" sz="1100" b="1" kern="0" spc="200">
                <a:solidFill>
                  <a:srgbClr val="3E5FA3"/>
                </a:solidFill>
                <a:latin typeface="Calibri" pitchFamily="34" charset="0"/>
                <a:ea typeface="Calibri" pitchFamily="34" charset="-122"/>
                <a:cs typeface="Calibri" pitchFamily="34" charset="-120"/>
              </a:rPr>
              <a:t>KERNFRAGE DER AUFGABENSTELLUNG</a:t>
            </a:r>
            <a:endParaRPr lang="en-US" sz="1100"/>
          </a:p>
        </p:txBody>
      </p:sp>
      <p:sp>
        <p:nvSpPr>
          <p:cNvPr id="7" name="Text 5"/>
          <p:cNvSpPr/>
          <p:nvPr/>
        </p:nvSpPr>
        <p:spPr>
          <a:xfrm>
            <a:off x="822960" y="3767328"/>
            <a:ext cx="5440680" cy="914400"/>
          </a:xfrm>
          <a:prstGeom prst="rect">
            <a:avLst/>
          </a:prstGeom>
          <a:noFill/>
          <a:ln/>
        </p:spPr>
        <p:txBody>
          <a:bodyPr wrap="square" lIns="0" tIns="0" rIns="0" bIns="0" rtlCol="0" anchor="t"/>
          <a:lstStyle/>
          <a:p>
            <a:pPr marL="0" indent="0">
              <a:lnSpc>
                <a:spcPct val="110000"/>
              </a:lnSpc>
              <a:buNone/>
            </a:pPr>
            <a:r>
              <a:rPr lang="en-US" sz="1600" b="1">
                <a:solidFill>
                  <a:srgbClr val="1C2434"/>
                </a:solidFill>
                <a:latin typeface="Cambria" pitchFamily="34" charset="0"/>
                <a:ea typeface="Cambria" pitchFamily="34" charset="-122"/>
                <a:cs typeface="Cambria" pitchFamily="34" charset="-120"/>
              </a:rPr>
              <a:t>Wie unterscheiden sich die aus PlantUML gerenderten Diagramme von den direkt generierten Bildern?</a:t>
            </a:r>
            <a:endParaRPr lang="en-US" sz="1600"/>
          </a:p>
        </p:txBody>
      </p:sp>
      <p:sp>
        <p:nvSpPr>
          <p:cNvPr id="9" name="Shape 7"/>
          <p:cNvSpPr/>
          <p:nvPr/>
        </p:nvSpPr>
        <p:spPr>
          <a:xfrm>
            <a:off x="7086600" y="1554480"/>
            <a:ext cx="4572000" cy="713232"/>
          </a:xfrm>
          <a:prstGeom prst="roundRect">
            <a:avLst>
              <a:gd name="adj" fmla="val 12821"/>
            </a:avLst>
          </a:prstGeom>
          <a:solidFill>
            <a:srgbClr val="F3F6FB"/>
          </a:solidFill>
          <a:ln w="12700">
            <a:solidFill>
              <a:srgbClr val="D9E1EE"/>
            </a:solidFill>
            <a:prstDash val="solid"/>
          </a:ln>
        </p:spPr>
        <p:txBody>
          <a:bodyPr/>
          <a:lstStyle/>
          <a:p>
            <a:endParaRPr lang="de-DE"/>
          </a:p>
        </p:txBody>
      </p:sp>
      <p:sp>
        <p:nvSpPr>
          <p:cNvPr id="10" name="Text 8"/>
          <p:cNvSpPr/>
          <p:nvPr/>
        </p:nvSpPr>
        <p:spPr>
          <a:xfrm>
            <a:off x="7315200" y="1627632"/>
            <a:ext cx="2103120" cy="566928"/>
          </a:xfrm>
          <a:prstGeom prst="rect">
            <a:avLst/>
          </a:prstGeom>
          <a:noFill/>
          <a:ln/>
        </p:spPr>
        <p:txBody>
          <a:bodyPr wrap="square" lIns="0" tIns="0" rIns="0" bIns="0" rtlCol="0" anchor="ctr"/>
          <a:lstStyle/>
          <a:p>
            <a:pPr marL="0" indent="0">
              <a:buNone/>
            </a:pPr>
            <a:r>
              <a:rPr lang="en-US" sz="1700" b="1">
                <a:solidFill>
                  <a:srgbClr val="3E5FA3"/>
                </a:solidFill>
                <a:latin typeface="Cambria" pitchFamily="34" charset="0"/>
                <a:ea typeface="Cambria" pitchFamily="34" charset="-122"/>
                <a:cs typeface="Cambria" pitchFamily="34" charset="-120"/>
              </a:rPr>
              <a:t>3 Systeme</a:t>
            </a:r>
            <a:endParaRPr lang="en-US" sz="1700"/>
          </a:p>
        </p:txBody>
      </p:sp>
      <p:sp>
        <p:nvSpPr>
          <p:cNvPr id="11" name="Text 9"/>
          <p:cNvSpPr/>
          <p:nvPr/>
        </p:nvSpPr>
        <p:spPr>
          <a:xfrm>
            <a:off x="9235440" y="1627632"/>
            <a:ext cx="2331720" cy="566928"/>
          </a:xfrm>
          <a:prstGeom prst="rect">
            <a:avLst/>
          </a:prstGeom>
          <a:noFill/>
          <a:ln/>
        </p:spPr>
        <p:txBody>
          <a:bodyPr wrap="square" lIns="0" tIns="0" rIns="0" bIns="0" rtlCol="0" anchor="ctr"/>
          <a:lstStyle/>
          <a:p>
            <a:pPr marL="0" indent="0">
              <a:lnSpc>
                <a:spcPct val="105000"/>
              </a:lnSpc>
              <a:buNone/>
            </a:pPr>
            <a:r>
              <a:rPr lang="en-US" sz="1150">
                <a:solidFill>
                  <a:srgbClr val="1C2434"/>
                </a:solidFill>
                <a:latin typeface="Calibri" pitchFamily="34" charset="0"/>
                <a:ea typeface="Calibri" pitchFamily="34" charset="-122"/>
                <a:cs typeface="Calibri" pitchFamily="34" charset="-120"/>
              </a:rPr>
              <a:t>EasyRide · EasyScoot · EasyLib</a:t>
            </a:r>
            <a:endParaRPr lang="en-US" sz="1150"/>
          </a:p>
        </p:txBody>
      </p:sp>
      <p:sp>
        <p:nvSpPr>
          <p:cNvPr id="12" name="Text 10"/>
          <p:cNvSpPr/>
          <p:nvPr/>
        </p:nvSpPr>
        <p:spPr>
          <a:xfrm>
            <a:off x="9189720" y="2212848"/>
            <a:ext cx="365760" cy="274320"/>
          </a:xfrm>
          <a:prstGeom prst="rect">
            <a:avLst/>
          </a:prstGeom>
          <a:noFill/>
          <a:ln/>
        </p:spPr>
        <p:txBody>
          <a:bodyPr wrap="square" lIns="0" tIns="0" rIns="0" bIns="0" rtlCol="0" anchor="ctr"/>
          <a:lstStyle/>
          <a:p>
            <a:pPr marL="0" indent="0" algn="ctr">
              <a:buNone/>
            </a:pPr>
            <a:r>
              <a:rPr lang="en-US" sz="1400" b="1">
                <a:solidFill>
                  <a:srgbClr val="5B6575"/>
                </a:solidFill>
                <a:latin typeface="Calibri" pitchFamily="34" charset="0"/>
                <a:ea typeface="Calibri" pitchFamily="34" charset="-122"/>
                <a:cs typeface="Calibri" pitchFamily="34" charset="-120"/>
              </a:rPr>
              <a:t>×</a:t>
            </a:r>
            <a:endParaRPr lang="en-US" sz="1400"/>
          </a:p>
        </p:txBody>
      </p:sp>
      <p:sp>
        <p:nvSpPr>
          <p:cNvPr id="13" name="Shape 11"/>
          <p:cNvSpPr/>
          <p:nvPr/>
        </p:nvSpPr>
        <p:spPr>
          <a:xfrm>
            <a:off x="7086600" y="2450592"/>
            <a:ext cx="4572000" cy="713232"/>
          </a:xfrm>
          <a:prstGeom prst="roundRect">
            <a:avLst>
              <a:gd name="adj" fmla="val 12821"/>
            </a:avLst>
          </a:prstGeom>
          <a:solidFill>
            <a:srgbClr val="F3F6FB"/>
          </a:solidFill>
          <a:ln w="12700">
            <a:solidFill>
              <a:srgbClr val="D9E1EE"/>
            </a:solidFill>
            <a:prstDash val="solid"/>
          </a:ln>
        </p:spPr>
        <p:txBody>
          <a:bodyPr/>
          <a:lstStyle/>
          <a:p>
            <a:endParaRPr lang="de-DE"/>
          </a:p>
        </p:txBody>
      </p:sp>
      <p:sp>
        <p:nvSpPr>
          <p:cNvPr id="14" name="Text 12"/>
          <p:cNvSpPr/>
          <p:nvPr/>
        </p:nvSpPr>
        <p:spPr>
          <a:xfrm>
            <a:off x="7315200" y="2523744"/>
            <a:ext cx="2103120" cy="566928"/>
          </a:xfrm>
          <a:prstGeom prst="rect">
            <a:avLst/>
          </a:prstGeom>
          <a:noFill/>
          <a:ln/>
        </p:spPr>
        <p:txBody>
          <a:bodyPr wrap="square" lIns="0" tIns="0" rIns="0" bIns="0" rtlCol="0" anchor="ctr"/>
          <a:lstStyle/>
          <a:p>
            <a:pPr marL="0" indent="0">
              <a:buNone/>
            </a:pPr>
            <a:r>
              <a:rPr lang="en-US" sz="1700" b="1">
                <a:solidFill>
                  <a:srgbClr val="3E5FA3"/>
                </a:solidFill>
                <a:latin typeface="Cambria" pitchFamily="34" charset="0"/>
                <a:ea typeface="Cambria" pitchFamily="34" charset="-122"/>
                <a:cs typeface="Cambria" pitchFamily="34" charset="-120"/>
              </a:rPr>
              <a:t>2 KIs</a:t>
            </a:r>
            <a:endParaRPr lang="en-US" sz="1700"/>
          </a:p>
        </p:txBody>
      </p:sp>
      <p:sp>
        <p:nvSpPr>
          <p:cNvPr id="15" name="Text 13"/>
          <p:cNvSpPr/>
          <p:nvPr/>
        </p:nvSpPr>
        <p:spPr>
          <a:xfrm>
            <a:off x="9235440" y="2523744"/>
            <a:ext cx="2331720" cy="566928"/>
          </a:xfrm>
          <a:prstGeom prst="rect">
            <a:avLst/>
          </a:prstGeom>
          <a:noFill/>
          <a:ln/>
        </p:spPr>
        <p:txBody>
          <a:bodyPr wrap="square" lIns="0" tIns="0" rIns="0" bIns="0" rtlCol="0" anchor="ctr"/>
          <a:lstStyle/>
          <a:p>
            <a:pPr marL="0" indent="0">
              <a:lnSpc>
                <a:spcPct val="105000"/>
              </a:lnSpc>
              <a:buNone/>
            </a:pPr>
            <a:r>
              <a:rPr lang="en-US" sz="1150">
                <a:solidFill>
                  <a:srgbClr val="1C2434"/>
                </a:solidFill>
                <a:latin typeface="Calibri" pitchFamily="34" charset="0"/>
                <a:ea typeface="Calibri" pitchFamily="34" charset="-122"/>
                <a:cs typeface="Calibri" pitchFamily="34" charset="-120"/>
              </a:rPr>
              <a:t>Claude · ChatGPT</a:t>
            </a:r>
            <a:endParaRPr lang="en-US" sz="1150"/>
          </a:p>
        </p:txBody>
      </p:sp>
      <p:sp>
        <p:nvSpPr>
          <p:cNvPr id="16" name="Text 14"/>
          <p:cNvSpPr/>
          <p:nvPr/>
        </p:nvSpPr>
        <p:spPr>
          <a:xfrm>
            <a:off x="9189720" y="3108960"/>
            <a:ext cx="365760" cy="274320"/>
          </a:xfrm>
          <a:prstGeom prst="rect">
            <a:avLst/>
          </a:prstGeom>
          <a:noFill/>
          <a:ln/>
        </p:spPr>
        <p:txBody>
          <a:bodyPr wrap="square" lIns="0" tIns="0" rIns="0" bIns="0" rtlCol="0" anchor="ctr"/>
          <a:lstStyle/>
          <a:p>
            <a:pPr marL="0" indent="0" algn="ctr">
              <a:buNone/>
            </a:pPr>
            <a:r>
              <a:rPr lang="en-US" sz="1400" b="1">
                <a:solidFill>
                  <a:srgbClr val="5B6575"/>
                </a:solidFill>
                <a:latin typeface="Calibri" pitchFamily="34" charset="0"/>
                <a:ea typeface="Calibri" pitchFamily="34" charset="-122"/>
                <a:cs typeface="Calibri" pitchFamily="34" charset="-120"/>
              </a:rPr>
              <a:t>×</a:t>
            </a:r>
            <a:endParaRPr lang="en-US" sz="1400"/>
          </a:p>
        </p:txBody>
      </p:sp>
      <p:sp>
        <p:nvSpPr>
          <p:cNvPr id="17" name="Shape 15"/>
          <p:cNvSpPr/>
          <p:nvPr/>
        </p:nvSpPr>
        <p:spPr>
          <a:xfrm>
            <a:off x="7086600" y="3346704"/>
            <a:ext cx="4572000" cy="713232"/>
          </a:xfrm>
          <a:prstGeom prst="roundRect">
            <a:avLst>
              <a:gd name="adj" fmla="val 12821"/>
            </a:avLst>
          </a:prstGeom>
          <a:solidFill>
            <a:srgbClr val="F3F6FB"/>
          </a:solidFill>
          <a:ln w="12700">
            <a:solidFill>
              <a:srgbClr val="D9E1EE"/>
            </a:solidFill>
            <a:prstDash val="solid"/>
          </a:ln>
        </p:spPr>
        <p:txBody>
          <a:bodyPr/>
          <a:lstStyle/>
          <a:p>
            <a:endParaRPr lang="de-DE"/>
          </a:p>
        </p:txBody>
      </p:sp>
      <p:sp>
        <p:nvSpPr>
          <p:cNvPr id="18" name="Text 16"/>
          <p:cNvSpPr/>
          <p:nvPr/>
        </p:nvSpPr>
        <p:spPr>
          <a:xfrm>
            <a:off x="7315200" y="3419856"/>
            <a:ext cx="2103120" cy="566928"/>
          </a:xfrm>
          <a:prstGeom prst="rect">
            <a:avLst/>
          </a:prstGeom>
          <a:noFill/>
          <a:ln/>
        </p:spPr>
        <p:txBody>
          <a:bodyPr wrap="square" lIns="0" tIns="0" rIns="0" bIns="0" rtlCol="0" anchor="ctr"/>
          <a:lstStyle/>
          <a:p>
            <a:pPr marL="0" indent="0">
              <a:buNone/>
            </a:pPr>
            <a:r>
              <a:rPr lang="en-US" sz="1700" b="1">
                <a:solidFill>
                  <a:srgbClr val="3E5FA3"/>
                </a:solidFill>
                <a:latin typeface="Cambria" pitchFamily="34" charset="0"/>
                <a:ea typeface="Cambria" pitchFamily="34" charset="-122"/>
                <a:cs typeface="Cambria" pitchFamily="34" charset="-120"/>
              </a:rPr>
              <a:t>4 Diagrammtypen</a:t>
            </a:r>
            <a:endParaRPr lang="en-US" sz="1700"/>
          </a:p>
        </p:txBody>
      </p:sp>
      <p:sp>
        <p:nvSpPr>
          <p:cNvPr id="19" name="Text 17"/>
          <p:cNvSpPr/>
          <p:nvPr/>
        </p:nvSpPr>
        <p:spPr>
          <a:xfrm>
            <a:off x="9235440" y="3419856"/>
            <a:ext cx="2331720" cy="566928"/>
          </a:xfrm>
          <a:prstGeom prst="rect">
            <a:avLst/>
          </a:prstGeom>
          <a:noFill/>
          <a:ln/>
        </p:spPr>
        <p:txBody>
          <a:bodyPr wrap="square" lIns="0" tIns="0" rIns="0" bIns="0" rtlCol="0" anchor="ctr"/>
          <a:lstStyle/>
          <a:p>
            <a:pPr marL="0" indent="0">
              <a:lnSpc>
                <a:spcPct val="105000"/>
              </a:lnSpc>
              <a:buNone/>
            </a:pPr>
            <a:r>
              <a:rPr lang="en-US" sz="1150">
                <a:solidFill>
                  <a:srgbClr val="1C2434"/>
                </a:solidFill>
                <a:latin typeface="Calibri" pitchFamily="34" charset="0"/>
                <a:ea typeface="Calibri" pitchFamily="34" charset="-122"/>
                <a:cs typeface="Calibri" pitchFamily="34" charset="-120"/>
              </a:rPr>
              <a:t>Klassen · Use-Case · Aktivität · Sequenz</a:t>
            </a:r>
            <a:endParaRPr lang="en-US" sz="1150"/>
          </a:p>
        </p:txBody>
      </p:sp>
      <p:sp>
        <p:nvSpPr>
          <p:cNvPr id="20" name="Text 18"/>
          <p:cNvSpPr/>
          <p:nvPr/>
        </p:nvSpPr>
        <p:spPr>
          <a:xfrm>
            <a:off x="9189720" y="4005072"/>
            <a:ext cx="365760" cy="274320"/>
          </a:xfrm>
          <a:prstGeom prst="rect">
            <a:avLst/>
          </a:prstGeom>
          <a:noFill/>
          <a:ln/>
        </p:spPr>
        <p:txBody>
          <a:bodyPr wrap="square" lIns="0" tIns="0" rIns="0" bIns="0" rtlCol="0" anchor="ctr"/>
          <a:lstStyle/>
          <a:p>
            <a:pPr marL="0" indent="0" algn="ctr">
              <a:buNone/>
            </a:pPr>
            <a:r>
              <a:rPr lang="en-US" sz="1400" b="1">
                <a:solidFill>
                  <a:srgbClr val="5B6575"/>
                </a:solidFill>
                <a:latin typeface="Calibri" pitchFamily="34" charset="0"/>
                <a:ea typeface="Calibri" pitchFamily="34" charset="-122"/>
                <a:cs typeface="Calibri" pitchFamily="34" charset="-120"/>
              </a:rPr>
              <a:t>×</a:t>
            </a:r>
            <a:endParaRPr lang="en-US" sz="1400"/>
          </a:p>
        </p:txBody>
      </p:sp>
      <p:sp>
        <p:nvSpPr>
          <p:cNvPr id="21" name="Shape 19"/>
          <p:cNvSpPr/>
          <p:nvPr/>
        </p:nvSpPr>
        <p:spPr>
          <a:xfrm>
            <a:off x="7086600" y="4242816"/>
            <a:ext cx="4572000" cy="713232"/>
          </a:xfrm>
          <a:prstGeom prst="roundRect">
            <a:avLst>
              <a:gd name="adj" fmla="val 12821"/>
            </a:avLst>
          </a:prstGeom>
          <a:solidFill>
            <a:srgbClr val="F3F6FB"/>
          </a:solidFill>
          <a:ln w="12700">
            <a:solidFill>
              <a:srgbClr val="D9E1EE"/>
            </a:solidFill>
            <a:prstDash val="solid"/>
          </a:ln>
        </p:spPr>
        <p:txBody>
          <a:bodyPr/>
          <a:lstStyle/>
          <a:p>
            <a:endParaRPr lang="de-DE"/>
          </a:p>
        </p:txBody>
      </p:sp>
      <p:sp>
        <p:nvSpPr>
          <p:cNvPr id="22" name="Text 20"/>
          <p:cNvSpPr/>
          <p:nvPr/>
        </p:nvSpPr>
        <p:spPr>
          <a:xfrm>
            <a:off x="7315200" y="4315968"/>
            <a:ext cx="2103120" cy="566928"/>
          </a:xfrm>
          <a:prstGeom prst="rect">
            <a:avLst/>
          </a:prstGeom>
          <a:noFill/>
          <a:ln/>
        </p:spPr>
        <p:txBody>
          <a:bodyPr wrap="square" lIns="0" tIns="0" rIns="0" bIns="0" rtlCol="0" anchor="ctr"/>
          <a:lstStyle/>
          <a:p>
            <a:pPr marL="0" indent="0">
              <a:buNone/>
            </a:pPr>
            <a:r>
              <a:rPr lang="en-US" sz="1700" b="1">
                <a:solidFill>
                  <a:srgbClr val="3E5FA3"/>
                </a:solidFill>
                <a:latin typeface="Cambria" pitchFamily="34" charset="0"/>
                <a:ea typeface="Cambria" pitchFamily="34" charset="-122"/>
                <a:cs typeface="Cambria" pitchFamily="34" charset="-120"/>
              </a:rPr>
              <a:t>2 Formate</a:t>
            </a:r>
            <a:endParaRPr lang="en-US" sz="1700"/>
          </a:p>
        </p:txBody>
      </p:sp>
      <p:sp>
        <p:nvSpPr>
          <p:cNvPr id="23" name="Text 21"/>
          <p:cNvSpPr/>
          <p:nvPr/>
        </p:nvSpPr>
        <p:spPr>
          <a:xfrm>
            <a:off x="9235440" y="4315968"/>
            <a:ext cx="2331720" cy="566928"/>
          </a:xfrm>
          <a:prstGeom prst="rect">
            <a:avLst/>
          </a:prstGeom>
          <a:noFill/>
          <a:ln/>
        </p:spPr>
        <p:txBody>
          <a:bodyPr wrap="square" lIns="0" tIns="0" rIns="0" bIns="0" rtlCol="0" anchor="ctr"/>
          <a:lstStyle/>
          <a:p>
            <a:pPr marL="0" indent="0">
              <a:lnSpc>
                <a:spcPct val="105000"/>
              </a:lnSpc>
              <a:buNone/>
            </a:pPr>
            <a:r>
              <a:rPr lang="en-US" sz="1150">
                <a:solidFill>
                  <a:srgbClr val="1C2434"/>
                </a:solidFill>
                <a:latin typeface="Calibri" pitchFamily="34" charset="0"/>
                <a:ea typeface="Calibri" pitchFamily="34" charset="-122"/>
                <a:cs typeface="Calibri" pitchFamily="34" charset="-120"/>
              </a:rPr>
              <a:t>direkt gezeichnetes Bild · PlantUML-Code</a:t>
            </a:r>
            <a:endParaRPr lang="en-US" sz="1150"/>
          </a:p>
        </p:txBody>
      </p:sp>
      <p:sp>
        <p:nvSpPr>
          <p:cNvPr id="24" name="Shape 22"/>
          <p:cNvSpPr/>
          <p:nvPr/>
        </p:nvSpPr>
        <p:spPr>
          <a:xfrm>
            <a:off x="7086600" y="5157216"/>
            <a:ext cx="4572000" cy="868680"/>
          </a:xfrm>
          <a:prstGeom prst="roundRect">
            <a:avLst>
              <a:gd name="adj" fmla="val 10526"/>
            </a:avLst>
          </a:prstGeom>
          <a:solidFill>
            <a:srgbClr val="1E2A47"/>
          </a:solidFill>
          <a:ln/>
        </p:spPr>
        <p:txBody>
          <a:bodyPr/>
          <a:lstStyle/>
          <a:p>
            <a:endParaRPr lang="de-DE"/>
          </a:p>
        </p:txBody>
      </p:sp>
      <p:sp>
        <p:nvSpPr>
          <p:cNvPr id="25" name="Text 23"/>
          <p:cNvSpPr/>
          <p:nvPr/>
        </p:nvSpPr>
        <p:spPr>
          <a:xfrm>
            <a:off x="7315200" y="5248656"/>
            <a:ext cx="4114800" cy="685800"/>
          </a:xfrm>
          <a:prstGeom prst="rect">
            <a:avLst/>
          </a:prstGeom>
          <a:noFill/>
          <a:ln/>
        </p:spPr>
        <p:txBody>
          <a:bodyPr wrap="square" lIns="0" tIns="0" rIns="0" bIns="0" rtlCol="0" anchor="ctr"/>
          <a:lstStyle/>
          <a:p>
            <a:pPr marL="0" indent="0">
              <a:spcAft>
                <a:spcPts val="200"/>
              </a:spcAft>
              <a:buNone/>
            </a:pPr>
            <a:r>
              <a:rPr lang="en-US" sz="2000" b="1">
                <a:solidFill>
                  <a:srgbClr val="FFFFFF"/>
                </a:solidFill>
                <a:latin typeface="Calibri" pitchFamily="34" charset="0"/>
                <a:ea typeface="Calibri" pitchFamily="34" charset="-122"/>
                <a:cs typeface="Calibri" pitchFamily="34" charset="-120"/>
              </a:rPr>
              <a:t>24 untersuchte Zellen</a:t>
            </a:r>
            <a:endParaRPr lang="en-US" sz="2000"/>
          </a:p>
          <a:p>
            <a:pPr marL="0" indent="0">
              <a:buNone/>
            </a:pPr>
            <a:r>
              <a:rPr lang="en-US" sz="1150">
                <a:solidFill>
                  <a:srgbClr val="CADCFC"/>
                </a:solidFill>
                <a:latin typeface="Calibri" pitchFamily="34" charset="0"/>
                <a:ea typeface="Calibri" pitchFamily="34" charset="-122"/>
                <a:cs typeface="Calibri" pitchFamily="34" charset="-120"/>
              </a:rPr>
              <a:t>je Zelle: Code, Bild, Notizen, Einzelbewertung</a:t>
            </a:r>
            <a:endParaRPr lang="en-US" sz="2000"/>
          </a:p>
        </p:txBody>
      </p:sp>
      <p:sp>
        <p:nvSpPr>
          <p:cNvPr id="26" name="Text 24"/>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3</a:t>
            </a:r>
            <a:endParaRPr lang="en-US" sz="1000"/>
          </a:p>
        </p:txBody>
      </p:sp>
      <p:sp>
        <p:nvSpPr>
          <p:cNvPr id="27" name="Text 25"/>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2 · VORGEHEN</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err="1">
                <a:solidFill>
                  <a:srgbClr val="1C2434"/>
                </a:solidFill>
                <a:latin typeface="Cambria"/>
                <a:ea typeface="Cambria"/>
              </a:rPr>
              <a:t>Repostruktur</a:t>
            </a:r>
          </a:p>
        </p:txBody>
      </p:sp>
      <p:sp>
        <p:nvSpPr>
          <p:cNvPr id="4" name="Shape 2"/>
          <p:cNvSpPr/>
          <p:nvPr/>
        </p:nvSpPr>
        <p:spPr>
          <a:xfrm>
            <a:off x="502920" y="1645920"/>
            <a:ext cx="5394960" cy="4206240"/>
          </a:xfrm>
          <a:prstGeom prst="roundRect">
            <a:avLst>
              <a:gd name="adj" fmla="val 2609"/>
            </a:avLst>
          </a:prstGeom>
          <a:solidFill>
            <a:srgbClr val="1E2A47"/>
          </a:solidFill>
          <a:ln/>
        </p:spPr>
        <p:txBody>
          <a:bodyPr/>
          <a:lstStyle/>
          <a:p>
            <a:endParaRPr lang="de-DE"/>
          </a:p>
        </p:txBody>
      </p:sp>
      <p:sp>
        <p:nvSpPr>
          <p:cNvPr id="5" name="Text 3"/>
          <p:cNvSpPr/>
          <p:nvPr/>
        </p:nvSpPr>
        <p:spPr>
          <a:xfrm>
            <a:off x="868680" y="1920240"/>
            <a:ext cx="4754880" cy="274320"/>
          </a:xfrm>
          <a:prstGeom prst="rect">
            <a:avLst/>
          </a:prstGeom>
          <a:noFill/>
          <a:ln/>
        </p:spPr>
        <p:txBody>
          <a:bodyPr wrap="square" lIns="0" tIns="0" rIns="0" bIns="0" rtlCol="0" anchor="ctr"/>
          <a:lstStyle/>
          <a:p>
            <a:pPr marL="0" indent="0">
              <a:buNone/>
            </a:pPr>
            <a:r>
              <a:rPr lang="en-US" sz="1100" b="1" kern="0" spc="200">
                <a:solidFill>
                  <a:srgbClr val="CADCFC"/>
                </a:solidFill>
                <a:latin typeface="Calibri"/>
                <a:ea typeface="Calibri"/>
                <a:cs typeface="Calibri"/>
              </a:rPr>
              <a:t>REPO-STRUKTUR</a:t>
            </a:r>
            <a:endParaRPr lang="en-US" sz="1100">
              <a:latin typeface="Calibri"/>
              <a:ea typeface="Calibri"/>
              <a:cs typeface="Calibri"/>
            </a:endParaRPr>
          </a:p>
        </p:txBody>
      </p:sp>
      <p:sp>
        <p:nvSpPr>
          <p:cNvPr id="6" name="Text 4"/>
          <p:cNvSpPr/>
          <p:nvPr/>
        </p:nvSpPr>
        <p:spPr>
          <a:xfrm>
            <a:off x="868680" y="2286000"/>
            <a:ext cx="4754880" cy="3383280"/>
          </a:xfrm>
          <a:prstGeom prst="rect">
            <a:avLst/>
          </a:prstGeom>
          <a:noFill/>
          <a:ln/>
        </p:spPr>
        <p:txBody>
          <a:bodyPr wrap="square" lIns="0" tIns="0" rIns="0" bIns="0" rtlCol="0" anchor="t"/>
          <a:lstStyle/>
          <a:p>
            <a:pPr marL="0" indent="0">
              <a:lnSpc>
                <a:spcPct val="125000"/>
              </a:lnSpc>
              <a:buNone/>
            </a:pPr>
            <a:r>
              <a:rPr lang="en-US" sz="1200" err="1">
                <a:solidFill>
                  <a:srgbClr val="E8EEF9"/>
                </a:solidFill>
                <a:latin typeface="Courier New"/>
                <a:ea typeface="Courier New" pitchFamily="34" charset="-122"/>
                <a:cs typeface="Courier New"/>
              </a:rPr>
              <a:t>projekt</a:t>
            </a:r>
            <a:r>
              <a:rPr lang="en-US" sz="1200">
                <a:solidFill>
                  <a:srgbClr val="E8EEF9"/>
                </a:solidFill>
                <a:latin typeface="Courier New"/>
                <a:ea typeface="Courier New" pitchFamily="34" charset="-122"/>
                <a:cs typeface="Courier New"/>
              </a:rPr>
              <a:t>/</a:t>
            </a:r>
            <a:endParaRPr lang="en-US" sz="1200">
              <a:latin typeface="Courier New"/>
              <a:cs typeface="Courier New"/>
            </a:endParaRPr>
          </a:p>
          <a:p>
            <a:pPr marL="0" indent="0">
              <a:lnSpc>
                <a:spcPct val="125000"/>
              </a:lnSpc>
              <a:buNone/>
            </a:pPr>
            <a:r>
              <a:rPr lang="en-US" sz="1200">
                <a:solidFill>
                  <a:srgbClr val="E8EEF9"/>
                </a:solidFill>
                <a:latin typeface="Courier New"/>
                <a:ea typeface="Courier New" pitchFamily="34" charset="-122"/>
                <a:cs typeface="Courier New"/>
              </a:rPr>
              <a:t>├─ </a:t>
            </a:r>
            <a:r>
              <a:rPr lang="en-US" sz="1200" err="1">
                <a:solidFill>
                  <a:srgbClr val="E8EEF9"/>
                </a:solidFill>
                <a:latin typeface="Courier New"/>
                <a:ea typeface="Courier New" pitchFamily="34" charset="-122"/>
                <a:cs typeface="Courier New"/>
              </a:rPr>
              <a:t>lastenhefte</a:t>
            </a:r>
            <a:r>
              <a:rPr lang="en-US" sz="1200">
                <a:solidFill>
                  <a:srgbClr val="E8EEF9"/>
                </a:solidFill>
                <a:latin typeface="Courier New"/>
                <a:ea typeface="Courier New" pitchFamily="34" charset="-122"/>
                <a:cs typeface="Courier New"/>
              </a:rPr>
              <a:t>/    </a:t>
            </a:r>
            <a:r>
              <a:rPr lang="en-US" sz="1200" err="1">
                <a:solidFill>
                  <a:srgbClr val="E8EEF9"/>
                </a:solidFill>
                <a:latin typeface="Courier New"/>
                <a:ea typeface="Courier New" pitchFamily="34" charset="-122"/>
                <a:cs typeface="Courier New"/>
              </a:rPr>
              <a:t>Quellmaterial</a:t>
            </a:r>
            <a:endParaRPr lang="en-US" sz="1200" err="1">
              <a:latin typeface="Courier New"/>
              <a:cs typeface="Courier New"/>
            </a:endParaRPr>
          </a:p>
          <a:p>
            <a:pPr marL="0" indent="0">
              <a:lnSpc>
                <a:spcPct val="125000"/>
              </a:lnSpc>
              <a:buNone/>
            </a:pPr>
            <a:r>
              <a:rPr lang="en-US" sz="1200">
                <a:solidFill>
                  <a:srgbClr val="E8EEF9"/>
                </a:solidFill>
                <a:latin typeface="Courier New"/>
                <a:ea typeface="Courier New" pitchFamily="34" charset="-122"/>
                <a:cs typeface="Courier New"/>
              </a:rPr>
              <a:t>├─ prompts/&lt;</a:t>
            </a:r>
            <a:r>
              <a:rPr lang="en-US" sz="1200" err="1">
                <a:solidFill>
                  <a:srgbClr val="E8EEF9"/>
                </a:solidFill>
                <a:latin typeface="Courier New"/>
                <a:ea typeface="Courier New" pitchFamily="34" charset="-122"/>
                <a:cs typeface="Courier New"/>
              </a:rPr>
              <a:t>typ</a:t>
            </a:r>
            <a:r>
              <a:rPr lang="en-US" sz="1200">
                <a:solidFill>
                  <a:srgbClr val="E8EEF9"/>
                </a:solidFill>
                <a:latin typeface="Courier New"/>
                <a:ea typeface="Courier New" pitchFamily="34" charset="-122"/>
                <a:cs typeface="Courier New"/>
              </a:rPr>
              <a:t>&gt;/  Prompt-</a:t>
            </a:r>
            <a:r>
              <a:rPr lang="en-US" sz="1200" err="1">
                <a:solidFill>
                  <a:srgbClr val="E8EEF9"/>
                </a:solidFill>
                <a:latin typeface="Courier New"/>
                <a:ea typeface="Courier New" pitchFamily="34" charset="-122"/>
                <a:cs typeface="Courier New"/>
              </a:rPr>
              <a:t>Bibliothek</a:t>
            </a:r>
            <a:endParaRPr lang="en-US" sz="1200" err="1">
              <a:latin typeface="Courier New"/>
              <a:cs typeface="Courier New"/>
            </a:endParaRPr>
          </a:p>
          <a:p>
            <a:pPr marL="0" indent="0">
              <a:lnSpc>
                <a:spcPct val="125000"/>
              </a:lnSpc>
              <a:buNone/>
            </a:pPr>
            <a:r>
              <a:rPr lang="en-US" sz="1200">
                <a:solidFill>
                  <a:srgbClr val="E8EEF9"/>
                </a:solidFill>
                <a:latin typeface="Courier New"/>
                <a:ea typeface="Courier New" pitchFamily="34" charset="-122"/>
                <a:cs typeface="Courier New"/>
              </a:rPr>
              <a:t>├─ </a:t>
            </a:r>
            <a:r>
              <a:rPr lang="en-US" sz="1200" err="1">
                <a:solidFill>
                  <a:srgbClr val="E8EEF9"/>
                </a:solidFill>
                <a:latin typeface="Courier New"/>
                <a:ea typeface="Courier New" pitchFamily="34" charset="-122"/>
                <a:cs typeface="Courier New"/>
              </a:rPr>
              <a:t>ergebnisse</a:t>
            </a:r>
            <a:r>
              <a:rPr lang="en-US" sz="1200">
                <a:solidFill>
                  <a:srgbClr val="E8EEF9"/>
                </a:solidFill>
                <a:latin typeface="Courier New"/>
                <a:ea typeface="Courier New" pitchFamily="34" charset="-122"/>
                <a:cs typeface="Courier New"/>
              </a:rPr>
              <a:t>/</a:t>
            </a:r>
            <a:endParaRPr lang="en-US" sz="1200">
              <a:latin typeface="Courier New"/>
              <a:cs typeface="Courier New"/>
            </a:endParaRPr>
          </a:p>
          <a:p>
            <a:pPr marL="0" indent="0">
              <a:lnSpc>
                <a:spcPct val="125000"/>
              </a:lnSpc>
              <a:buNone/>
            </a:pPr>
            <a:r>
              <a:rPr lang="en-US" sz="1200">
                <a:solidFill>
                  <a:srgbClr val="E8EEF9"/>
                </a:solidFill>
                <a:latin typeface="Courier New"/>
                <a:ea typeface="Courier New" pitchFamily="34" charset="-122"/>
                <a:cs typeface="Courier New"/>
              </a:rPr>
              <a:t>│   └─ &lt;system&gt;/&lt;ki&gt;/&lt;</a:t>
            </a:r>
            <a:r>
              <a:rPr lang="en-US" sz="1200" err="1">
                <a:solidFill>
                  <a:srgbClr val="E8EEF9"/>
                </a:solidFill>
                <a:latin typeface="Courier New"/>
                <a:ea typeface="Courier New" pitchFamily="34" charset="-122"/>
                <a:cs typeface="Courier New"/>
              </a:rPr>
              <a:t>typ</a:t>
            </a:r>
            <a:r>
              <a:rPr lang="en-US" sz="1200">
                <a:solidFill>
                  <a:srgbClr val="E8EEF9"/>
                </a:solidFill>
                <a:latin typeface="Courier New"/>
                <a:ea typeface="Courier New" pitchFamily="34" charset="-122"/>
                <a:cs typeface="Courier New"/>
              </a:rPr>
              <a:t>&gt;/  ← Zelle</a:t>
            </a:r>
            <a:endParaRPr lang="en-US" sz="1200">
              <a:latin typeface="Courier New"/>
              <a:cs typeface="Courier New"/>
            </a:endParaRPr>
          </a:p>
          <a:p>
            <a:pPr>
              <a:lnSpc>
                <a:spcPct val="125000"/>
              </a:lnSpc>
            </a:pPr>
            <a:r>
              <a:rPr lang="en-US" sz="1200">
                <a:solidFill>
                  <a:srgbClr val="E8EEF9"/>
                </a:solidFill>
                <a:latin typeface="Courier New"/>
                <a:ea typeface="Courier New" pitchFamily="34" charset="-122"/>
                <a:cs typeface="Courier New"/>
              </a:rPr>
              <a:t>│        v1.puml · v1-direkt.png</a:t>
            </a:r>
            <a:endParaRPr lang="en-US" sz="1200">
              <a:latin typeface="Courier New"/>
              <a:cs typeface="Courier New"/>
            </a:endParaRPr>
          </a:p>
          <a:p>
            <a:pPr>
              <a:lnSpc>
                <a:spcPct val="125000"/>
              </a:lnSpc>
            </a:pPr>
            <a:r>
              <a:rPr lang="en-US" sz="1200">
                <a:solidFill>
                  <a:srgbClr val="E8EEF9"/>
                </a:solidFill>
                <a:latin typeface="Courier New"/>
                <a:ea typeface="Courier New" pitchFamily="34" charset="-122"/>
                <a:cs typeface="Courier New"/>
              </a:rPr>
              <a:t>│        v1-plantuml.png</a:t>
            </a:r>
            <a:endParaRPr lang="en-US" sz="1200">
              <a:latin typeface="Courier New"/>
              <a:cs typeface="Courier New"/>
            </a:endParaRPr>
          </a:p>
          <a:p>
            <a:pPr>
              <a:lnSpc>
                <a:spcPct val="125000"/>
              </a:lnSpc>
            </a:pPr>
            <a:r>
              <a:rPr lang="en-US" sz="1200">
                <a:solidFill>
                  <a:srgbClr val="E8EEF9"/>
                </a:solidFill>
                <a:latin typeface="Courier New"/>
                <a:ea typeface="Courier New" pitchFamily="34" charset="-122"/>
                <a:cs typeface="Courier New"/>
              </a:rPr>
              <a:t>│        notizen.md · evaluation.md</a:t>
            </a:r>
            <a:endParaRPr lang="en-US" sz="1200">
              <a:latin typeface="Courier New"/>
              <a:cs typeface="Courier New"/>
            </a:endParaRPr>
          </a:p>
          <a:p>
            <a:pPr marL="0" indent="0">
              <a:lnSpc>
                <a:spcPct val="125000"/>
              </a:lnSpc>
              <a:buNone/>
            </a:pPr>
            <a:r>
              <a:rPr lang="en-US" sz="1200">
                <a:solidFill>
                  <a:srgbClr val="E8EEF9"/>
                </a:solidFill>
                <a:latin typeface="Courier New"/>
                <a:ea typeface="Courier New" pitchFamily="34" charset="-122"/>
                <a:cs typeface="Courier New"/>
              </a:rPr>
              <a:t>├─ evaluation/     </a:t>
            </a:r>
            <a:r>
              <a:rPr lang="en-US" sz="1200" err="1">
                <a:solidFill>
                  <a:srgbClr val="E8EEF9"/>
                </a:solidFill>
                <a:latin typeface="Courier New"/>
                <a:ea typeface="Courier New" pitchFamily="34" charset="-122"/>
                <a:cs typeface="Courier New"/>
              </a:rPr>
              <a:t>Kriterien</a:t>
            </a:r>
            <a:r>
              <a:rPr lang="en-US" sz="1200">
                <a:solidFill>
                  <a:srgbClr val="E8EEF9"/>
                </a:solidFill>
                <a:latin typeface="Courier New"/>
                <a:ea typeface="Courier New" pitchFamily="34" charset="-122"/>
                <a:cs typeface="Courier New"/>
              </a:rPr>
              <a:t> · Matrix</a:t>
            </a:r>
            <a:endParaRPr lang="en-US" sz="1200">
              <a:latin typeface="Courier New"/>
              <a:cs typeface="Courier New"/>
            </a:endParaRPr>
          </a:p>
          <a:p>
            <a:pPr marL="0" indent="0">
              <a:lnSpc>
                <a:spcPct val="125000"/>
              </a:lnSpc>
              <a:buNone/>
            </a:pPr>
            <a:r>
              <a:rPr lang="en-US" sz="1200">
                <a:solidFill>
                  <a:srgbClr val="E8EEF9"/>
                </a:solidFill>
                <a:latin typeface="Courier New"/>
                <a:ea typeface="Courier New" pitchFamily="34" charset="-122"/>
                <a:cs typeface="Courier New"/>
              </a:rPr>
              <a:t>└─ </a:t>
            </a:r>
            <a:r>
              <a:rPr lang="en-US" sz="1200" err="1">
                <a:solidFill>
                  <a:srgbClr val="E8EEF9"/>
                </a:solidFill>
                <a:latin typeface="Courier New"/>
                <a:ea typeface="Courier New" pitchFamily="34" charset="-122"/>
                <a:cs typeface="Courier New"/>
              </a:rPr>
              <a:t>dokumentation</a:t>
            </a:r>
            <a:r>
              <a:rPr lang="en-US" sz="1200">
                <a:solidFill>
                  <a:srgbClr val="E8EEF9"/>
                </a:solidFill>
                <a:latin typeface="Courier New"/>
                <a:ea typeface="Courier New" pitchFamily="34" charset="-122"/>
                <a:cs typeface="Courier New"/>
              </a:rPr>
              <a:t>/  vorgehen.md · </a:t>
            </a:r>
            <a:r>
              <a:rPr lang="en-US" sz="1200" err="1">
                <a:solidFill>
                  <a:srgbClr val="E8EEF9"/>
                </a:solidFill>
                <a:latin typeface="Courier New"/>
                <a:ea typeface="Courier New" pitchFamily="34" charset="-122"/>
                <a:cs typeface="Courier New"/>
              </a:rPr>
              <a:t>Reflexion</a:t>
            </a:r>
            <a:endParaRPr lang="en-US" sz="1200" err="1">
              <a:latin typeface="Courier New"/>
              <a:cs typeface="Courier New"/>
            </a:endParaRPr>
          </a:p>
        </p:txBody>
      </p:sp>
      <p:sp>
        <p:nvSpPr>
          <p:cNvPr id="7" name="Text 5"/>
          <p:cNvSpPr/>
          <p:nvPr/>
        </p:nvSpPr>
        <p:spPr>
          <a:xfrm>
            <a:off x="6355080" y="1691640"/>
            <a:ext cx="5303520" cy="365760"/>
          </a:xfrm>
          <a:prstGeom prst="rect">
            <a:avLst/>
          </a:prstGeom>
          <a:noFill/>
          <a:ln/>
        </p:spPr>
        <p:txBody>
          <a:bodyPr wrap="square" lIns="0" tIns="0" rIns="0" bIns="0" rtlCol="0" anchor="ctr"/>
          <a:lstStyle/>
          <a:p>
            <a:pPr marL="0" indent="0">
              <a:buNone/>
            </a:pPr>
            <a:r>
              <a:rPr lang="en-US" sz="1700" b="1">
                <a:solidFill>
                  <a:srgbClr val="1C2434"/>
                </a:solidFill>
                <a:latin typeface="Cambria" pitchFamily="34" charset="0"/>
                <a:ea typeface="Cambria" pitchFamily="34" charset="-122"/>
                <a:cs typeface="Cambria" pitchFamily="34" charset="-120"/>
              </a:rPr>
              <a:t>Warum dieser Aufwand?</a:t>
            </a:r>
            <a:endParaRPr lang="en-US" sz="1700"/>
          </a:p>
        </p:txBody>
      </p:sp>
      <p:sp>
        <p:nvSpPr>
          <p:cNvPr id="8" name="Text 6"/>
          <p:cNvSpPr/>
          <p:nvPr/>
        </p:nvSpPr>
        <p:spPr>
          <a:xfrm>
            <a:off x="6355080" y="2194560"/>
            <a:ext cx="5303520" cy="3657600"/>
          </a:xfrm>
          <a:prstGeom prst="rect">
            <a:avLst/>
          </a:prstGeom>
          <a:noFill/>
          <a:ln/>
        </p:spPr>
        <p:txBody>
          <a:bodyPr wrap="square" lIns="0" tIns="0" rIns="0" bIns="0" rtlCol="0" anchor="t"/>
          <a:lstStyle/>
          <a:p>
            <a:pPr marL="152400" indent="-152400">
              <a:lnSpc>
                <a:spcPct val="105000"/>
              </a:lnSpc>
              <a:spcAft>
                <a:spcPts val="1200"/>
              </a:spcAft>
              <a:buSzPct val="100000"/>
              <a:buChar char="•"/>
            </a:pPr>
            <a:r>
              <a:rPr lang="en-US" sz="1350" err="1">
                <a:solidFill>
                  <a:srgbClr val="1C2434"/>
                </a:solidFill>
                <a:latin typeface="Calibri"/>
                <a:ea typeface="Calibri"/>
                <a:cs typeface="Calibri"/>
              </a:rPr>
              <a:t>Jede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Kombination</a:t>
            </a:r>
            <a:r>
              <a:rPr lang="en-US" sz="1350">
                <a:solidFill>
                  <a:srgbClr val="1C2434"/>
                </a:solidFill>
                <a:latin typeface="Calibri"/>
                <a:ea typeface="Calibri"/>
                <a:cs typeface="Calibri"/>
              </a:rPr>
              <a:t> hat </a:t>
            </a:r>
            <a:r>
              <a:rPr lang="en-US" sz="1350" err="1">
                <a:solidFill>
                  <a:srgbClr val="1C2434"/>
                </a:solidFill>
                <a:latin typeface="Calibri"/>
                <a:ea typeface="Calibri"/>
                <a:cs typeface="Calibri"/>
              </a:rPr>
              <a:t>einen</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festen</a:t>
            </a:r>
            <a:r>
              <a:rPr lang="en-US" sz="1350">
                <a:solidFill>
                  <a:srgbClr val="1C2434"/>
                </a:solidFill>
                <a:latin typeface="Calibri"/>
                <a:ea typeface="Calibri"/>
                <a:cs typeface="Calibri"/>
              </a:rPr>
              <a:t> Ort – </a:t>
            </a:r>
            <a:r>
              <a:rPr lang="en-US" sz="1350" err="1">
                <a:solidFill>
                  <a:srgbClr val="1C2434"/>
                </a:solidFill>
                <a:latin typeface="Calibri"/>
                <a:ea typeface="Calibri"/>
                <a:cs typeface="Calibri"/>
              </a:rPr>
              <a:t>nichts</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wird</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überschrieben</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jede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Änderung</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ist</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eine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neue</a:t>
            </a:r>
            <a:r>
              <a:rPr lang="en-US" sz="1350">
                <a:solidFill>
                  <a:srgbClr val="1C2434"/>
                </a:solidFill>
                <a:latin typeface="Calibri"/>
                <a:ea typeface="Calibri"/>
                <a:cs typeface="Calibri"/>
              </a:rPr>
              <a:t> Version (v1, v2, …).</a:t>
            </a:r>
            <a:endParaRPr lang="en-US" sz="1350">
              <a:latin typeface="Calibri"/>
              <a:ea typeface="Calibri"/>
              <a:cs typeface="Calibri"/>
            </a:endParaRPr>
          </a:p>
          <a:p>
            <a:pPr marL="152400" indent="-152400">
              <a:lnSpc>
                <a:spcPct val="105000"/>
              </a:lnSpc>
              <a:spcAft>
                <a:spcPts val="1200"/>
              </a:spcAft>
              <a:buSzPct val="100000"/>
              <a:buChar char="•"/>
            </a:pPr>
            <a:r>
              <a:rPr lang="en-US" sz="1350" err="1">
                <a:solidFill>
                  <a:srgbClr val="1C2434"/>
                </a:solidFill>
                <a:latin typeface="Calibri"/>
                <a:ea typeface="Calibri"/>
                <a:cs typeface="Calibri"/>
              </a:rPr>
              <a:t>Regelwerk</a:t>
            </a:r>
            <a:r>
              <a:rPr lang="en-US" sz="1350">
                <a:solidFill>
                  <a:srgbClr val="1C2434"/>
                </a:solidFill>
                <a:latin typeface="Calibri"/>
                <a:ea typeface="Calibri"/>
                <a:cs typeface="Calibri"/>
              </a:rPr>
              <a:t> für KI-</a:t>
            </a:r>
            <a:r>
              <a:rPr lang="en-US" sz="1350" err="1">
                <a:solidFill>
                  <a:srgbClr val="1C2434"/>
                </a:solidFill>
                <a:latin typeface="Calibri"/>
                <a:ea typeface="Calibri"/>
                <a:cs typeface="Calibri"/>
              </a:rPr>
              <a:t>Agenten</a:t>
            </a:r>
            <a:r>
              <a:rPr lang="en-US" sz="1350">
                <a:solidFill>
                  <a:srgbClr val="1C2434"/>
                </a:solidFill>
                <a:latin typeface="Calibri"/>
                <a:ea typeface="Calibri"/>
                <a:cs typeface="Calibri"/>
              </a:rPr>
              <a:t>: AGENTS.md und READMEs </a:t>
            </a:r>
            <a:r>
              <a:rPr lang="en-US" sz="1350" err="1">
                <a:solidFill>
                  <a:srgbClr val="1C2434"/>
                </a:solidFill>
                <a:latin typeface="Calibri"/>
                <a:ea typeface="Calibri"/>
                <a:cs typeface="Calibri"/>
              </a:rPr>
              <a:t>machen</a:t>
            </a:r>
            <a:r>
              <a:rPr lang="en-US" sz="1350">
                <a:solidFill>
                  <a:srgbClr val="1C2434"/>
                </a:solidFill>
                <a:latin typeface="Calibri"/>
                <a:ea typeface="Calibri"/>
                <a:cs typeface="Calibri"/>
              </a:rPr>
              <a:t> das Repo </a:t>
            </a:r>
            <a:r>
              <a:rPr lang="en-US" sz="1350" err="1">
                <a:solidFill>
                  <a:srgbClr val="1C2434"/>
                </a:solidFill>
                <a:latin typeface="Calibri"/>
                <a:ea typeface="Calibri"/>
                <a:cs typeface="Calibri"/>
              </a:rPr>
              <a:t>selbst</a:t>
            </a:r>
            <a:r>
              <a:rPr lang="en-US" sz="1350">
                <a:solidFill>
                  <a:srgbClr val="1C2434"/>
                </a:solidFill>
                <a:latin typeface="Calibri"/>
                <a:ea typeface="Calibri"/>
                <a:cs typeface="Calibri"/>
              </a:rPr>
              <a:t> von KI-</a:t>
            </a:r>
            <a:r>
              <a:rPr lang="en-US" sz="1350" err="1">
                <a:solidFill>
                  <a:srgbClr val="1C2434"/>
                </a:solidFill>
                <a:latin typeface="Calibri"/>
                <a:ea typeface="Calibri"/>
                <a:cs typeface="Calibri"/>
              </a:rPr>
              <a:t>Agenten</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bearbeitbar</a:t>
            </a:r>
            <a:r>
              <a:rPr lang="en-US" sz="1350">
                <a:solidFill>
                  <a:srgbClr val="1C2434"/>
                </a:solidFill>
                <a:latin typeface="Calibri"/>
                <a:ea typeface="Calibri"/>
                <a:cs typeface="Calibri"/>
              </a:rPr>
              <a:t>.</a:t>
            </a:r>
          </a:p>
          <a:p>
            <a:pPr marL="152400" indent="-152400">
              <a:lnSpc>
                <a:spcPct val="105000"/>
              </a:lnSpc>
              <a:spcAft>
                <a:spcPts val="1200"/>
              </a:spcAft>
              <a:buSzPct val="100000"/>
              <a:buChar char="•"/>
            </a:pPr>
            <a:r>
              <a:rPr lang="en-US" sz="1350">
                <a:solidFill>
                  <a:srgbClr val="1C2434"/>
                </a:solidFill>
                <a:latin typeface="Calibri"/>
                <a:ea typeface="Calibri"/>
                <a:cs typeface="Calibri"/>
              </a:rPr>
              <a:t>Journal (append-only) </a:t>
            </a:r>
            <a:r>
              <a:rPr lang="en-US" sz="1350" err="1">
                <a:solidFill>
                  <a:srgbClr val="1C2434"/>
                </a:solidFill>
                <a:latin typeface="Calibri"/>
                <a:ea typeface="Calibri"/>
                <a:cs typeface="Calibri"/>
              </a:rPr>
              <a:t>nach</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jedem</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Arbeitsschritt</a:t>
            </a:r>
            <a:r>
              <a:rPr lang="en-US" sz="1350">
                <a:solidFill>
                  <a:srgbClr val="1C2434"/>
                </a:solidFill>
                <a:latin typeface="Calibri"/>
                <a:ea typeface="Calibri"/>
                <a:cs typeface="Calibri"/>
              </a:rPr>
              <a:t> – </a:t>
            </a:r>
            <a:r>
              <a:rPr lang="en-US" sz="1350" err="1">
                <a:solidFill>
                  <a:srgbClr val="1C2434"/>
                </a:solidFill>
                <a:latin typeface="Calibri"/>
                <a:ea typeface="Calibri"/>
                <a:cs typeface="Calibri"/>
              </a:rPr>
              <a:t>auch</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Fehlschläge</a:t>
            </a:r>
            <a:r>
              <a:rPr lang="en-US" sz="1350">
                <a:solidFill>
                  <a:srgbClr val="1C2434"/>
                </a:solidFill>
                <a:latin typeface="Calibri"/>
                <a:ea typeface="Calibri"/>
                <a:cs typeface="Calibri"/>
              </a:rPr>
              <a:t> und </a:t>
            </a:r>
            <a:r>
              <a:rPr lang="en-US" sz="1350" err="1">
                <a:solidFill>
                  <a:srgbClr val="1C2434"/>
                </a:solidFill>
                <a:latin typeface="Calibri"/>
                <a:ea typeface="Calibri"/>
                <a:cs typeface="Calibri"/>
              </a:rPr>
              <a:t>Sackgassen</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werden</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festgehalten</a:t>
            </a:r>
            <a:r>
              <a:rPr lang="en-US" sz="1350">
                <a:solidFill>
                  <a:srgbClr val="1C2434"/>
                </a:solidFill>
                <a:latin typeface="Calibri"/>
                <a:ea typeface="Calibri"/>
                <a:cs typeface="Calibri"/>
              </a:rPr>
              <a:t>.</a:t>
            </a:r>
            <a:endParaRPr lang="en-US" sz="1350">
              <a:latin typeface="Calibri"/>
              <a:ea typeface="Calibri"/>
              <a:cs typeface="Calibri"/>
            </a:endParaRPr>
          </a:p>
          <a:p>
            <a:pPr marL="152400" indent="-152400">
              <a:lnSpc>
                <a:spcPct val="105000"/>
              </a:lnSpc>
              <a:spcAft>
                <a:spcPts val="1200"/>
              </a:spcAft>
              <a:buSzPct val="100000"/>
              <a:buChar char="•"/>
            </a:pPr>
            <a:endParaRPr lang="en-US" sz="1350">
              <a:solidFill>
                <a:srgbClr val="1C2434"/>
              </a:solidFill>
              <a:ea typeface="Calibri"/>
              <a:cs typeface="Calibri"/>
            </a:endParaRPr>
          </a:p>
        </p:txBody>
      </p:sp>
      <p:sp>
        <p:nvSpPr>
          <p:cNvPr id="9" name="Text 7"/>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4</a:t>
            </a:r>
            <a:endParaRPr lang="en-US" sz="1000"/>
          </a:p>
        </p:txBody>
      </p:sp>
      <p:sp>
        <p:nvSpPr>
          <p:cNvPr id="10" name="Text 8"/>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2 · VORGEHEN</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Prompts als kontrollierte Eingabe</a:t>
            </a:r>
            <a:endParaRPr lang="en-US" sz="3000"/>
          </a:p>
        </p:txBody>
      </p:sp>
      <p:sp>
        <p:nvSpPr>
          <p:cNvPr id="4" name="Shape 2"/>
          <p:cNvSpPr/>
          <p:nvPr/>
        </p:nvSpPr>
        <p:spPr>
          <a:xfrm>
            <a:off x="502920" y="1691640"/>
            <a:ext cx="5394960" cy="1554480"/>
          </a:xfrm>
          <a:prstGeom prst="roundRect">
            <a:avLst>
              <a:gd name="adj" fmla="val 5882"/>
            </a:avLst>
          </a:prstGeom>
          <a:solidFill>
            <a:srgbClr val="F3F6FB"/>
          </a:solidFill>
          <a:ln w="12700">
            <a:solidFill>
              <a:srgbClr val="D9E1EE"/>
            </a:solidFill>
            <a:prstDash val="solid"/>
          </a:ln>
        </p:spPr>
        <p:txBody>
          <a:bodyPr/>
          <a:lstStyle/>
          <a:p>
            <a:endParaRPr lang="de-DE"/>
          </a:p>
        </p:txBody>
      </p:sp>
      <p:sp>
        <p:nvSpPr>
          <p:cNvPr id="5" name="Text 3"/>
          <p:cNvSpPr/>
          <p:nvPr/>
        </p:nvSpPr>
        <p:spPr>
          <a:xfrm>
            <a:off x="777240" y="1874520"/>
            <a:ext cx="4846320" cy="274320"/>
          </a:xfrm>
          <a:prstGeom prst="rect">
            <a:avLst/>
          </a:prstGeom>
          <a:noFill/>
          <a:ln/>
        </p:spPr>
        <p:txBody>
          <a:bodyPr wrap="square" lIns="0" tIns="0" rIns="0" bIns="0" rtlCol="0" anchor="ctr"/>
          <a:lstStyle/>
          <a:p>
            <a:pPr marL="0" indent="0">
              <a:buNone/>
            </a:pPr>
            <a:r>
              <a:rPr lang="en-US" sz="1100" b="1" kern="0" spc="200">
                <a:solidFill>
                  <a:srgbClr val="3E5FA3"/>
                </a:solidFill>
                <a:latin typeface="Calibri" pitchFamily="34" charset="0"/>
                <a:ea typeface="Calibri" pitchFamily="34" charset="-122"/>
                <a:cs typeface="Calibri" pitchFamily="34" charset="-120"/>
              </a:rPr>
              <a:t>SCHRITT 1 · BASIS-PROMPT</a:t>
            </a:r>
            <a:endParaRPr lang="en-US" sz="1100"/>
          </a:p>
        </p:txBody>
      </p:sp>
      <p:sp>
        <p:nvSpPr>
          <p:cNvPr id="6" name="Text 4"/>
          <p:cNvSpPr/>
          <p:nvPr/>
        </p:nvSpPr>
        <p:spPr>
          <a:xfrm>
            <a:off x="777240" y="2176272"/>
            <a:ext cx="4846320" cy="960120"/>
          </a:xfrm>
          <a:prstGeom prst="rect">
            <a:avLst/>
          </a:prstGeom>
          <a:noFill/>
          <a:ln/>
        </p:spPr>
        <p:txBody>
          <a:bodyPr wrap="square" lIns="0" tIns="0" rIns="0" bIns="0" rtlCol="0" anchor="t"/>
          <a:lstStyle/>
          <a:p>
            <a:pPr marL="0" indent="0">
              <a:lnSpc>
                <a:spcPct val="112000"/>
              </a:lnSpc>
              <a:buNone/>
            </a:pPr>
            <a:r>
              <a:rPr lang="en-US" sz="1300">
                <a:solidFill>
                  <a:srgbClr val="1C2434"/>
                </a:solidFill>
                <a:latin typeface="Calibri" pitchFamily="34" charset="0"/>
                <a:ea typeface="Calibri" pitchFamily="34" charset="-122"/>
                <a:cs typeface="Calibri" pitchFamily="34" charset="-120"/>
              </a:rPr>
              <a:t>Rolle, Konversationsregeln und die Systembeschreibung in eigenen Worten. Die KI bestätigt zuerst ihr Verständnis (Akteure, Fachbegriffe) – noch kein Diagramm.</a:t>
            </a:r>
            <a:endParaRPr lang="en-US" sz="1300"/>
          </a:p>
        </p:txBody>
      </p:sp>
      <p:sp>
        <p:nvSpPr>
          <p:cNvPr id="7" name="Shape 5"/>
          <p:cNvSpPr/>
          <p:nvPr/>
        </p:nvSpPr>
        <p:spPr>
          <a:xfrm>
            <a:off x="3182112" y="3246120"/>
            <a:ext cx="36576" cy="320040"/>
          </a:xfrm>
          <a:prstGeom prst="rect">
            <a:avLst/>
          </a:prstGeom>
          <a:solidFill>
            <a:srgbClr val="3E5FA3"/>
          </a:solidFill>
          <a:ln/>
        </p:spPr>
        <p:txBody>
          <a:bodyPr/>
          <a:lstStyle/>
          <a:p>
            <a:endParaRPr lang="de-DE"/>
          </a:p>
        </p:txBody>
      </p:sp>
      <p:sp>
        <p:nvSpPr>
          <p:cNvPr id="8" name="Shape 6"/>
          <p:cNvSpPr/>
          <p:nvPr/>
        </p:nvSpPr>
        <p:spPr>
          <a:xfrm>
            <a:off x="502920" y="3566160"/>
            <a:ext cx="5394960" cy="1554480"/>
          </a:xfrm>
          <a:prstGeom prst="roundRect">
            <a:avLst>
              <a:gd name="adj" fmla="val 5882"/>
            </a:avLst>
          </a:prstGeom>
          <a:solidFill>
            <a:srgbClr val="F3F6FB"/>
          </a:solidFill>
          <a:ln w="12700">
            <a:solidFill>
              <a:srgbClr val="D9E1EE"/>
            </a:solidFill>
            <a:prstDash val="solid"/>
          </a:ln>
        </p:spPr>
        <p:txBody>
          <a:bodyPr/>
          <a:lstStyle/>
          <a:p>
            <a:endParaRPr lang="de-DE"/>
          </a:p>
        </p:txBody>
      </p:sp>
      <p:sp>
        <p:nvSpPr>
          <p:cNvPr id="9" name="Text 7"/>
          <p:cNvSpPr/>
          <p:nvPr/>
        </p:nvSpPr>
        <p:spPr>
          <a:xfrm>
            <a:off x="777240" y="3749040"/>
            <a:ext cx="4846320" cy="274320"/>
          </a:xfrm>
          <a:prstGeom prst="rect">
            <a:avLst/>
          </a:prstGeom>
          <a:noFill/>
          <a:ln/>
        </p:spPr>
        <p:txBody>
          <a:bodyPr wrap="square" lIns="0" tIns="0" rIns="0" bIns="0" rtlCol="0" anchor="ctr"/>
          <a:lstStyle/>
          <a:p>
            <a:pPr marL="0" indent="0">
              <a:buNone/>
            </a:pPr>
            <a:r>
              <a:rPr lang="en-US" sz="1100" b="1" kern="0" spc="200">
                <a:solidFill>
                  <a:srgbClr val="3E5FA3"/>
                </a:solidFill>
                <a:latin typeface="Calibri" pitchFamily="34" charset="0"/>
                <a:ea typeface="Calibri" pitchFamily="34" charset="-122"/>
                <a:cs typeface="Calibri" pitchFamily="34" charset="-120"/>
              </a:rPr>
              <a:t>SCHRITT 2 · DIAGRAMM-AUFTRAG</a:t>
            </a:r>
            <a:endParaRPr lang="en-US" sz="1100"/>
          </a:p>
        </p:txBody>
      </p:sp>
      <p:sp>
        <p:nvSpPr>
          <p:cNvPr id="10" name="Text 8"/>
          <p:cNvSpPr/>
          <p:nvPr/>
        </p:nvSpPr>
        <p:spPr>
          <a:xfrm>
            <a:off x="777240" y="4050792"/>
            <a:ext cx="4846320" cy="960120"/>
          </a:xfrm>
          <a:prstGeom prst="rect">
            <a:avLst/>
          </a:prstGeom>
          <a:noFill/>
          <a:ln/>
        </p:spPr>
        <p:txBody>
          <a:bodyPr wrap="square" lIns="0" tIns="0" rIns="0" bIns="0" rtlCol="0" anchor="t"/>
          <a:lstStyle/>
          <a:p>
            <a:pPr>
              <a:lnSpc>
                <a:spcPct val="112000"/>
              </a:lnSpc>
            </a:pPr>
            <a:r>
              <a:rPr lang="en-US" sz="1300" err="1">
                <a:solidFill>
                  <a:srgbClr val="1C2434"/>
                </a:solidFill>
                <a:latin typeface="Calibri"/>
                <a:ea typeface="Calibri"/>
                <a:cs typeface="Calibri"/>
              </a:rPr>
              <a:t>Typspezifische</a:t>
            </a:r>
            <a:r>
              <a:rPr lang="en-US" sz="1300">
                <a:solidFill>
                  <a:srgbClr val="1C2434"/>
                </a:solidFill>
                <a:latin typeface="Calibri"/>
                <a:ea typeface="Calibri"/>
                <a:cs typeface="Calibri"/>
              </a:rPr>
              <a:t> Aufgabe </a:t>
            </a:r>
            <a:r>
              <a:rPr lang="en-US" sz="1300" err="1">
                <a:solidFill>
                  <a:srgbClr val="1C2434"/>
                </a:solidFill>
                <a:latin typeface="Calibri"/>
                <a:ea typeface="Calibri"/>
                <a:cs typeface="Calibri"/>
              </a:rPr>
              <a:t>mit</a:t>
            </a:r>
            <a:r>
              <a:rPr lang="en-US" sz="1300">
                <a:solidFill>
                  <a:srgbClr val="1C2434"/>
                </a:solidFill>
                <a:latin typeface="Calibri"/>
                <a:ea typeface="Calibri"/>
                <a:cs typeface="Calibri"/>
              </a:rPr>
              <a:t> </a:t>
            </a:r>
            <a:r>
              <a:rPr lang="en-US" sz="1300" err="1">
                <a:solidFill>
                  <a:srgbClr val="1C2434"/>
                </a:solidFill>
                <a:latin typeface="Calibri"/>
                <a:ea typeface="Calibri"/>
                <a:cs typeface="Calibri"/>
              </a:rPr>
              <a:t>detailliert</a:t>
            </a:r>
            <a:r>
              <a:rPr lang="en-US" sz="1300">
                <a:solidFill>
                  <a:srgbClr val="1C2434"/>
                </a:solidFill>
                <a:latin typeface="Calibri"/>
                <a:ea typeface="Calibri"/>
                <a:cs typeface="Calibri"/>
              </a:rPr>
              <a:t> </a:t>
            </a:r>
            <a:r>
              <a:rPr lang="en-US" sz="1300" err="1">
                <a:solidFill>
                  <a:srgbClr val="1C2434"/>
                </a:solidFill>
                <a:latin typeface="Calibri"/>
                <a:ea typeface="Calibri"/>
                <a:cs typeface="Calibri"/>
              </a:rPr>
              <a:t>beschriebenen</a:t>
            </a:r>
            <a:r>
              <a:rPr lang="en-US" sz="1300">
                <a:solidFill>
                  <a:srgbClr val="1C2434"/>
                </a:solidFill>
                <a:latin typeface="Calibri"/>
                <a:ea typeface="Calibri"/>
                <a:cs typeface="Calibri"/>
              </a:rPr>
              <a:t> </a:t>
            </a:r>
            <a:r>
              <a:rPr lang="en-US" sz="1300" err="1">
                <a:solidFill>
                  <a:srgbClr val="1C2434"/>
                </a:solidFill>
                <a:latin typeface="Calibri"/>
                <a:ea typeface="Calibri"/>
                <a:cs typeface="Calibri"/>
              </a:rPr>
              <a:t>Pflichtelementen</a:t>
            </a:r>
            <a:r>
              <a:rPr lang="en-US" sz="1300">
                <a:solidFill>
                  <a:srgbClr val="1C2434"/>
                </a:solidFill>
                <a:latin typeface="Calibri"/>
                <a:ea typeface="Calibri"/>
                <a:cs typeface="Calibri"/>
              </a:rPr>
              <a:t>, und der </a:t>
            </a:r>
            <a:r>
              <a:rPr lang="en-US" sz="1300" err="1">
                <a:solidFill>
                  <a:srgbClr val="1C2434"/>
                </a:solidFill>
                <a:latin typeface="Calibri"/>
                <a:ea typeface="Calibri"/>
                <a:cs typeface="Calibri"/>
              </a:rPr>
              <a:t>Forderung</a:t>
            </a:r>
            <a:r>
              <a:rPr lang="en-US" sz="1300">
                <a:solidFill>
                  <a:srgbClr val="1C2434"/>
                </a:solidFill>
                <a:latin typeface="Calibri"/>
                <a:ea typeface="Calibri"/>
                <a:cs typeface="Calibri"/>
              </a:rPr>
              <a:t> </a:t>
            </a:r>
            <a:r>
              <a:rPr lang="en-US" sz="1300" err="1">
                <a:solidFill>
                  <a:srgbClr val="1C2434"/>
                </a:solidFill>
                <a:latin typeface="Calibri"/>
                <a:ea typeface="Calibri"/>
                <a:cs typeface="Calibri"/>
              </a:rPr>
              <a:t>nach</a:t>
            </a:r>
            <a:r>
              <a:rPr lang="en-US" sz="1300">
                <a:solidFill>
                  <a:srgbClr val="1C2434"/>
                </a:solidFill>
                <a:latin typeface="Calibri"/>
                <a:ea typeface="Calibri"/>
                <a:cs typeface="Calibri"/>
              </a:rPr>
              <a:t> </a:t>
            </a:r>
            <a:r>
              <a:rPr lang="en-US" sz="1300" err="1">
                <a:solidFill>
                  <a:srgbClr val="1C2434"/>
                </a:solidFill>
                <a:latin typeface="Calibri"/>
                <a:ea typeface="Calibri"/>
                <a:cs typeface="Calibri"/>
              </a:rPr>
              <a:t>beiden</a:t>
            </a:r>
            <a:r>
              <a:rPr lang="en-US" sz="1300">
                <a:solidFill>
                  <a:srgbClr val="1C2434"/>
                </a:solidFill>
                <a:latin typeface="Calibri"/>
                <a:ea typeface="Calibri"/>
                <a:cs typeface="Calibri"/>
              </a:rPr>
              <a:t> </a:t>
            </a:r>
            <a:r>
              <a:rPr lang="en-US" sz="1300" err="1">
                <a:solidFill>
                  <a:srgbClr val="1C2434"/>
                </a:solidFill>
                <a:latin typeface="Calibri"/>
                <a:ea typeface="Calibri"/>
                <a:cs typeface="Calibri"/>
              </a:rPr>
              <a:t>Ausgabeformen</a:t>
            </a:r>
            <a:r>
              <a:rPr lang="en-US" sz="1300">
                <a:solidFill>
                  <a:srgbClr val="1C2434"/>
                </a:solidFill>
                <a:latin typeface="Calibri"/>
                <a:ea typeface="Calibri"/>
                <a:cs typeface="Calibri"/>
              </a:rPr>
              <a:t>: Bild + </a:t>
            </a:r>
            <a:r>
              <a:rPr lang="en-US" sz="1300" err="1">
                <a:solidFill>
                  <a:srgbClr val="1C2434"/>
                </a:solidFill>
                <a:latin typeface="Calibri"/>
                <a:ea typeface="Calibri"/>
                <a:cs typeface="Calibri"/>
              </a:rPr>
              <a:t>PlantUML</a:t>
            </a:r>
            <a:r>
              <a:rPr lang="en-US" sz="1300">
                <a:solidFill>
                  <a:srgbClr val="1C2434"/>
                </a:solidFill>
                <a:latin typeface="Calibri"/>
                <a:ea typeface="Calibri"/>
                <a:cs typeface="Calibri"/>
              </a:rPr>
              <a:t>-Code.</a:t>
            </a:r>
            <a:endParaRPr lang="en-US" sz="1300">
              <a:latin typeface="Calibri"/>
              <a:ea typeface="Calibri"/>
              <a:cs typeface="Calibri"/>
            </a:endParaRPr>
          </a:p>
        </p:txBody>
      </p:sp>
      <p:sp>
        <p:nvSpPr>
          <p:cNvPr id="11" name="Text 9"/>
          <p:cNvSpPr/>
          <p:nvPr/>
        </p:nvSpPr>
        <p:spPr>
          <a:xfrm>
            <a:off x="502920" y="5349240"/>
            <a:ext cx="5394960" cy="457200"/>
          </a:xfrm>
          <a:prstGeom prst="rect">
            <a:avLst/>
          </a:prstGeom>
          <a:noFill/>
          <a:ln/>
        </p:spPr>
        <p:txBody>
          <a:bodyPr wrap="square" lIns="0" tIns="0" rIns="0" bIns="0" rtlCol="0" anchor="ctr"/>
          <a:lstStyle/>
          <a:p>
            <a:pPr marL="0" indent="0">
              <a:buNone/>
            </a:pPr>
            <a:r>
              <a:rPr lang="en-US" sz="1200" i="1">
                <a:solidFill>
                  <a:srgbClr val="5B6575"/>
                </a:solidFill>
                <a:latin typeface="Calibri" pitchFamily="34" charset="0"/>
                <a:ea typeface="Calibri" pitchFamily="34" charset="-122"/>
                <a:cs typeface="Calibri" pitchFamily="34" charset="-120"/>
              </a:rPr>
              <a:t>Ein Prompt je Diagrammtyp und System – versioniert in der Prompt-Bibliothek.</a:t>
            </a:r>
            <a:endParaRPr lang="en-US" sz="1200"/>
          </a:p>
        </p:txBody>
      </p:sp>
      <p:sp>
        <p:nvSpPr>
          <p:cNvPr id="12" name="Text 10"/>
          <p:cNvSpPr/>
          <p:nvPr/>
        </p:nvSpPr>
        <p:spPr>
          <a:xfrm>
            <a:off x="6355080" y="1691640"/>
            <a:ext cx="5303520" cy="365760"/>
          </a:xfrm>
          <a:prstGeom prst="rect">
            <a:avLst/>
          </a:prstGeom>
          <a:noFill/>
          <a:ln/>
        </p:spPr>
        <p:txBody>
          <a:bodyPr wrap="square" lIns="0" tIns="0" rIns="0" bIns="0" rtlCol="0" anchor="ctr"/>
          <a:lstStyle/>
          <a:p>
            <a:pPr marL="0" indent="0">
              <a:buNone/>
            </a:pPr>
            <a:r>
              <a:rPr lang="en-US" sz="1700" b="1">
                <a:solidFill>
                  <a:srgbClr val="1C2434"/>
                </a:solidFill>
                <a:latin typeface="Cambria" pitchFamily="34" charset="0"/>
                <a:ea typeface="Cambria" pitchFamily="34" charset="-122"/>
                <a:cs typeface="Cambria" pitchFamily="34" charset="-120"/>
              </a:rPr>
              <a:t>Damit der Vergleich fair ist</a:t>
            </a:r>
            <a:endParaRPr lang="en-US" sz="1700"/>
          </a:p>
        </p:txBody>
      </p:sp>
      <p:sp>
        <p:nvSpPr>
          <p:cNvPr id="13" name="Text 11"/>
          <p:cNvSpPr/>
          <p:nvPr/>
        </p:nvSpPr>
        <p:spPr>
          <a:xfrm>
            <a:off x="6355080" y="2194560"/>
            <a:ext cx="5303520" cy="3840480"/>
          </a:xfrm>
          <a:prstGeom prst="rect">
            <a:avLst/>
          </a:prstGeom>
          <a:noFill/>
          <a:ln/>
        </p:spPr>
        <p:txBody>
          <a:bodyPr wrap="square" lIns="0" tIns="0" rIns="0" bIns="0" rtlCol="0" anchor="t"/>
          <a:lstStyle/>
          <a:p>
            <a:pPr marL="152400" indent="-152400">
              <a:lnSpc>
                <a:spcPct val="105000"/>
              </a:lnSpc>
              <a:spcAft>
                <a:spcPts val="1100"/>
              </a:spcAft>
              <a:buSzPct val="100000"/>
              <a:buChar char="•"/>
            </a:pPr>
            <a:r>
              <a:rPr lang="en-US" sz="1350" err="1">
                <a:solidFill>
                  <a:srgbClr val="1C2434"/>
                </a:solidFill>
                <a:latin typeface="Calibri"/>
                <a:ea typeface="Calibri"/>
                <a:cs typeface="Calibri"/>
              </a:rPr>
              <a:t>Identischer</a:t>
            </a:r>
            <a:r>
              <a:rPr lang="en-US" sz="1350">
                <a:solidFill>
                  <a:srgbClr val="1C2434"/>
                </a:solidFill>
                <a:latin typeface="Calibri"/>
                <a:ea typeface="Calibri"/>
                <a:cs typeface="Calibri"/>
              </a:rPr>
              <a:t> Prompt für </a:t>
            </a:r>
            <a:r>
              <a:rPr lang="en-US" sz="1350" err="1">
                <a:solidFill>
                  <a:srgbClr val="1C2434"/>
                </a:solidFill>
                <a:latin typeface="Calibri"/>
                <a:ea typeface="Calibri"/>
                <a:cs typeface="Calibri"/>
              </a:rPr>
              <a:t>beide</a:t>
            </a:r>
            <a:r>
              <a:rPr lang="en-US" sz="1350">
                <a:solidFill>
                  <a:srgbClr val="1C2434"/>
                </a:solidFill>
                <a:latin typeface="Calibri"/>
                <a:ea typeface="Calibri"/>
                <a:cs typeface="Calibri"/>
              </a:rPr>
              <a:t> KIs – </a:t>
            </a:r>
            <a:r>
              <a:rPr lang="en-US" sz="1350" err="1">
                <a:solidFill>
                  <a:srgbClr val="1C2434"/>
                </a:solidFill>
                <a:latin typeface="Calibri"/>
                <a:ea typeface="Calibri"/>
                <a:cs typeface="Calibri"/>
              </a:rPr>
              <a:t>nur</a:t>
            </a:r>
            <a:r>
              <a:rPr lang="en-US" sz="1350">
                <a:solidFill>
                  <a:srgbClr val="1C2434"/>
                </a:solidFill>
                <a:latin typeface="Calibri"/>
                <a:ea typeface="Calibri"/>
                <a:cs typeface="Calibri"/>
              </a:rPr>
              <a:t> die </a:t>
            </a:r>
            <a:r>
              <a:rPr lang="en-US" sz="1350" err="1">
                <a:solidFill>
                  <a:srgbClr val="1C2434"/>
                </a:solidFill>
                <a:latin typeface="Calibri"/>
                <a:ea typeface="Calibri"/>
                <a:cs typeface="Calibri"/>
              </a:rPr>
              <a:t>Systembeschreibung</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wird</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getauscht</a:t>
            </a:r>
            <a:r>
              <a:rPr lang="en-US" sz="1350">
                <a:solidFill>
                  <a:srgbClr val="1C2434"/>
                </a:solidFill>
                <a:latin typeface="Calibri"/>
                <a:ea typeface="Calibri"/>
                <a:cs typeface="Calibri"/>
              </a:rPr>
              <a:t>.</a:t>
            </a:r>
            <a:endParaRPr lang="en-US" sz="1350">
              <a:latin typeface="Calibri"/>
              <a:ea typeface="Calibri"/>
              <a:cs typeface="Calibri"/>
            </a:endParaRPr>
          </a:p>
          <a:p>
            <a:pPr marL="152400" indent="-152400">
              <a:lnSpc>
                <a:spcPct val="105000"/>
              </a:lnSpc>
              <a:spcAft>
                <a:spcPts val="1100"/>
              </a:spcAft>
              <a:buSzPct val="100000"/>
              <a:buChar char="•"/>
            </a:pPr>
            <a:r>
              <a:rPr lang="en-US" sz="1350">
                <a:solidFill>
                  <a:srgbClr val="1C2434"/>
                </a:solidFill>
                <a:latin typeface="Calibri"/>
                <a:ea typeface="Calibri"/>
                <a:cs typeface="Calibri"/>
              </a:rPr>
              <a:t>Anti-</a:t>
            </a:r>
            <a:r>
              <a:rPr lang="en-US" sz="1350" err="1">
                <a:solidFill>
                  <a:srgbClr val="1C2434"/>
                </a:solidFill>
                <a:latin typeface="Calibri"/>
                <a:ea typeface="Calibri"/>
                <a:cs typeface="Calibri"/>
              </a:rPr>
              <a:t>Halluzinations</a:t>
            </a:r>
            <a:r>
              <a:rPr lang="en-US" sz="1350">
                <a:solidFill>
                  <a:srgbClr val="1C2434"/>
                </a:solidFill>
                <a:latin typeface="Calibri"/>
                <a:ea typeface="Calibri"/>
                <a:cs typeface="Calibri"/>
              </a:rPr>
              <a:t>-Regel </a:t>
            </a:r>
            <a:r>
              <a:rPr lang="en-US" sz="1350" err="1">
                <a:solidFill>
                  <a:srgbClr val="1C2434"/>
                </a:solidFill>
                <a:latin typeface="Calibri"/>
                <a:ea typeface="Calibri"/>
                <a:cs typeface="Calibri"/>
              </a:rPr>
              <a:t>im</a:t>
            </a:r>
            <a:r>
              <a:rPr lang="en-US" sz="1350">
                <a:solidFill>
                  <a:srgbClr val="1C2434"/>
                </a:solidFill>
                <a:latin typeface="Calibri"/>
                <a:ea typeface="Calibri"/>
                <a:cs typeface="Calibri"/>
              </a:rPr>
              <a:t> Prompt: </a:t>
            </a:r>
            <a:r>
              <a:rPr lang="en-US" sz="1350" err="1">
                <a:solidFill>
                  <a:srgbClr val="1C2434"/>
                </a:solidFill>
                <a:latin typeface="Calibri"/>
                <a:ea typeface="Calibri"/>
                <a:cs typeface="Calibri"/>
              </a:rPr>
              <a:t>nur</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Inhalte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aus</a:t>
            </a:r>
            <a:r>
              <a:rPr lang="en-US" sz="1350">
                <a:solidFill>
                  <a:srgbClr val="1C2434"/>
                </a:solidFill>
                <a:latin typeface="Calibri"/>
                <a:ea typeface="Calibri"/>
                <a:cs typeface="Calibri"/>
              </a:rPr>
              <a:t> der </a:t>
            </a:r>
            <a:r>
              <a:rPr lang="en-US" sz="1350" err="1">
                <a:solidFill>
                  <a:srgbClr val="1C2434"/>
                </a:solidFill>
                <a:latin typeface="Calibri"/>
                <a:ea typeface="Calibri"/>
                <a:cs typeface="Calibri"/>
              </a:rPr>
              <a:t>Systembeschreibung</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nichts</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erfinden</a:t>
            </a:r>
            <a:r>
              <a:rPr lang="en-US" sz="1350">
                <a:solidFill>
                  <a:srgbClr val="1C2434"/>
                </a:solidFill>
                <a:latin typeface="Calibri"/>
                <a:ea typeface="Calibri"/>
                <a:cs typeface="Calibri"/>
              </a:rPr>
              <a:t>.</a:t>
            </a:r>
            <a:endParaRPr lang="en-US" sz="1350">
              <a:latin typeface="Calibri"/>
              <a:ea typeface="Calibri"/>
              <a:cs typeface="Calibri"/>
            </a:endParaRPr>
          </a:p>
          <a:p>
            <a:pPr marL="152400" indent="-152400">
              <a:lnSpc>
                <a:spcPct val="105000"/>
              </a:lnSpc>
              <a:spcAft>
                <a:spcPts val="1100"/>
              </a:spcAft>
              <a:buSzPct val="100000"/>
              <a:buChar char="•"/>
            </a:pPr>
            <a:r>
              <a:rPr lang="en-US" sz="1350">
                <a:solidFill>
                  <a:srgbClr val="1C2434"/>
                </a:solidFill>
                <a:latin typeface="Calibri"/>
                <a:ea typeface="Calibri"/>
                <a:cs typeface="Calibri"/>
              </a:rPr>
              <a:t>Sehr </a:t>
            </a:r>
            <a:r>
              <a:rPr lang="en-US" sz="1350" err="1">
                <a:solidFill>
                  <a:srgbClr val="1C2434"/>
                </a:solidFill>
                <a:latin typeface="Calibri"/>
                <a:ea typeface="Calibri"/>
                <a:cs typeface="Calibri"/>
              </a:rPr>
              <a:t>aufwändiger</a:t>
            </a:r>
            <a:r>
              <a:rPr lang="en-US" sz="1350">
                <a:solidFill>
                  <a:srgbClr val="1C2434"/>
                </a:solidFill>
                <a:latin typeface="Calibri"/>
                <a:ea typeface="Calibri"/>
                <a:cs typeface="Calibri"/>
              </a:rPr>
              <a:t> und </a:t>
            </a:r>
            <a:r>
              <a:rPr lang="en-US" sz="1350" err="1">
                <a:solidFill>
                  <a:srgbClr val="1C2434"/>
                </a:solidFill>
                <a:latin typeface="Calibri"/>
                <a:ea typeface="Calibri"/>
                <a:cs typeface="Calibri"/>
              </a:rPr>
              <a:t>detaillierter</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Promt</a:t>
            </a:r>
            <a:r>
              <a:rPr lang="en-US" sz="1350">
                <a:solidFill>
                  <a:srgbClr val="1C2434"/>
                </a:solidFill>
                <a:latin typeface="Calibri"/>
                <a:ea typeface="Calibri"/>
                <a:cs typeface="Calibri"/>
              </a:rPr>
              <a:t> um </a:t>
            </a:r>
            <a:r>
              <a:rPr lang="en-US" sz="1350" err="1">
                <a:solidFill>
                  <a:srgbClr val="1C2434"/>
                </a:solidFill>
                <a:latin typeface="Calibri"/>
                <a:ea typeface="Calibri"/>
                <a:cs typeface="Calibri"/>
              </a:rPr>
              <a:t>bestmögliche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Ergebnisse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zu</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erhalten</a:t>
            </a:r>
            <a:endParaRPr lang="en-US" sz="1350">
              <a:solidFill>
                <a:srgbClr val="1C2434"/>
              </a:solidFill>
              <a:latin typeface="Calibri"/>
              <a:ea typeface="Calibri"/>
              <a:cs typeface="Calibri"/>
            </a:endParaRPr>
          </a:p>
          <a:p>
            <a:pPr marL="152400" indent="-152400">
              <a:lnSpc>
                <a:spcPct val="105000"/>
              </a:lnSpc>
              <a:spcAft>
                <a:spcPts val="1100"/>
              </a:spcAft>
              <a:buSzPct val="100000"/>
              <a:buChar char="•"/>
            </a:pPr>
            <a:r>
              <a:rPr lang="en-US" sz="1350">
                <a:solidFill>
                  <a:srgbClr val="1C2434"/>
                </a:solidFill>
                <a:latin typeface="Calibri"/>
                <a:ea typeface="Calibri"/>
                <a:cs typeface="Calibri"/>
              </a:rPr>
              <a:t>Die KI-</a:t>
            </a:r>
            <a:r>
              <a:rPr lang="en-US" sz="1350" err="1">
                <a:solidFill>
                  <a:srgbClr val="1C2434"/>
                </a:solidFill>
                <a:latin typeface="Calibri"/>
                <a:ea typeface="Calibri"/>
                <a:cs typeface="Calibri"/>
              </a:rPr>
              <a:t>Ausgabe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wird</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unverändert</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gespeichert</a:t>
            </a:r>
            <a:r>
              <a:rPr lang="en-US" sz="1350">
                <a:solidFill>
                  <a:srgbClr val="1C2434"/>
                </a:solidFill>
                <a:latin typeface="Calibri"/>
                <a:ea typeface="Calibri"/>
                <a:cs typeface="Calibri"/>
              </a:rPr>
              <a:t> – </a:t>
            </a:r>
            <a:r>
              <a:rPr lang="en-US" sz="1350" err="1">
                <a:solidFill>
                  <a:srgbClr val="1C2434"/>
                </a:solidFill>
                <a:latin typeface="Calibri"/>
                <a:ea typeface="Calibri"/>
                <a:cs typeface="Calibri"/>
              </a:rPr>
              <a:t>sie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ist</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unser</a:t>
            </a:r>
            <a:r>
              <a:rPr lang="en-US" sz="1350">
                <a:solidFill>
                  <a:srgbClr val="1C2434"/>
                </a:solidFill>
                <a:latin typeface="Calibri"/>
                <a:ea typeface="Calibri"/>
                <a:cs typeface="Calibri"/>
              </a:rPr>
              <a:t> Messobjekt.</a:t>
            </a:r>
          </a:p>
        </p:txBody>
      </p:sp>
      <p:sp>
        <p:nvSpPr>
          <p:cNvPr id="14" name="Text 12"/>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5</a:t>
            </a:r>
            <a:endParaRPr lang="en-US" sz="1000"/>
          </a:p>
        </p:txBody>
      </p:sp>
      <p:sp>
        <p:nvSpPr>
          <p:cNvPr id="15" name="Text 13"/>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3 · BEWERTUNGSMETHODE</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Vier Fragen an jedes Diagramm</a:t>
            </a:r>
            <a:endParaRPr lang="en-US" sz="3000"/>
          </a:p>
        </p:txBody>
      </p:sp>
      <p:sp>
        <p:nvSpPr>
          <p:cNvPr id="4" name="Shape 2"/>
          <p:cNvSpPr/>
          <p:nvPr/>
        </p:nvSpPr>
        <p:spPr>
          <a:xfrm>
            <a:off x="502920" y="1783080"/>
            <a:ext cx="2724912" cy="2286000"/>
          </a:xfrm>
          <a:prstGeom prst="roundRect">
            <a:avLst>
              <a:gd name="adj" fmla="val 4000"/>
            </a:avLst>
          </a:prstGeom>
          <a:solidFill>
            <a:srgbClr val="F3F6FB"/>
          </a:solidFill>
          <a:ln w="12700">
            <a:solidFill>
              <a:srgbClr val="D9E1EE"/>
            </a:solidFill>
            <a:prstDash val="solid"/>
          </a:ln>
        </p:spPr>
        <p:txBody>
          <a:bodyPr/>
          <a:lstStyle/>
          <a:p>
            <a:endParaRPr lang="de-DE"/>
          </a:p>
        </p:txBody>
      </p:sp>
      <p:sp>
        <p:nvSpPr>
          <p:cNvPr id="5" name="Shape 3"/>
          <p:cNvSpPr/>
          <p:nvPr/>
        </p:nvSpPr>
        <p:spPr>
          <a:xfrm>
            <a:off x="758952" y="2039112"/>
            <a:ext cx="384048" cy="384048"/>
          </a:xfrm>
          <a:prstGeom prst="ellipse">
            <a:avLst/>
          </a:prstGeom>
          <a:solidFill>
            <a:srgbClr val="3E5FA3"/>
          </a:solidFill>
          <a:ln/>
        </p:spPr>
        <p:txBody>
          <a:bodyPr/>
          <a:lstStyle/>
          <a:p>
            <a:endParaRPr lang="de-DE"/>
          </a:p>
        </p:txBody>
      </p:sp>
      <p:sp>
        <p:nvSpPr>
          <p:cNvPr id="6" name="Text 4"/>
          <p:cNvSpPr/>
          <p:nvPr/>
        </p:nvSpPr>
        <p:spPr>
          <a:xfrm>
            <a:off x="758952" y="2029968"/>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1</a:t>
            </a:r>
            <a:endParaRPr lang="en-US" sz="1500"/>
          </a:p>
        </p:txBody>
      </p:sp>
      <p:sp>
        <p:nvSpPr>
          <p:cNvPr id="7" name="Text 5"/>
          <p:cNvSpPr/>
          <p:nvPr/>
        </p:nvSpPr>
        <p:spPr>
          <a:xfrm>
            <a:off x="1252728" y="2011680"/>
            <a:ext cx="1810512" cy="457200"/>
          </a:xfrm>
          <a:prstGeom prst="rect">
            <a:avLst/>
          </a:prstGeom>
          <a:noFill/>
          <a:ln/>
        </p:spPr>
        <p:txBody>
          <a:bodyPr wrap="square" lIns="0" tIns="0" rIns="0" bIns="0" rtlCol="0" anchor="ctr"/>
          <a:lstStyle/>
          <a:p>
            <a:pPr marL="0" indent="0">
              <a:buNone/>
            </a:pPr>
            <a:r>
              <a:rPr lang="en-US" sz="1600" b="1">
                <a:solidFill>
                  <a:srgbClr val="1C2434"/>
                </a:solidFill>
                <a:latin typeface="Cambria" pitchFamily="34" charset="0"/>
                <a:ea typeface="Cambria" pitchFamily="34" charset="-122"/>
                <a:cs typeface="Cambria" pitchFamily="34" charset="-120"/>
              </a:rPr>
              <a:t>Syntax</a:t>
            </a:r>
            <a:endParaRPr lang="en-US" sz="1600"/>
          </a:p>
        </p:txBody>
      </p:sp>
      <p:sp>
        <p:nvSpPr>
          <p:cNvPr id="8" name="Text 6"/>
          <p:cNvSpPr/>
          <p:nvPr/>
        </p:nvSpPr>
        <p:spPr>
          <a:xfrm>
            <a:off x="758952" y="2606040"/>
            <a:ext cx="2212848" cy="1325880"/>
          </a:xfrm>
          <a:prstGeom prst="rect">
            <a:avLst/>
          </a:prstGeom>
          <a:noFill/>
          <a:ln/>
        </p:spPr>
        <p:txBody>
          <a:bodyPr wrap="square" lIns="0" tIns="0" rIns="0" bIns="0" rtlCol="0" anchor="t"/>
          <a:lstStyle/>
          <a:p>
            <a:pPr marL="0" indent="0">
              <a:lnSpc>
                <a:spcPct val="112000"/>
              </a:lnSpc>
              <a:buNone/>
            </a:pPr>
            <a:r>
              <a:rPr lang="en-US" sz="1250">
                <a:solidFill>
                  <a:srgbClr val="1C2434"/>
                </a:solidFill>
                <a:latin typeface="Calibri" pitchFamily="34" charset="0"/>
                <a:ea typeface="Calibri" pitchFamily="34" charset="-122"/>
                <a:cs typeface="Calibri" pitchFamily="34" charset="-120"/>
              </a:rPr>
              <a:t>Kompiliert der PlantUML-Code? Ist die UML-Notation des Bildes gültig?</a:t>
            </a:r>
            <a:endParaRPr lang="en-US" sz="1250"/>
          </a:p>
        </p:txBody>
      </p:sp>
      <p:sp>
        <p:nvSpPr>
          <p:cNvPr id="9" name="Shape 7"/>
          <p:cNvSpPr/>
          <p:nvPr/>
        </p:nvSpPr>
        <p:spPr>
          <a:xfrm>
            <a:off x="3429000" y="1783080"/>
            <a:ext cx="2724912" cy="2286000"/>
          </a:xfrm>
          <a:prstGeom prst="roundRect">
            <a:avLst>
              <a:gd name="adj" fmla="val 4000"/>
            </a:avLst>
          </a:prstGeom>
          <a:solidFill>
            <a:srgbClr val="F3F6FB"/>
          </a:solidFill>
          <a:ln w="12700">
            <a:solidFill>
              <a:srgbClr val="D9E1EE"/>
            </a:solidFill>
            <a:prstDash val="solid"/>
          </a:ln>
        </p:spPr>
        <p:txBody>
          <a:bodyPr/>
          <a:lstStyle/>
          <a:p>
            <a:endParaRPr lang="de-DE"/>
          </a:p>
        </p:txBody>
      </p:sp>
      <p:sp>
        <p:nvSpPr>
          <p:cNvPr id="10" name="Shape 8"/>
          <p:cNvSpPr/>
          <p:nvPr/>
        </p:nvSpPr>
        <p:spPr>
          <a:xfrm>
            <a:off x="3685032" y="2039112"/>
            <a:ext cx="384048" cy="384048"/>
          </a:xfrm>
          <a:prstGeom prst="ellipse">
            <a:avLst/>
          </a:prstGeom>
          <a:solidFill>
            <a:srgbClr val="3E5FA3"/>
          </a:solidFill>
          <a:ln/>
        </p:spPr>
        <p:txBody>
          <a:bodyPr/>
          <a:lstStyle/>
          <a:p>
            <a:endParaRPr lang="de-DE"/>
          </a:p>
        </p:txBody>
      </p:sp>
      <p:sp>
        <p:nvSpPr>
          <p:cNvPr id="11" name="Text 9"/>
          <p:cNvSpPr/>
          <p:nvPr/>
        </p:nvSpPr>
        <p:spPr>
          <a:xfrm>
            <a:off x="3685032" y="2029968"/>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2</a:t>
            </a:r>
            <a:endParaRPr lang="en-US" sz="1500"/>
          </a:p>
        </p:txBody>
      </p:sp>
      <p:sp>
        <p:nvSpPr>
          <p:cNvPr id="12" name="Text 10"/>
          <p:cNvSpPr/>
          <p:nvPr/>
        </p:nvSpPr>
        <p:spPr>
          <a:xfrm>
            <a:off x="4178808" y="2011680"/>
            <a:ext cx="1810512" cy="457200"/>
          </a:xfrm>
          <a:prstGeom prst="rect">
            <a:avLst/>
          </a:prstGeom>
          <a:noFill/>
          <a:ln/>
        </p:spPr>
        <p:txBody>
          <a:bodyPr wrap="square" lIns="0" tIns="0" rIns="0" bIns="0" rtlCol="0" anchor="ctr"/>
          <a:lstStyle/>
          <a:p>
            <a:pPr marL="0" indent="0">
              <a:buNone/>
            </a:pPr>
            <a:r>
              <a:rPr lang="en-US" sz="1600" b="1">
                <a:solidFill>
                  <a:srgbClr val="1C2434"/>
                </a:solidFill>
                <a:latin typeface="Cambria" pitchFamily="34" charset="0"/>
                <a:ea typeface="Cambria" pitchFamily="34" charset="-122"/>
                <a:cs typeface="Cambria" pitchFamily="34" charset="-120"/>
              </a:rPr>
              <a:t>Inhalt</a:t>
            </a:r>
            <a:endParaRPr lang="en-US" sz="1600"/>
          </a:p>
        </p:txBody>
      </p:sp>
      <p:sp>
        <p:nvSpPr>
          <p:cNvPr id="13" name="Text 11"/>
          <p:cNvSpPr/>
          <p:nvPr/>
        </p:nvSpPr>
        <p:spPr>
          <a:xfrm>
            <a:off x="3685032" y="2606040"/>
            <a:ext cx="2212848" cy="1325880"/>
          </a:xfrm>
          <a:prstGeom prst="rect">
            <a:avLst/>
          </a:prstGeom>
          <a:noFill/>
          <a:ln/>
        </p:spPr>
        <p:txBody>
          <a:bodyPr wrap="square" lIns="0" tIns="0" rIns="0" bIns="0" rtlCol="0" anchor="t"/>
          <a:lstStyle/>
          <a:p>
            <a:pPr marL="0" indent="0">
              <a:lnSpc>
                <a:spcPct val="112000"/>
              </a:lnSpc>
              <a:buNone/>
            </a:pPr>
            <a:r>
              <a:rPr lang="en-US" sz="1250">
                <a:solidFill>
                  <a:srgbClr val="1C2434"/>
                </a:solidFill>
                <a:latin typeface="Calibri" pitchFamily="34" charset="0"/>
                <a:ea typeface="Calibri" pitchFamily="34" charset="-122"/>
                <a:cs typeface="Calibri" pitchFamily="34" charset="-120"/>
              </a:rPr>
              <a:t>Stimmen Klassen, Beziehungen, Akteure und Abläufe mit dem Lastenheft überein?</a:t>
            </a:r>
            <a:endParaRPr lang="en-US" sz="1250"/>
          </a:p>
        </p:txBody>
      </p:sp>
      <p:sp>
        <p:nvSpPr>
          <p:cNvPr id="14" name="Shape 12"/>
          <p:cNvSpPr/>
          <p:nvPr/>
        </p:nvSpPr>
        <p:spPr>
          <a:xfrm>
            <a:off x="6355080" y="1783080"/>
            <a:ext cx="2724912" cy="2286000"/>
          </a:xfrm>
          <a:prstGeom prst="roundRect">
            <a:avLst>
              <a:gd name="adj" fmla="val 4000"/>
            </a:avLst>
          </a:prstGeom>
          <a:solidFill>
            <a:srgbClr val="F3F6FB"/>
          </a:solidFill>
          <a:ln w="12700">
            <a:solidFill>
              <a:srgbClr val="D9E1EE"/>
            </a:solidFill>
            <a:prstDash val="solid"/>
          </a:ln>
        </p:spPr>
        <p:txBody>
          <a:bodyPr/>
          <a:lstStyle/>
          <a:p>
            <a:endParaRPr lang="de-DE"/>
          </a:p>
        </p:txBody>
      </p:sp>
      <p:sp>
        <p:nvSpPr>
          <p:cNvPr id="15" name="Shape 13"/>
          <p:cNvSpPr/>
          <p:nvPr/>
        </p:nvSpPr>
        <p:spPr>
          <a:xfrm>
            <a:off x="6611112" y="2039112"/>
            <a:ext cx="384048" cy="384048"/>
          </a:xfrm>
          <a:prstGeom prst="ellipse">
            <a:avLst/>
          </a:prstGeom>
          <a:solidFill>
            <a:srgbClr val="3E5FA3"/>
          </a:solidFill>
          <a:ln/>
        </p:spPr>
        <p:txBody>
          <a:bodyPr/>
          <a:lstStyle/>
          <a:p>
            <a:endParaRPr lang="de-DE"/>
          </a:p>
        </p:txBody>
      </p:sp>
      <p:sp>
        <p:nvSpPr>
          <p:cNvPr id="16" name="Text 14"/>
          <p:cNvSpPr/>
          <p:nvPr/>
        </p:nvSpPr>
        <p:spPr>
          <a:xfrm>
            <a:off x="6611112" y="2029968"/>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3</a:t>
            </a:r>
            <a:endParaRPr lang="en-US" sz="1500"/>
          </a:p>
        </p:txBody>
      </p:sp>
      <p:sp>
        <p:nvSpPr>
          <p:cNvPr id="17" name="Text 15"/>
          <p:cNvSpPr/>
          <p:nvPr/>
        </p:nvSpPr>
        <p:spPr>
          <a:xfrm>
            <a:off x="7104888" y="2011680"/>
            <a:ext cx="1810512" cy="457200"/>
          </a:xfrm>
          <a:prstGeom prst="rect">
            <a:avLst/>
          </a:prstGeom>
          <a:noFill/>
          <a:ln/>
        </p:spPr>
        <p:txBody>
          <a:bodyPr wrap="square" lIns="0" tIns="0" rIns="0" bIns="0" rtlCol="0" anchor="ctr"/>
          <a:lstStyle/>
          <a:p>
            <a:pPr marL="0" indent="0">
              <a:buNone/>
            </a:pPr>
            <a:r>
              <a:rPr lang="en-US" sz="1600" b="1">
                <a:solidFill>
                  <a:srgbClr val="1C2434"/>
                </a:solidFill>
                <a:latin typeface="Cambria" pitchFamily="34" charset="0"/>
                <a:ea typeface="Cambria" pitchFamily="34" charset="-122"/>
                <a:cs typeface="Cambria" pitchFamily="34" charset="-120"/>
              </a:rPr>
              <a:t>Vollständigkeit</a:t>
            </a:r>
            <a:endParaRPr lang="en-US" sz="1600"/>
          </a:p>
        </p:txBody>
      </p:sp>
      <p:sp>
        <p:nvSpPr>
          <p:cNvPr id="18" name="Text 16"/>
          <p:cNvSpPr/>
          <p:nvPr/>
        </p:nvSpPr>
        <p:spPr>
          <a:xfrm>
            <a:off x="6611112" y="2606040"/>
            <a:ext cx="2212848" cy="1325880"/>
          </a:xfrm>
          <a:prstGeom prst="rect">
            <a:avLst/>
          </a:prstGeom>
          <a:noFill/>
          <a:ln/>
        </p:spPr>
        <p:txBody>
          <a:bodyPr wrap="square" lIns="0" tIns="0" rIns="0" bIns="0" rtlCol="0" anchor="t"/>
          <a:lstStyle/>
          <a:p>
            <a:pPr marL="0" indent="0">
              <a:lnSpc>
                <a:spcPct val="112000"/>
              </a:lnSpc>
              <a:buNone/>
            </a:pPr>
            <a:r>
              <a:rPr lang="en-US" sz="1250">
                <a:solidFill>
                  <a:srgbClr val="1C2434"/>
                </a:solidFill>
                <a:latin typeface="Calibri" pitchFamily="34" charset="0"/>
                <a:ea typeface="Calibri" pitchFamily="34" charset="-122"/>
                <a:cs typeface="Calibri" pitchFamily="34" charset="-120"/>
              </a:rPr>
              <a:t>Fehlen zentrale Elemente? Sind die Mindestanforderungen erfüllt?</a:t>
            </a:r>
            <a:endParaRPr lang="en-US" sz="1250"/>
          </a:p>
        </p:txBody>
      </p:sp>
      <p:sp>
        <p:nvSpPr>
          <p:cNvPr id="19" name="Shape 17"/>
          <p:cNvSpPr/>
          <p:nvPr/>
        </p:nvSpPr>
        <p:spPr>
          <a:xfrm>
            <a:off x="9281160" y="1783080"/>
            <a:ext cx="2724912" cy="2286000"/>
          </a:xfrm>
          <a:prstGeom prst="roundRect">
            <a:avLst>
              <a:gd name="adj" fmla="val 4000"/>
            </a:avLst>
          </a:prstGeom>
          <a:solidFill>
            <a:srgbClr val="F3F6FB"/>
          </a:solidFill>
          <a:ln w="12700">
            <a:solidFill>
              <a:srgbClr val="D9E1EE"/>
            </a:solidFill>
            <a:prstDash val="solid"/>
          </a:ln>
        </p:spPr>
        <p:txBody>
          <a:bodyPr/>
          <a:lstStyle/>
          <a:p>
            <a:endParaRPr lang="de-DE"/>
          </a:p>
        </p:txBody>
      </p:sp>
      <p:sp>
        <p:nvSpPr>
          <p:cNvPr id="20" name="Shape 18"/>
          <p:cNvSpPr/>
          <p:nvPr/>
        </p:nvSpPr>
        <p:spPr>
          <a:xfrm>
            <a:off x="9537192" y="2039112"/>
            <a:ext cx="384048" cy="384048"/>
          </a:xfrm>
          <a:prstGeom prst="ellipse">
            <a:avLst/>
          </a:prstGeom>
          <a:solidFill>
            <a:srgbClr val="3E5FA3"/>
          </a:solidFill>
          <a:ln/>
        </p:spPr>
        <p:txBody>
          <a:bodyPr/>
          <a:lstStyle/>
          <a:p>
            <a:endParaRPr lang="de-DE"/>
          </a:p>
        </p:txBody>
      </p:sp>
      <p:sp>
        <p:nvSpPr>
          <p:cNvPr id="21" name="Text 19"/>
          <p:cNvSpPr/>
          <p:nvPr/>
        </p:nvSpPr>
        <p:spPr>
          <a:xfrm>
            <a:off x="9537192" y="2029968"/>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4</a:t>
            </a:r>
            <a:endParaRPr lang="en-US" sz="1500"/>
          </a:p>
        </p:txBody>
      </p:sp>
      <p:sp>
        <p:nvSpPr>
          <p:cNvPr id="22" name="Text 20"/>
          <p:cNvSpPr/>
          <p:nvPr/>
        </p:nvSpPr>
        <p:spPr>
          <a:xfrm>
            <a:off x="10030968" y="2011680"/>
            <a:ext cx="1810512" cy="457200"/>
          </a:xfrm>
          <a:prstGeom prst="rect">
            <a:avLst/>
          </a:prstGeom>
          <a:noFill/>
          <a:ln/>
        </p:spPr>
        <p:txBody>
          <a:bodyPr wrap="square" lIns="0" tIns="0" rIns="0" bIns="0" rtlCol="0" anchor="ctr"/>
          <a:lstStyle/>
          <a:p>
            <a:pPr marL="0" indent="0">
              <a:buNone/>
            </a:pPr>
            <a:r>
              <a:rPr lang="en-US" sz="1600" b="1">
                <a:solidFill>
                  <a:srgbClr val="1C2434"/>
                </a:solidFill>
                <a:latin typeface="Cambria" pitchFamily="34" charset="0"/>
                <a:ea typeface="Cambria" pitchFamily="34" charset="-122"/>
                <a:cs typeface="Cambria" pitchFamily="34" charset="-120"/>
              </a:rPr>
              <a:t>Lesbarkeit</a:t>
            </a:r>
            <a:endParaRPr lang="en-US" sz="1600"/>
          </a:p>
        </p:txBody>
      </p:sp>
      <p:sp>
        <p:nvSpPr>
          <p:cNvPr id="23" name="Text 21"/>
          <p:cNvSpPr/>
          <p:nvPr/>
        </p:nvSpPr>
        <p:spPr>
          <a:xfrm>
            <a:off x="9537192" y="2606040"/>
            <a:ext cx="2212848" cy="1325880"/>
          </a:xfrm>
          <a:prstGeom prst="rect">
            <a:avLst/>
          </a:prstGeom>
          <a:noFill/>
          <a:ln/>
        </p:spPr>
        <p:txBody>
          <a:bodyPr wrap="square" lIns="0" tIns="0" rIns="0" bIns="0" rtlCol="0" anchor="t"/>
          <a:lstStyle/>
          <a:p>
            <a:pPr marL="0" indent="0">
              <a:lnSpc>
                <a:spcPct val="112000"/>
              </a:lnSpc>
              <a:buNone/>
            </a:pPr>
            <a:r>
              <a:rPr lang="en-US" sz="1250">
                <a:solidFill>
                  <a:srgbClr val="1C2434"/>
                </a:solidFill>
                <a:latin typeface="Calibri" pitchFamily="34" charset="0"/>
                <a:ea typeface="Calibri" pitchFamily="34" charset="-122"/>
                <a:cs typeface="Calibri" pitchFamily="34" charset="-120"/>
              </a:rPr>
              <a:t>Layout, Überlappungen, Beschriftungen – ist das Diagramm sofort erfassbar?</a:t>
            </a:r>
            <a:endParaRPr lang="en-US" sz="1250"/>
          </a:p>
        </p:txBody>
      </p:sp>
      <p:sp>
        <p:nvSpPr>
          <p:cNvPr id="24" name="Shape 22"/>
          <p:cNvSpPr/>
          <p:nvPr/>
        </p:nvSpPr>
        <p:spPr>
          <a:xfrm>
            <a:off x="502920" y="4434840"/>
            <a:ext cx="11173968" cy="1371600"/>
          </a:xfrm>
          <a:prstGeom prst="roundRect">
            <a:avLst>
              <a:gd name="adj" fmla="val 6667"/>
            </a:avLst>
          </a:prstGeom>
          <a:solidFill>
            <a:srgbClr val="1E2A47"/>
          </a:solidFill>
          <a:ln/>
        </p:spPr>
        <p:txBody>
          <a:bodyPr/>
          <a:lstStyle/>
          <a:p>
            <a:endParaRPr lang="de-DE"/>
          </a:p>
        </p:txBody>
      </p:sp>
      <p:sp>
        <p:nvSpPr>
          <p:cNvPr id="25" name="Text 23"/>
          <p:cNvSpPr/>
          <p:nvPr/>
        </p:nvSpPr>
        <p:spPr>
          <a:xfrm>
            <a:off x="868680" y="4617720"/>
            <a:ext cx="10424160" cy="274320"/>
          </a:xfrm>
          <a:prstGeom prst="rect">
            <a:avLst/>
          </a:prstGeom>
          <a:noFill/>
          <a:ln/>
        </p:spPr>
        <p:txBody>
          <a:bodyPr wrap="square" lIns="0" tIns="0" rIns="0" bIns="0" rtlCol="0" anchor="ctr"/>
          <a:lstStyle/>
          <a:p>
            <a:pPr marL="0" indent="0">
              <a:buNone/>
            </a:pPr>
            <a:r>
              <a:rPr lang="en-US" sz="1100" b="1" kern="0" spc="200">
                <a:solidFill>
                  <a:srgbClr val="CADCFC"/>
                </a:solidFill>
                <a:latin typeface="Calibri" pitchFamily="34" charset="0"/>
                <a:ea typeface="Calibri" pitchFamily="34" charset="-122"/>
                <a:cs typeface="Calibri" pitchFamily="34" charset="-120"/>
              </a:rPr>
              <a:t>UNSERE DREI GRUNDREGELN</a:t>
            </a:r>
            <a:endParaRPr lang="en-US" sz="1100"/>
          </a:p>
        </p:txBody>
      </p:sp>
      <p:sp>
        <p:nvSpPr>
          <p:cNvPr id="26" name="Text 24"/>
          <p:cNvSpPr/>
          <p:nvPr/>
        </p:nvSpPr>
        <p:spPr>
          <a:xfrm>
            <a:off x="868680" y="4937760"/>
            <a:ext cx="10424160" cy="685800"/>
          </a:xfrm>
          <a:prstGeom prst="rect">
            <a:avLst/>
          </a:prstGeom>
          <a:noFill/>
          <a:ln/>
        </p:spPr>
        <p:txBody>
          <a:bodyPr wrap="square" lIns="0" tIns="0" rIns="0" bIns="0" rtlCol="0" anchor="ctr"/>
          <a:lstStyle/>
          <a:p>
            <a:r>
              <a:rPr lang="en-US" sz="1500" b="1">
                <a:solidFill>
                  <a:srgbClr val="FFFFFF"/>
                </a:solidFill>
                <a:latin typeface="Calibri"/>
                <a:ea typeface="Calibri"/>
                <a:cs typeface="Calibri"/>
              </a:rPr>
              <a:t>Immer </a:t>
            </a:r>
            <a:r>
              <a:rPr lang="en-US" sz="1500" b="1" err="1">
                <a:solidFill>
                  <a:srgbClr val="FFFFFF"/>
                </a:solidFill>
                <a:latin typeface="Calibri"/>
                <a:ea typeface="Calibri"/>
                <a:cs typeface="Calibri"/>
              </a:rPr>
              <a:t>gegen</a:t>
            </a:r>
            <a:r>
              <a:rPr lang="en-US" sz="1500" b="1">
                <a:solidFill>
                  <a:srgbClr val="FFFFFF"/>
                </a:solidFill>
                <a:latin typeface="Calibri"/>
                <a:ea typeface="Calibri"/>
                <a:cs typeface="Calibri"/>
              </a:rPr>
              <a:t> das Lastenheft </a:t>
            </a:r>
            <a:r>
              <a:rPr lang="en-US" sz="1500" b="1" err="1">
                <a:solidFill>
                  <a:srgbClr val="FFFFFF"/>
                </a:solidFill>
                <a:latin typeface="Calibri"/>
                <a:ea typeface="Calibri"/>
                <a:cs typeface="Calibri"/>
              </a:rPr>
              <a:t>prüfen</a:t>
            </a:r>
            <a:r>
              <a:rPr lang="en-US" sz="1500" b="1">
                <a:solidFill>
                  <a:srgbClr val="FFFFFF"/>
                </a:solidFill>
                <a:latin typeface="Calibri"/>
                <a:ea typeface="Calibri"/>
                <a:cs typeface="Calibri"/>
              </a:rPr>
              <a:t>, </a:t>
            </a:r>
            <a:r>
              <a:rPr lang="en-US" sz="1500" b="1" err="1">
                <a:solidFill>
                  <a:srgbClr val="FFFFFF"/>
                </a:solidFill>
                <a:latin typeface="Calibri"/>
                <a:ea typeface="Calibri"/>
                <a:cs typeface="Calibri"/>
              </a:rPr>
              <a:t>nie</a:t>
            </a:r>
            <a:r>
              <a:rPr lang="en-US" sz="1500" b="1">
                <a:solidFill>
                  <a:srgbClr val="FFFFFF"/>
                </a:solidFill>
                <a:latin typeface="Calibri"/>
                <a:ea typeface="Calibri"/>
                <a:cs typeface="Calibri"/>
              </a:rPr>
              <a:t> </a:t>
            </a:r>
            <a:r>
              <a:rPr lang="en-US" sz="1500" b="1" err="1">
                <a:solidFill>
                  <a:srgbClr val="FFFFFF"/>
                </a:solidFill>
                <a:latin typeface="Calibri"/>
                <a:ea typeface="Calibri"/>
                <a:cs typeface="Calibri"/>
              </a:rPr>
              <a:t>gegen</a:t>
            </a:r>
            <a:r>
              <a:rPr lang="en-US" sz="1500" b="1">
                <a:solidFill>
                  <a:srgbClr val="FFFFFF"/>
                </a:solidFill>
                <a:latin typeface="Calibri"/>
                <a:ea typeface="Calibri"/>
                <a:cs typeface="Calibri"/>
              </a:rPr>
              <a:t> </a:t>
            </a:r>
            <a:r>
              <a:rPr lang="en-US" sz="1500" b="1" err="1">
                <a:solidFill>
                  <a:srgbClr val="FFFFFF"/>
                </a:solidFill>
                <a:latin typeface="Calibri"/>
                <a:ea typeface="Calibri"/>
                <a:cs typeface="Calibri"/>
              </a:rPr>
              <a:t>eigenes</a:t>
            </a:r>
            <a:r>
              <a:rPr lang="en-US" sz="1500" b="1">
                <a:solidFill>
                  <a:srgbClr val="FFFFFF"/>
                </a:solidFill>
                <a:latin typeface="Calibri"/>
                <a:ea typeface="Calibri"/>
                <a:cs typeface="Calibri"/>
              </a:rPr>
              <a:t> Wissen.   ·   Kein Urteil </a:t>
            </a:r>
            <a:r>
              <a:rPr lang="en-US" sz="1500" b="1" err="1">
                <a:solidFill>
                  <a:srgbClr val="FFFFFF"/>
                </a:solidFill>
                <a:latin typeface="Calibri"/>
                <a:ea typeface="Calibri"/>
                <a:cs typeface="Calibri"/>
              </a:rPr>
              <a:t>ohne</a:t>
            </a:r>
            <a:r>
              <a:rPr lang="en-US" sz="1500" b="1">
                <a:solidFill>
                  <a:srgbClr val="FFFFFF"/>
                </a:solidFill>
                <a:latin typeface="Calibri"/>
                <a:ea typeface="Calibri"/>
                <a:cs typeface="Calibri"/>
              </a:rPr>
              <a:t> </a:t>
            </a:r>
            <a:r>
              <a:rPr lang="en-US" sz="1500" b="1" err="1">
                <a:solidFill>
                  <a:srgbClr val="FFFFFF"/>
                </a:solidFill>
                <a:latin typeface="Calibri"/>
                <a:ea typeface="Calibri"/>
                <a:cs typeface="Calibri"/>
              </a:rPr>
              <a:t>konkreten</a:t>
            </a:r>
            <a:r>
              <a:rPr lang="en-US" sz="1500" b="1">
                <a:solidFill>
                  <a:srgbClr val="FFFFFF"/>
                </a:solidFill>
                <a:latin typeface="Calibri"/>
                <a:ea typeface="Calibri"/>
                <a:cs typeface="Calibri"/>
              </a:rPr>
              <a:t> </a:t>
            </a:r>
            <a:r>
              <a:rPr lang="en-US" sz="1500" b="1" err="1">
                <a:solidFill>
                  <a:srgbClr val="FFFFFF"/>
                </a:solidFill>
                <a:latin typeface="Calibri"/>
                <a:ea typeface="Calibri"/>
                <a:cs typeface="Calibri"/>
              </a:rPr>
              <a:t>Befund</a:t>
            </a:r>
            <a:r>
              <a:rPr lang="en-US" sz="1500" b="1">
                <a:solidFill>
                  <a:srgbClr val="FFFFFF"/>
                </a:solidFill>
                <a:latin typeface="Calibri"/>
                <a:ea typeface="Calibri"/>
                <a:cs typeface="Calibri"/>
              </a:rPr>
              <a:t>.   ·   Code und </a:t>
            </a:r>
            <a:r>
              <a:rPr lang="en-US" sz="1500" b="1" err="1">
                <a:solidFill>
                  <a:srgbClr val="FFFFFF"/>
                </a:solidFill>
                <a:latin typeface="Calibri"/>
                <a:ea typeface="Calibri"/>
                <a:cs typeface="Calibri"/>
              </a:rPr>
              <a:t>Direktbild</a:t>
            </a:r>
            <a:r>
              <a:rPr lang="en-US" sz="1500" b="1">
                <a:solidFill>
                  <a:srgbClr val="FFFFFF"/>
                </a:solidFill>
                <a:latin typeface="Calibri"/>
                <a:ea typeface="Calibri"/>
                <a:cs typeface="Calibri"/>
              </a:rPr>
              <a:t> </a:t>
            </a:r>
            <a:r>
              <a:rPr lang="en-US" sz="1500" b="1" err="1">
                <a:solidFill>
                  <a:srgbClr val="FFFFFF"/>
                </a:solidFill>
                <a:latin typeface="Calibri"/>
                <a:ea typeface="Calibri"/>
                <a:cs typeface="Calibri"/>
              </a:rPr>
              <a:t>getrennt</a:t>
            </a:r>
            <a:r>
              <a:rPr lang="en-US" sz="1500" b="1">
                <a:solidFill>
                  <a:srgbClr val="FFFFFF"/>
                </a:solidFill>
                <a:latin typeface="Calibri"/>
                <a:ea typeface="Calibri"/>
                <a:cs typeface="Calibri"/>
              </a:rPr>
              <a:t> </a:t>
            </a:r>
            <a:r>
              <a:rPr lang="en-US" sz="1500" b="1" err="1">
                <a:solidFill>
                  <a:srgbClr val="FFFFFF"/>
                </a:solidFill>
                <a:latin typeface="Calibri"/>
                <a:ea typeface="Calibri"/>
                <a:cs typeface="Calibri"/>
              </a:rPr>
              <a:t>betrachten</a:t>
            </a:r>
            <a:r>
              <a:rPr lang="en-US" sz="1500" b="1">
                <a:solidFill>
                  <a:srgbClr val="FFFFFF"/>
                </a:solidFill>
                <a:latin typeface="Calibri"/>
                <a:ea typeface="Calibri"/>
                <a:cs typeface="Calibri"/>
              </a:rPr>
              <a:t>.</a:t>
            </a:r>
            <a:endParaRPr lang="en-US" sz="1500" b="1">
              <a:solidFill>
                <a:srgbClr val="FFFFFF"/>
              </a:solidFill>
              <a:ea typeface="Calibri"/>
              <a:cs typeface="Calibri"/>
            </a:endParaRPr>
          </a:p>
        </p:txBody>
      </p:sp>
      <p:sp>
        <p:nvSpPr>
          <p:cNvPr id="27" name="Text 25"/>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6</a:t>
            </a:r>
            <a:endParaRPr lang="en-US" sz="1000"/>
          </a:p>
        </p:txBody>
      </p:sp>
      <p:sp>
        <p:nvSpPr>
          <p:cNvPr id="28" name="Text 26"/>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4 · KERNBEFUNDE — SYNTAX</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Der Code kompiliert. Ausnahmslos.</a:t>
            </a:r>
            <a:endParaRPr lang="en-US" sz="3000"/>
          </a:p>
        </p:txBody>
      </p:sp>
      <p:sp>
        <p:nvSpPr>
          <p:cNvPr id="4" name="Shape 2"/>
          <p:cNvSpPr/>
          <p:nvPr/>
        </p:nvSpPr>
        <p:spPr>
          <a:xfrm>
            <a:off x="502920" y="1783080"/>
            <a:ext cx="4937760" cy="3108960"/>
          </a:xfrm>
          <a:prstGeom prst="roundRect">
            <a:avLst>
              <a:gd name="adj" fmla="val 3529"/>
            </a:avLst>
          </a:prstGeom>
          <a:solidFill>
            <a:srgbClr val="E7F4EC"/>
          </a:solidFill>
          <a:ln w="12700">
            <a:solidFill>
              <a:srgbClr val="1F7A4D"/>
            </a:solidFill>
            <a:prstDash val="solid"/>
          </a:ln>
        </p:spPr>
        <p:txBody>
          <a:bodyPr/>
          <a:lstStyle/>
          <a:p>
            <a:endParaRPr lang="de-DE"/>
          </a:p>
        </p:txBody>
      </p:sp>
      <p:sp>
        <p:nvSpPr>
          <p:cNvPr id="5" name="Text 3"/>
          <p:cNvSpPr/>
          <p:nvPr/>
        </p:nvSpPr>
        <p:spPr>
          <a:xfrm>
            <a:off x="777240" y="2103120"/>
            <a:ext cx="4389120" cy="1188720"/>
          </a:xfrm>
          <a:prstGeom prst="rect">
            <a:avLst/>
          </a:prstGeom>
          <a:noFill/>
          <a:ln/>
        </p:spPr>
        <p:txBody>
          <a:bodyPr wrap="square" lIns="0" tIns="0" rIns="0" bIns="0" rtlCol="0" anchor="ctr"/>
          <a:lstStyle/>
          <a:p>
            <a:pPr marL="0" indent="0">
              <a:buNone/>
            </a:pPr>
            <a:r>
              <a:rPr lang="en-US" sz="6600" b="1">
                <a:solidFill>
                  <a:srgbClr val="1F7A4D"/>
                </a:solidFill>
                <a:latin typeface="Cambria" pitchFamily="34" charset="0"/>
                <a:ea typeface="Cambria" pitchFamily="34" charset="-122"/>
                <a:cs typeface="Cambria" pitchFamily="34" charset="-120"/>
              </a:rPr>
              <a:t>24 / 24</a:t>
            </a:r>
            <a:endParaRPr lang="en-US" sz="6600"/>
          </a:p>
        </p:txBody>
      </p:sp>
      <p:sp>
        <p:nvSpPr>
          <p:cNvPr id="6" name="Text 4"/>
          <p:cNvSpPr/>
          <p:nvPr/>
        </p:nvSpPr>
        <p:spPr>
          <a:xfrm>
            <a:off x="777240" y="3383280"/>
            <a:ext cx="4389120" cy="1280160"/>
          </a:xfrm>
          <a:prstGeom prst="rect">
            <a:avLst/>
          </a:prstGeom>
          <a:noFill/>
          <a:ln/>
        </p:spPr>
        <p:txBody>
          <a:bodyPr wrap="square" lIns="0" tIns="0" rIns="0" bIns="0" rtlCol="0" anchor="t"/>
          <a:lstStyle/>
          <a:p>
            <a:pPr marL="0" indent="0">
              <a:lnSpc>
                <a:spcPct val="115000"/>
              </a:lnSpc>
              <a:buNone/>
            </a:pPr>
            <a:r>
              <a:rPr lang="en-US" sz="1450">
                <a:solidFill>
                  <a:srgbClr val="1C2434"/>
                </a:solidFill>
                <a:latin typeface="Calibri" pitchFamily="34" charset="0"/>
                <a:ea typeface="Calibri" pitchFamily="34" charset="-122"/>
                <a:cs typeface="Calibri" pitchFamily="34" charset="-120"/>
              </a:rPr>
              <a:t>PlantUML-Dateien ließen sich ohne eine einzige Korrektur rendern – beide KIs, alle vier Diagrammtypen, alle drei Systeme.</a:t>
            </a:r>
            <a:endParaRPr lang="en-US" sz="1450"/>
          </a:p>
        </p:txBody>
      </p:sp>
      <p:sp>
        <p:nvSpPr>
          <p:cNvPr id="7" name="Text 5"/>
          <p:cNvSpPr/>
          <p:nvPr/>
        </p:nvSpPr>
        <p:spPr>
          <a:xfrm>
            <a:off x="5989320" y="1828800"/>
            <a:ext cx="5669280" cy="365760"/>
          </a:xfrm>
          <a:prstGeom prst="rect">
            <a:avLst/>
          </a:prstGeom>
          <a:noFill/>
          <a:ln/>
        </p:spPr>
        <p:txBody>
          <a:bodyPr wrap="square" lIns="0" tIns="0" rIns="0" bIns="0" rtlCol="0" anchor="ctr"/>
          <a:lstStyle/>
          <a:p>
            <a:pPr marL="0" indent="0">
              <a:buNone/>
            </a:pPr>
            <a:r>
              <a:rPr lang="en-US" sz="1600" b="1">
                <a:solidFill>
                  <a:srgbClr val="1C2434"/>
                </a:solidFill>
                <a:latin typeface="Cambria" pitchFamily="34" charset="0"/>
                <a:ea typeface="Cambria" pitchFamily="34" charset="-122"/>
                <a:cs typeface="Cambria" pitchFamily="34" charset="-120"/>
              </a:rPr>
              <a:t>Im Direktbild dagegen: Notation nicht immer sauber</a:t>
            </a:r>
            <a:endParaRPr lang="en-US" sz="1600"/>
          </a:p>
        </p:txBody>
      </p:sp>
      <p:sp>
        <p:nvSpPr>
          <p:cNvPr id="8" name="Shape 6"/>
          <p:cNvSpPr/>
          <p:nvPr/>
        </p:nvSpPr>
        <p:spPr>
          <a:xfrm>
            <a:off x="5989320" y="2331720"/>
            <a:ext cx="5669280" cy="1170432"/>
          </a:xfrm>
          <a:prstGeom prst="roundRect">
            <a:avLst>
              <a:gd name="adj" fmla="val 7813"/>
            </a:avLst>
          </a:prstGeom>
          <a:solidFill>
            <a:srgbClr val="FBEBE9"/>
          </a:solidFill>
          <a:ln w="12700">
            <a:solidFill>
              <a:srgbClr val="E4C4BF"/>
            </a:solidFill>
            <a:prstDash val="solid"/>
          </a:ln>
        </p:spPr>
        <p:txBody>
          <a:bodyPr/>
          <a:lstStyle/>
          <a:p>
            <a:endParaRPr lang="de-DE"/>
          </a:p>
        </p:txBody>
      </p:sp>
      <p:sp>
        <p:nvSpPr>
          <p:cNvPr id="9" name="Text 7"/>
          <p:cNvSpPr/>
          <p:nvPr/>
        </p:nvSpPr>
        <p:spPr>
          <a:xfrm>
            <a:off x="6263640" y="2441448"/>
            <a:ext cx="5212080" cy="274320"/>
          </a:xfrm>
          <a:prstGeom prst="rect">
            <a:avLst/>
          </a:prstGeom>
          <a:noFill/>
          <a:ln/>
        </p:spPr>
        <p:txBody>
          <a:bodyPr wrap="square" lIns="0" tIns="0" rIns="0" bIns="0" rtlCol="0" anchor="ctr"/>
          <a:lstStyle/>
          <a:p>
            <a:pPr marL="0" indent="0">
              <a:buNone/>
            </a:pPr>
            <a:r>
              <a:rPr lang="en-US" sz="1150" b="1">
                <a:solidFill>
                  <a:srgbClr val="B23A2E"/>
                </a:solidFill>
                <a:latin typeface="Calibri" pitchFamily="34" charset="0"/>
                <a:ea typeface="Calibri" pitchFamily="34" charset="-122"/>
                <a:cs typeface="Calibri" pitchFamily="34" charset="-120"/>
              </a:rPr>
              <a:t>EasyLib · Use-Case · ChatGPT</a:t>
            </a:r>
            <a:endParaRPr lang="en-US" sz="1150"/>
          </a:p>
        </p:txBody>
      </p:sp>
      <p:sp>
        <p:nvSpPr>
          <p:cNvPr id="10" name="Text 8"/>
          <p:cNvSpPr/>
          <p:nvPr/>
        </p:nvSpPr>
        <p:spPr>
          <a:xfrm>
            <a:off x="6263640" y="2734056"/>
            <a:ext cx="5212080" cy="685800"/>
          </a:xfrm>
          <a:prstGeom prst="rect">
            <a:avLst/>
          </a:prstGeom>
          <a:noFill/>
          <a:ln/>
        </p:spPr>
        <p:txBody>
          <a:bodyPr wrap="square" lIns="0" tIns="0" rIns="0" bIns="0" rtlCol="0" anchor="t"/>
          <a:lstStyle/>
          <a:p>
            <a:pPr marL="0" indent="0">
              <a:lnSpc>
                <a:spcPct val="110000"/>
              </a:lnSpc>
              <a:buNone/>
            </a:pPr>
            <a:r>
              <a:rPr lang="en-US" sz="1250">
                <a:solidFill>
                  <a:srgbClr val="1C2434"/>
                </a:solidFill>
                <a:latin typeface="Calibri" pitchFamily="34" charset="0"/>
                <a:ea typeface="Calibri" pitchFamily="34" charset="-122"/>
                <a:cs typeface="Calibri" pitchFamily="34" charset="-120"/>
              </a:rPr>
              <a:t>An einer Stelle keine gültige UML-Notation; derselbe Use Case wurde doppelt gezeichnet.</a:t>
            </a:r>
            <a:endParaRPr lang="en-US" sz="1250"/>
          </a:p>
        </p:txBody>
      </p:sp>
      <p:sp>
        <p:nvSpPr>
          <p:cNvPr id="11" name="Shape 9"/>
          <p:cNvSpPr/>
          <p:nvPr/>
        </p:nvSpPr>
        <p:spPr>
          <a:xfrm>
            <a:off x="5989320" y="3685032"/>
            <a:ext cx="5669280" cy="1170432"/>
          </a:xfrm>
          <a:prstGeom prst="roundRect">
            <a:avLst>
              <a:gd name="adj" fmla="val 7813"/>
            </a:avLst>
          </a:prstGeom>
          <a:solidFill>
            <a:srgbClr val="FBEBE9"/>
          </a:solidFill>
          <a:ln w="12700">
            <a:solidFill>
              <a:srgbClr val="E4C4BF"/>
            </a:solidFill>
            <a:prstDash val="solid"/>
          </a:ln>
        </p:spPr>
        <p:txBody>
          <a:bodyPr/>
          <a:lstStyle/>
          <a:p>
            <a:endParaRPr lang="de-DE"/>
          </a:p>
        </p:txBody>
      </p:sp>
      <p:sp>
        <p:nvSpPr>
          <p:cNvPr id="12" name="Text 10"/>
          <p:cNvSpPr/>
          <p:nvPr/>
        </p:nvSpPr>
        <p:spPr>
          <a:xfrm>
            <a:off x="6263640" y="3794760"/>
            <a:ext cx="5212080" cy="274320"/>
          </a:xfrm>
          <a:prstGeom prst="rect">
            <a:avLst/>
          </a:prstGeom>
          <a:noFill/>
          <a:ln/>
        </p:spPr>
        <p:txBody>
          <a:bodyPr wrap="square" lIns="0" tIns="0" rIns="0" bIns="0" rtlCol="0" anchor="ctr"/>
          <a:lstStyle/>
          <a:p>
            <a:pPr marL="0" indent="0">
              <a:buNone/>
            </a:pPr>
            <a:r>
              <a:rPr lang="en-US" sz="1150" b="1">
                <a:solidFill>
                  <a:srgbClr val="B23A2E"/>
                </a:solidFill>
                <a:latin typeface="Calibri" pitchFamily="34" charset="0"/>
                <a:ea typeface="Calibri" pitchFamily="34" charset="-122"/>
                <a:cs typeface="Calibri" pitchFamily="34" charset="-120"/>
              </a:rPr>
              <a:t>EasyRide · Aktivität · ChatGPT</a:t>
            </a:r>
            <a:endParaRPr lang="en-US" sz="1150"/>
          </a:p>
        </p:txBody>
      </p:sp>
      <p:sp>
        <p:nvSpPr>
          <p:cNvPr id="13" name="Text 11"/>
          <p:cNvSpPr/>
          <p:nvPr/>
        </p:nvSpPr>
        <p:spPr>
          <a:xfrm>
            <a:off x="6263640" y="4087368"/>
            <a:ext cx="5212080" cy="685800"/>
          </a:xfrm>
          <a:prstGeom prst="rect">
            <a:avLst/>
          </a:prstGeom>
          <a:noFill/>
          <a:ln/>
        </p:spPr>
        <p:txBody>
          <a:bodyPr wrap="square" lIns="0" tIns="0" rIns="0" bIns="0" rtlCol="0" anchor="t"/>
          <a:lstStyle/>
          <a:p>
            <a:pPr marL="0" indent="0">
              <a:lnSpc>
                <a:spcPct val="110000"/>
              </a:lnSpc>
              <a:buNone/>
            </a:pPr>
            <a:r>
              <a:rPr lang="en-US" sz="1250">
                <a:solidFill>
                  <a:srgbClr val="1C2434"/>
                </a:solidFill>
                <a:latin typeface="Calibri" pitchFamily="34" charset="0"/>
                <a:ea typeface="Calibri" pitchFamily="34" charset="-122"/>
                <a:cs typeface="Calibri" pitchFamily="34" charset="-120"/>
              </a:rPr>
              <a:t>Entscheidungsraute fehlt, Aktivitäten wurden nummeriert, Notation insgesamt uneinheitlich.</a:t>
            </a:r>
            <a:endParaRPr lang="en-US" sz="1250"/>
          </a:p>
        </p:txBody>
      </p:sp>
      <p:sp>
        <p:nvSpPr>
          <p:cNvPr id="14" name="Shape 12"/>
          <p:cNvSpPr/>
          <p:nvPr/>
        </p:nvSpPr>
        <p:spPr>
          <a:xfrm>
            <a:off x="502920" y="5212080"/>
            <a:ext cx="11173968" cy="777240"/>
          </a:xfrm>
          <a:prstGeom prst="roundRect">
            <a:avLst>
              <a:gd name="adj" fmla="val 11765"/>
            </a:avLst>
          </a:prstGeom>
          <a:solidFill>
            <a:srgbClr val="F3F6FB"/>
          </a:solidFill>
          <a:ln w="12700">
            <a:solidFill>
              <a:srgbClr val="D9E1EE"/>
            </a:solidFill>
            <a:prstDash val="solid"/>
          </a:ln>
        </p:spPr>
        <p:txBody>
          <a:bodyPr/>
          <a:lstStyle/>
          <a:p>
            <a:endParaRPr lang="de-DE"/>
          </a:p>
        </p:txBody>
      </p:sp>
      <p:sp>
        <p:nvSpPr>
          <p:cNvPr id="15" name="Text 13"/>
          <p:cNvSpPr/>
          <p:nvPr/>
        </p:nvSpPr>
        <p:spPr>
          <a:xfrm>
            <a:off x="868680" y="5212080"/>
            <a:ext cx="10424160" cy="777240"/>
          </a:xfrm>
          <a:prstGeom prst="rect">
            <a:avLst/>
          </a:prstGeom>
          <a:noFill/>
          <a:ln/>
        </p:spPr>
        <p:txBody>
          <a:bodyPr wrap="square" lIns="0" tIns="0" rIns="0" bIns="0" rtlCol="0" anchor="ctr"/>
          <a:lstStyle/>
          <a:p>
            <a:pPr marL="0" indent="0">
              <a:buNone/>
            </a:pPr>
            <a:r>
              <a:rPr lang="en-US" sz="1600" b="1">
                <a:solidFill>
                  <a:srgbClr val="1C2434"/>
                </a:solidFill>
                <a:latin typeface="Cambria" pitchFamily="34" charset="0"/>
                <a:ea typeface="Cambria" pitchFamily="34" charset="-122"/>
                <a:cs typeface="Cambria" pitchFamily="34" charset="-120"/>
              </a:rPr>
              <a:t>Das Syntaxproblem liegt fast ausschließlich im gezeichneten Bild – nicht im Code.</a:t>
            </a:r>
            <a:endParaRPr lang="en-US" sz="1600"/>
          </a:p>
        </p:txBody>
      </p:sp>
      <p:sp>
        <p:nvSpPr>
          <p:cNvPr id="16" name="Text 14"/>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7</a:t>
            </a:r>
            <a:endParaRPr lang="en-US" sz="1000"/>
          </a:p>
        </p:txBody>
      </p:sp>
      <p:sp>
        <p:nvSpPr>
          <p:cNvPr id="17" name="Text 15"/>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4 · KERNBEFUNDE — CODE VS. BILD</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Schön heißt nicht richtig</a:t>
            </a:r>
            <a:endParaRPr lang="en-US" sz="3000"/>
          </a:p>
        </p:txBody>
      </p:sp>
      <p:sp>
        <p:nvSpPr>
          <p:cNvPr id="4" name="Text 2"/>
          <p:cNvSpPr/>
          <p:nvPr/>
        </p:nvSpPr>
        <p:spPr>
          <a:xfrm>
            <a:off x="502920" y="1371600"/>
            <a:ext cx="11155680" cy="320040"/>
          </a:xfrm>
          <a:prstGeom prst="rect">
            <a:avLst/>
          </a:prstGeom>
          <a:noFill/>
          <a:ln/>
        </p:spPr>
        <p:txBody>
          <a:bodyPr wrap="square" lIns="0" tIns="0" rIns="0" bIns="0" rtlCol="0" anchor="ctr"/>
          <a:lstStyle/>
          <a:p>
            <a:pPr marL="0" indent="0">
              <a:buNone/>
            </a:pPr>
            <a:r>
              <a:rPr lang="en-US" sz="1350" i="1">
                <a:solidFill>
                  <a:srgbClr val="5B6575"/>
                </a:solidFill>
                <a:latin typeface="Calibri" pitchFamily="34" charset="0"/>
                <a:ea typeface="Calibri" pitchFamily="34" charset="-122"/>
                <a:cs typeface="Calibri" pitchFamily="34" charset="-120"/>
              </a:rPr>
              <a:t>EasyRide · Klassendiagramm · ChatGPT — eine Antwort, zwei Ergebnisse</a:t>
            </a:r>
            <a:endParaRPr lang="en-US" sz="1350"/>
          </a:p>
        </p:txBody>
      </p:sp>
      <p:sp>
        <p:nvSpPr>
          <p:cNvPr id="5" name="Shape 3"/>
          <p:cNvSpPr/>
          <p:nvPr/>
        </p:nvSpPr>
        <p:spPr>
          <a:xfrm>
            <a:off x="502920" y="1783080"/>
            <a:ext cx="2377440" cy="310896"/>
          </a:xfrm>
          <a:prstGeom prst="roundRect">
            <a:avLst>
              <a:gd name="adj" fmla="val 50000"/>
            </a:avLst>
          </a:prstGeom>
          <a:solidFill>
            <a:srgbClr val="FBEBE9"/>
          </a:solidFill>
          <a:ln w="9525">
            <a:solidFill>
              <a:srgbClr val="B23A2E"/>
            </a:solidFill>
            <a:prstDash val="solid"/>
          </a:ln>
        </p:spPr>
        <p:txBody>
          <a:bodyPr/>
          <a:lstStyle/>
          <a:p>
            <a:endParaRPr lang="de-DE"/>
          </a:p>
        </p:txBody>
      </p:sp>
      <p:sp>
        <p:nvSpPr>
          <p:cNvPr id="6" name="Text 4"/>
          <p:cNvSpPr/>
          <p:nvPr/>
        </p:nvSpPr>
        <p:spPr>
          <a:xfrm>
            <a:off x="502920" y="1783080"/>
            <a:ext cx="2377440" cy="310896"/>
          </a:xfrm>
          <a:prstGeom prst="rect">
            <a:avLst/>
          </a:prstGeom>
          <a:noFill/>
          <a:ln/>
        </p:spPr>
        <p:txBody>
          <a:bodyPr wrap="square" lIns="0" tIns="0" rIns="0" bIns="0" rtlCol="0" anchor="ctr"/>
          <a:lstStyle/>
          <a:p>
            <a:pPr marL="0" indent="0" algn="ctr">
              <a:buNone/>
            </a:pPr>
            <a:r>
              <a:rPr lang="en-US" sz="1100" b="1" kern="0" spc="100">
                <a:solidFill>
                  <a:srgbClr val="B23A2E"/>
                </a:solidFill>
                <a:latin typeface="Calibri" pitchFamily="34" charset="0"/>
                <a:ea typeface="Calibri" pitchFamily="34" charset="-122"/>
                <a:cs typeface="Calibri" pitchFamily="34" charset="-120"/>
              </a:rPr>
              <a:t>DIREKT GEZEICHNET</a:t>
            </a:r>
            <a:endParaRPr lang="en-US" sz="1100"/>
          </a:p>
        </p:txBody>
      </p:sp>
      <p:pic>
        <p:nvPicPr>
          <p:cNvPr id="7" name="Image 0" descr="/mnt/user-data/uploads/Projekt_Informationsinfrastrukturen/ergebnisse/easyride/chatgpt/klassendiagramm/v1-direkt-chatgpt.png"/>
          <p:cNvPicPr>
            <a:picLocks noChangeAspect="1"/>
          </p:cNvPicPr>
          <p:nvPr/>
        </p:nvPicPr>
        <p:blipFill>
          <a:blip r:embed="rId3"/>
          <a:srcRect/>
          <a:stretch/>
        </p:blipFill>
        <p:spPr>
          <a:xfrm>
            <a:off x="502920" y="2212848"/>
            <a:ext cx="5585097" cy="3254828"/>
          </a:xfrm>
          <a:prstGeom prst="rect">
            <a:avLst/>
          </a:prstGeom>
        </p:spPr>
      </p:pic>
      <p:sp>
        <p:nvSpPr>
          <p:cNvPr id="8" name="Text 5"/>
          <p:cNvSpPr/>
          <p:nvPr/>
        </p:nvSpPr>
        <p:spPr>
          <a:xfrm>
            <a:off x="401320" y="5550263"/>
            <a:ext cx="5577840" cy="1371600"/>
          </a:xfrm>
          <a:prstGeom prst="rect">
            <a:avLst/>
          </a:prstGeom>
          <a:noFill/>
          <a:ln/>
        </p:spPr>
        <p:txBody>
          <a:bodyPr wrap="square" lIns="0" tIns="0" rIns="0" bIns="0" rtlCol="0" anchor="t"/>
          <a:lstStyle/>
          <a:p>
            <a:pPr marL="152400" indent="-152400">
              <a:lnSpc>
                <a:spcPct val="105000"/>
              </a:lnSpc>
              <a:spcAft>
                <a:spcPts val="500"/>
              </a:spcAft>
              <a:buSzPct val="100000"/>
              <a:buChar char="•"/>
            </a:pPr>
            <a:r>
              <a:rPr lang="en-US" sz="1250">
                <a:solidFill>
                  <a:srgbClr val="B23A2E"/>
                </a:solidFill>
                <a:latin typeface="Calibri" pitchFamily="34" charset="0"/>
                <a:ea typeface="Calibri" pitchFamily="34" charset="-122"/>
                <a:cs typeface="Calibri" pitchFamily="34" charset="-120"/>
              </a:rPr>
              <a:t>Fahrzeug hängt am Routenhalt statt an der Route</a:t>
            </a:r>
            <a:endParaRPr lang="en-US" sz="1250"/>
          </a:p>
          <a:p>
            <a:pPr marL="152400" indent="-152400">
              <a:lnSpc>
                <a:spcPct val="105000"/>
              </a:lnSpc>
              <a:spcAft>
                <a:spcPts val="500"/>
              </a:spcAft>
              <a:buSzPct val="100000"/>
              <a:buChar char="•"/>
            </a:pPr>
            <a:r>
              <a:rPr lang="en-US" sz="1250">
                <a:solidFill>
                  <a:srgbClr val="B23A2E"/>
                </a:solidFill>
                <a:latin typeface="Calibri" pitchFamily="34" charset="0"/>
                <a:ea typeface="Calibri" pitchFamily="34" charset="-122"/>
                <a:cs typeface="Calibri" pitchFamily="34" charset="-120"/>
              </a:rPr>
              <a:t>Routenhalt liegt an der Verbindung statt am Haltepunkt</a:t>
            </a:r>
            <a:endParaRPr lang="en-US" sz="1250"/>
          </a:p>
          <a:p>
            <a:pPr marL="152400" indent="-152400">
              <a:lnSpc>
                <a:spcPct val="105000"/>
              </a:lnSpc>
              <a:spcAft>
                <a:spcPts val="500"/>
              </a:spcAft>
              <a:buSzPct val="100000"/>
              <a:buChar char="•"/>
            </a:pPr>
            <a:r>
              <a:rPr lang="en-US" sz="1250">
                <a:solidFill>
                  <a:srgbClr val="B23A2E"/>
                </a:solidFill>
                <a:latin typeface="Calibri" pitchFamily="34" charset="0"/>
                <a:ea typeface="Calibri" pitchFamily="34" charset="-122"/>
                <a:cs typeface="Calibri" pitchFamily="34" charset="-120"/>
              </a:rPr>
              <a:t>Beziehung Buchung–Fahrgast fehlt komplett</a:t>
            </a:r>
            <a:endParaRPr lang="en-US" sz="1250"/>
          </a:p>
        </p:txBody>
      </p:sp>
      <p:sp>
        <p:nvSpPr>
          <p:cNvPr id="9" name="Shape 6"/>
          <p:cNvSpPr/>
          <p:nvPr/>
        </p:nvSpPr>
        <p:spPr>
          <a:xfrm>
            <a:off x="6355080" y="1783080"/>
            <a:ext cx="2834640" cy="310896"/>
          </a:xfrm>
          <a:prstGeom prst="roundRect">
            <a:avLst>
              <a:gd name="adj" fmla="val 50000"/>
            </a:avLst>
          </a:prstGeom>
          <a:solidFill>
            <a:srgbClr val="E7F4EC"/>
          </a:solidFill>
          <a:ln w="9525">
            <a:solidFill>
              <a:srgbClr val="1F7A4D"/>
            </a:solidFill>
            <a:prstDash val="solid"/>
          </a:ln>
        </p:spPr>
        <p:txBody>
          <a:bodyPr/>
          <a:lstStyle/>
          <a:p>
            <a:endParaRPr lang="de-DE"/>
          </a:p>
        </p:txBody>
      </p:sp>
      <p:sp>
        <p:nvSpPr>
          <p:cNvPr id="10" name="Text 7"/>
          <p:cNvSpPr/>
          <p:nvPr/>
        </p:nvSpPr>
        <p:spPr>
          <a:xfrm>
            <a:off x="6355080" y="1783080"/>
            <a:ext cx="2834640" cy="310896"/>
          </a:xfrm>
          <a:prstGeom prst="rect">
            <a:avLst/>
          </a:prstGeom>
          <a:noFill/>
          <a:ln/>
        </p:spPr>
        <p:txBody>
          <a:bodyPr wrap="square" lIns="0" tIns="0" rIns="0" bIns="0" rtlCol="0" anchor="ctr"/>
          <a:lstStyle/>
          <a:p>
            <a:pPr marL="0" indent="0" algn="ctr">
              <a:buNone/>
            </a:pPr>
            <a:r>
              <a:rPr lang="en-US" sz="1100" b="1" kern="0" spc="100">
                <a:solidFill>
                  <a:srgbClr val="1F7A4D"/>
                </a:solidFill>
                <a:latin typeface="Calibri" pitchFamily="34" charset="0"/>
                <a:ea typeface="Calibri" pitchFamily="34" charset="-122"/>
                <a:cs typeface="Calibri" pitchFamily="34" charset="-120"/>
              </a:rPr>
              <a:t>GERENDERTER PLANTUML-CODE</a:t>
            </a:r>
            <a:endParaRPr lang="en-US" sz="1100"/>
          </a:p>
        </p:txBody>
      </p:sp>
      <p:pic>
        <p:nvPicPr>
          <p:cNvPr id="11" name="Image 1" descr="/mnt/user-data/uploads/Projekt_Informationsinfrastrukturen/ergebnisse/easyride/chatgpt/klassendiagramm/v1-plantuml.png"/>
          <p:cNvPicPr>
            <a:picLocks noChangeAspect="1"/>
          </p:cNvPicPr>
          <p:nvPr/>
        </p:nvPicPr>
        <p:blipFill>
          <a:blip r:embed="rId4"/>
          <a:srcRect/>
          <a:stretch/>
        </p:blipFill>
        <p:spPr>
          <a:xfrm>
            <a:off x="6355080" y="2212848"/>
            <a:ext cx="5303520" cy="3073400"/>
          </a:xfrm>
          <a:prstGeom prst="rect">
            <a:avLst/>
          </a:prstGeom>
        </p:spPr>
      </p:pic>
      <p:sp>
        <p:nvSpPr>
          <p:cNvPr id="12" name="Text 8"/>
          <p:cNvSpPr/>
          <p:nvPr/>
        </p:nvSpPr>
        <p:spPr>
          <a:xfrm>
            <a:off x="6253480" y="5550263"/>
            <a:ext cx="5303520" cy="1371600"/>
          </a:xfrm>
          <a:prstGeom prst="rect">
            <a:avLst/>
          </a:prstGeom>
          <a:noFill/>
          <a:ln/>
        </p:spPr>
        <p:txBody>
          <a:bodyPr wrap="square" lIns="0" tIns="0" rIns="0" bIns="0" rtlCol="0" anchor="t"/>
          <a:lstStyle/>
          <a:p>
            <a:pPr marL="152400" indent="-152400">
              <a:lnSpc>
                <a:spcPct val="105000"/>
              </a:lnSpc>
              <a:spcAft>
                <a:spcPts val="500"/>
              </a:spcAft>
              <a:buSzPct val="100000"/>
              <a:buChar char="•"/>
            </a:pPr>
            <a:r>
              <a:rPr lang="en-US" sz="1250">
                <a:solidFill>
                  <a:srgbClr val="1F7A4D"/>
                </a:solidFill>
                <a:latin typeface="Calibri" pitchFamily="34" charset="0"/>
                <a:ea typeface="Calibri" pitchFamily="34" charset="-122"/>
                <a:cs typeface="Calibri" pitchFamily="34" charset="-120"/>
              </a:rPr>
              <a:t>Modelliert genau diese Beziehungen korrekt</a:t>
            </a:r>
            <a:endParaRPr lang="en-US" sz="1250"/>
          </a:p>
          <a:p>
            <a:pPr marL="152400" indent="-152400">
              <a:lnSpc>
                <a:spcPct val="105000"/>
              </a:lnSpc>
              <a:spcAft>
                <a:spcPts val="500"/>
              </a:spcAft>
              <a:buSzPct val="100000"/>
              <a:buChar char="•"/>
            </a:pPr>
            <a:r>
              <a:rPr lang="en-US" sz="1250">
                <a:solidFill>
                  <a:srgbClr val="1F7A4D"/>
                </a:solidFill>
                <a:latin typeface="Calibri" pitchFamily="34" charset="0"/>
                <a:ea typeface="Calibri" pitchFamily="34" charset="-122"/>
                <a:cs typeface="Calibri" pitchFamily="34" charset="-120"/>
              </a:rPr>
              <a:t>Beide Fachregeln als Notizen enthalten</a:t>
            </a:r>
            <a:endParaRPr lang="en-US" sz="1250"/>
          </a:p>
          <a:p>
            <a:pPr marL="152400" indent="-152400">
              <a:lnSpc>
                <a:spcPct val="105000"/>
              </a:lnSpc>
              <a:spcAft>
                <a:spcPts val="500"/>
              </a:spcAft>
              <a:buSzPct val="100000"/>
              <a:buChar char="•"/>
            </a:pPr>
            <a:r>
              <a:rPr lang="en-US" sz="1250">
                <a:solidFill>
                  <a:srgbClr val="1F7A4D"/>
                </a:solidFill>
                <a:latin typeface="Calibri" pitchFamily="34" charset="0"/>
                <a:ea typeface="Calibri" pitchFamily="34" charset="-122"/>
                <a:cs typeface="Calibri" pitchFamily="34" charset="-120"/>
              </a:rPr>
              <a:t>Optisch unscheinbarer – fachlich verlässlich</a:t>
            </a:r>
            <a:endParaRPr lang="en-US" sz="1250"/>
          </a:p>
        </p:txBody>
      </p:sp>
      <p:sp>
        <p:nvSpPr>
          <p:cNvPr id="13" name="Text 9"/>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8</a:t>
            </a:r>
            <a:endParaRPr lang="en-US" sz="1000"/>
          </a:p>
        </p:txBody>
      </p:sp>
      <p:sp>
        <p:nvSpPr>
          <p:cNvPr id="14" name="Text 10"/>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4 · KERNBEFUNDE — DIREKTBILDER</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Vier Fehlermuster ziehen sich durch</a:t>
            </a:r>
            <a:endParaRPr lang="en-US" sz="3000"/>
          </a:p>
        </p:txBody>
      </p:sp>
      <p:sp>
        <p:nvSpPr>
          <p:cNvPr id="4" name="Text 2"/>
          <p:cNvSpPr/>
          <p:nvPr/>
        </p:nvSpPr>
        <p:spPr>
          <a:xfrm>
            <a:off x="502920" y="1371600"/>
            <a:ext cx="11155680" cy="320040"/>
          </a:xfrm>
          <a:prstGeom prst="rect">
            <a:avLst/>
          </a:prstGeom>
          <a:noFill/>
          <a:ln/>
        </p:spPr>
        <p:txBody>
          <a:bodyPr wrap="square" lIns="0" tIns="0" rIns="0" bIns="0" rtlCol="0" anchor="ctr"/>
          <a:lstStyle/>
          <a:p>
            <a:pPr marL="0" indent="0">
              <a:buNone/>
            </a:pPr>
            <a:r>
              <a:rPr lang="en-US" sz="1350" i="1">
                <a:solidFill>
                  <a:srgbClr val="5B6575"/>
                </a:solidFill>
                <a:latin typeface="Calibri" pitchFamily="34" charset="0"/>
                <a:ea typeface="Calibri" pitchFamily="34" charset="-122"/>
                <a:cs typeface="Calibri" pitchFamily="34" charset="-120"/>
              </a:rPr>
              <a:t>Der PlantUML-Code aus derselben Aufgabenstellung war in diesen Fällen jeweils korrekt.</a:t>
            </a:r>
            <a:endParaRPr lang="en-US" sz="1350"/>
          </a:p>
        </p:txBody>
      </p:sp>
      <p:sp>
        <p:nvSpPr>
          <p:cNvPr id="5" name="Shape 3"/>
          <p:cNvSpPr/>
          <p:nvPr/>
        </p:nvSpPr>
        <p:spPr>
          <a:xfrm>
            <a:off x="502920" y="1828800"/>
            <a:ext cx="5486400" cy="1874520"/>
          </a:xfrm>
          <a:prstGeom prst="roundRect">
            <a:avLst>
              <a:gd name="adj" fmla="val 4878"/>
            </a:avLst>
          </a:prstGeom>
          <a:solidFill>
            <a:srgbClr val="F3F6FB"/>
          </a:solidFill>
          <a:ln w="12700">
            <a:solidFill>
              <a:srgbClr val="D9E1EE"/>
            </a:solidFill>
            <a:prstDash val="solid"/>
          </a:ln>
        </p:spPr>
        <p:txBody>
          <a:bodyPr/>
          <a:lstStyle/>
          <a:p>
            <a:endParaRPr lang="de-DE"/>
          </a:p>
        </p:txBody>
      </p:sp>
      <p:sp>
        <p:nvSpPr>
          <p:cNvPr id="6" name="Shape 4"/>
          <p:cNvSpPr/>
          <p:nvPr/>
        </p:nvSpPr>
        <p:spPr>
          <a:xfrm>
            <a:off x="740664" y="2048256"/>
            <a:ext cx="384048" cy="384048"/>
          </a:xfrm>
          <a:prstGeom prst="ellipse">
            <a:avLst/>
          </a:prstGeom>
          <a:solidFill>
            <a:srgbClr val="B23A2E"/>
          </a:solidFill>
          <a:ln/>
        </p:spPr>
        <p:txBody>
          <a:bodyPr/>
          <a:lstStyle/>
          <a:p>
            <a:endParaRPr lang="de-DE"/>
          </a:p>
        </p:txBody>
      </p:sp>
      <p:sp>
        <p:nvSpPr>
          <p:cNvPr id="7" name="Text 5"/>
          <p:cNvSpPr/>
          <p:nvPr/>
        </p:nvSpPr>
        <p:spPr>
          <a:xfrm>
            <a:off x="740664" y="2039112"/>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1</a:t>
            </a:r>
            <a:endParaRPr lang="en-US" sz="1500"/>
          </a:p>
        </p:txBody>
      </p:sp>
      <p:sp>
        <p:nvSpPr>
          <p:cNvPr id="8" name="Text 6"/>
          <p:cNvSpPr/>
          <p:nvPr/>
        </p:nvSpPr>
        <p:spPr>
          <a:xfrm>
            <a:off x="1252728" y="1993392"/>
            <a:ext cx="4526280" cy="502920"/>
          </a:xfrm>
          <a:prstGeom prst="rect">
            <a:avLst/>
          </a:prstGeom>
          <a:noFill/>
          <a:ln/>
        </p:spPr>
        <p:txBody>
          <a:bodyPr wrap="square" lIns="0" tIns="0" rIns="0" bIns="0" rtlCol="0" anchor="ctr"/>
          <a:lstStyle/>
          <a:p>
            <a:pPr marL="0" indent="0">
              <a:buNone/>
            </a:pPr>
            <a:r>
              <a:rPr lang="en-US" sz="1500" b="1">
                <a:solidFill>
                  <a:srgbClr val="1C2434"/>
                </a:solidFill>
                <a:latin typeface="Cambria" pitchFamily="34" charset="0"/>
                <a:ea typeface="Cambria" pitchFamily="34" charset="-122"/>
                <a:cs typeface="Cambria" pitchFamily="34" charset="-120"/>
              </a:rPr>
              <a:t>Falsch verbundene Elemente</a:t>
            </a:r>
            <a:endParaRPr lang="en-US" sz="1500"/>
          </a:p>
        </p:txBody>
      </p:sp>
      <p:sp>
        <p:nvSpPr>
          <p:cNvPr id="9" name="Text 7"/>
          <p:cNvSpPr/>
          <p:nvPr/>
        </p:nvSpPr>
        <p:spPr>
          <a:xfrm>
            <a:off x="740664" y="2578608"/>
            <a:ext cx="5010912" cy="731520"/>
          </a:xfrm>
          <a:prstGeom prst="rect">
            <a:avLst/>
          </a:prstGeom>
          <a:noFill/>
          <a:ln/>
        </p:spPr>
        <p:txBody>
          <a:bodyPr wrap="square" lIns="0" tIns="0" rIns="0" bIns="0" rtlCol="0" anchor="t"/>
          <a:lstStyle/>
          <a:p>
            <a:pPr marL="0" indent="0">
              <a:lnSpc>
                <a:spcPct val="110000"/>
              </a:lnSpc>
              <a:buNone/>
            </a:pPr>
            <a:r>
              <a:rPr lang="en-US" sz="950">
                <a:solidFill>
                  <a:srgbClr val="1C2434"/>
                </a:solidFill>
                <a:latin typeface="Calibri" pitchFamily="34" charset="0"/>
                <a:ea typeface="Calibri" pitchFamily="34" charset="-122"/>
                <a:cs typeface="Calibri" pitchFamily="34" charset="-120"/>
              </a:rPr>
              <a:t>Das Bild verbindet Elemente mit den falschen Partnern – die Beziehung existiert, endet aber an der falschen Klasse.</a:t>
            </a:r>
            <a:endParaRPr lang="en-US" sz="950"/>
          </a:p>
          <a:p>
            <a:pPr marL="0" indent="0">
              <a:lnSpc>
                <a:spcPct val="110000"/>
              </a:lnSpc>
              <a:buNone/>
            </a:pPr>
            <a:r>
              <a:rPr lang="en-US" sz="950">
                <a:solidFill>
                  <a:srgbClr val="1C2434"/>
                </a:solidFill>
                <a:latin typeface="Calibri" pitchFamily="34" charset="0"/>
                <a:ea typeface="Calibri" pitchFamily="34" charset="-122"/>
                <a:cs typeface="Calibri" pitchFamily="34" charset="-120"/>
              </a:rPr>
              <a:t>Beispiel EasyScoot-Klassendiagramm: Die Preisberechnung hängt am E-Scooter statt an der Fahrt.</a:t>
            </a:r>
            <a:endParaRPr lang="en-US" sz="950"/>
          </a:p>
        </p:txBody>
      </p:sp>
      <p:sp>
        <p:nvSpPr>
          <p:cNvPr id="10" name="Text 8"/>
          <p:cNvSpPr/>
          <p:nvPr/>
        </p:nvSpPr>
        <p:spPr>
          <a:xfrm>
            <a:off x="740664" y="3337560"/>
            <a:ext cx="5010912" cy="274320"/>
          </a:xfrm>
          <a:prstGeom prst="rect">
            <a:avLst/>
          </a:prstGeom>
          <a:noFill/>
          <a:ln/>
        </p:spPr>
        <p:txBody>
          <a:bodyPr wrap="square" lIns="0" tIns="0" rIns="0" bIns="0" rtlCol="0" anchor="ctr"/>
          <a:lstStyle/>
          <a:p>
            <a:pPr marL="0" indent="0">
              <a:buNone/>
            </a:pPr>
            <a:r>
              <a:rPr lang="en-US" sz="1050" i="1">
                <a:solidFill>
                  <a:srgbClr val="5B6575"/>
                </a:solidFill>
                <a:latin typeface="Calibri" pitchFamily="34" charset="0"/>
                <a:ea typeface="Calibri" pitchFamily="34" charset="-122"/>
                <a:cs typeface="Calibri" pitchFamily="34" charset="-120"/>
              </a:rPr>
              <a:t>Mehrfach bei ChatGPT (u. a. Leitbeispiel Folie 8) </a:t>
            </a:r>
            <a:endParaRPr lang="en-US" sz="1050"/>
          </a:p>
        </p:txBody>
      </p:sp>
      <p:sp>
        <p:nvSpPr>
          <p:cNvPr id="11" name="Shape 9"/>
          <p:cNvSpPr/>
          <p:nvPr/>
        </p:nvSpPr>
        <p:spPr>
          <a:xfrm>
            <a:off x="6190488" y="1828800"/>
            <a:ext cx="5486400" cy="1874520"/>
          </a:xfrm>
          <a:prstGeom prst="roundRect">
            <a:avLst>
              <a:gd name="adj" fmla="val 4878"/>
            </a:avLst>
          </a:prstGeom>
          <a:solidFill>
            <a:srgbClr val="F3F6FB"/>
          </a:solidFill>
          <a:ln w="12700">
            <a:solidFill>
              <a:srgbClr val="D9E1EE"/>
            </a:solidFill>
            <a:prstDash val="solid"/>
          </a:ln>
        </p:spPr>
        <p:txBody>
          <a:bodyPr/>
          <a:lstStyle/>
          <a:p>
            <a:endParaRPr lang="de-DE"/>
          </a:p>
        </p:txBody>
      </p:sp>
      <p:sp>
        <p:nvSpPr>
          <p:cNvPr id="12" name="Shape 10"/>
          <p:cNvSpPr/>
          <p:nvPr/>
        </p:nvSpPr>
        <p:spPr>
          <a:xfrm>
            <a:off x="6428232" y="2048256"/>
            <a:ext cx="384048" cy="384048"/>
          </a:xfrm>
          <a:prstGeom prst="ellipse">
            <a:avLst/>
          </a:prstGeom>
          <a:solidFill>
            <a:srgbClr val="B23A2E"/>
          </a:solidFill>
          <a:ln/>
        </p:spPr>
        <p:txBody>
          <a:bodyPr/>
          <a:lstStyle/>
          <a:p>
            <a:endParaRPr lang="de-DE"/>
          </a:p>
        </p:txBody>
      </p:sp>
      <p:sp>
        <p:nvSpPr>
          <p:cNvPr id="13" name="Text 11"/>
          <p:cNvSpPr/>
          <p:nvPr/>
        </p:nvSpPr>
        <p:spPr>
          <a:xfrm>
            <a:off x="6428232" y="2039112"/>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2</a:t>
            </a:r>
            <a:endParaRPr lang="en-US" sz="1500"/>
          </a:p>
        </p:txBody>
      </p:sp>
      <p:sp>
        <p:nvSpPr>
          <p:cNvPr id="14" name="Text 12"/>
          <p:cNvSpPr/>
          <p:nvPr/>
        </p:nvSpPr>
        <p:spPr>
          <a:xfrm>
            <a:off x="6940296" y="1993392"/>
            <a:ext cx="4526280" cy="502920"/>
          </a:xfrm>
          <a:prstGeom prst="rect">
            <a:avLst/>
          </a:prstGeom>
          <a:noFill/>
          <a:ln/>
        </p:spPr>
        <p:txBody>
          <a:bodyPr wrap="square" lIns="0" tIns="0" rIns="0" bIns="0" rtlCol="0" anchor="ctr"/>
          <a:lstStyle/>
          <a:p>
            <a:pPr marL="0" indent="0">
              <a:buNone/>
            </a:pPr>
            <a:r>
              <a:rPr lang="en-US" sz="1500" b="1">
                <a:solidFill>
                  <a:srgbClr val="1C2434"/>
                </a:solidFill>
                <a:latin typeface="Cambria" pitchFamily="34" charset="0"/>
                <a:ea typeface="Cambria" pitchFamily="34" charset="-122"/>
                <a:cs typeface="Cambria" pitchFamily="34" charset="-120"/>
              </a:rPr>
              <a:t>Vertauschte oder mehrdeutige Akteure</a:t>
            </a:r>
            <a:endParaRPr lang="en-US" sz="1500"/>
          </a:p>
        </p:txBody>
      </p:sp>
      <p:sp>
        <p:nvSpPr>
          <p:cNvPr id="15" name="Text 13"/>
          <p:cNvSpPr/>
          <p:nvPr/>
        </p:nvSpPr>
        <p:spPr>
          <a:xfrm>
            <a:off x="6428232" y="2578608"/>
            <a:ext cx="5010912" cy="731520"/>
          </a:xfrm>
          <a:prstGeom prst="rect">
            <a:avLst/>
          </a:prstGeom>
          <a:noFill/>
          <a:ln/>
        </p:spPr>
        <p:txBody>
          <a:bodyPr wrap="square" lIns="0" tIns="0" rIns="0" bIns="0" rtlCol="0" anchor="t"/>
          <a:lstStyle/>
          <a:p>
            <a:pPr marL="0" indent="0">
              <a:lnSpc>
                <a:spcPct val="110000"/>
              </a:lnSpc>
              <a:buNone/>
            </a:pPr>
            <a:r>
              <a:rPr lang="en-US" sz="950">
                <a:solidFill>
                  <a:srgbClr val="1C2434"/>
                </a:solidFill>
                <a:latin typeface="Calibri" pitchFamily="34" charset="0"/>
                <a:ea typeface="Calibri" pitchFamily="34" charset="-122"/>
                <a:cs typeface="Calibri" pitchFamily="34" charset="-120"/>
              </a:rPr>
              <a:t>Use Cases werden dem falschen Akteur zugeordnet – oder Linien enden so mehrdeutig, dass die Zuordnung nicht ablesbar ist.</a:t>
            </a:r>
            <a:endParaRPr lang="en-US" sz="950"/>
          </a:p>
          <a:p>
            <a:pPr marL="0" indent="0">
              <a:lnSpc>
                <a:spcPct val="110000"/>
              </a:lnSpc>
              <a:buNone/>
            </a:pPr>
            <a:r>
              <a:rPr lang="en-US" sz="950">
                <a:solidFill>
                  <a:srgbClr val="1C2434"/>
                </a:solidFill>
                <a:latin typeface="Calibri" pitchFamily="34" charset="0"/>
                <a:ea typeface="Calibri" pitchFamily="34" charset="-122"/>
                <a:cs typeface="Calibri" pitchFamily="34" charset="-120"/>
              </a:rPr>
              <a:t>Beispiel EasyScoot-Use-Case: „Nutzung beenden“ hängt an der E-Scooter-Software, „Wartungsmodus beenden“ am Rechnungssystem – genau vertauscht.</a:t>
            </a:r>
            <a:endParaRPr lang="en-US" sz="950"/>
          </a:p>
        </p:txBody>
      </p:sp>
      <p:sp>
        <p:nvSpPr>
          <p:cNvPr id="16" name="Text 14"/>
          <p:cNvSpPr/>
          <p:nvPr/>
        </p:nvSpPr>
        <p:spPr>
          <a:xfrm>
            <a:off x="6428232" y="3337560"/>
            <a:ext cx="5010912" cy="274320"/>
          </a:xfrm>
          <a:prstGeom prst="rect">
            <a:avLst/>
          </a:prstGeom>
          <a:noFill/>
          <a:ln/>
        </p:spPr>
        <p:txBody>
          <a:bodyPr wrap="square" lIns="0" tIns="0" rIns="0" bIns="0" rtlCol="0" anchor="ctr"/>
          <a:lstStyle/>
          <a:p>
            <a:pPr marL="0" indent="0">
              <a:buNone/>
            </a:pPr>
            <a:r>
              <a:rPr lang="en-US" sz="1050" i="1">
                <a:solidFill>
                  <a:srgbClr val="5B6575"/>
                </a:solidFill>
                <a:latin typeface="Calibri" pitchFamily="34" charset="0"/>
                <a:ea typeface="Calibri" pitchFamily="34" charset="-122"/>
                <a:cs typeface="Calibri" pitchFamily="34" charset="-120"/>
              </a:rPr>
              <a:t>Mehrfach bei ChatGPT (Use-Case + Aktivität) </a:t>
            </a:r>
            <a:endParaRPr lang="en-US" sz="1050"/>
          </a:p>
        </p:txBody>
      </p:sp>
      <p:sp>
        <p:nvSpPr>
          <p:cNvPr id="17" name="Shape 15"/>
          <p:cNvSpPr/>
          <p:nvPr/>
        </p:nvSpPr>
        <p:spPr>
          <a:xfrm>
            <a:off x="502920" y="3904488"/>
            <a:ext cx="5486400" cy="1874520"/>
          </a:xfrm>
          <a:prstGeom prst="roundRect">
            <a:avLst>
              <a:gd name="adj" fmla="val 4878"/>
            </a:avLst>
          </a:prstGeom>
          <a:solidFill>
            <a:srgbClr val="F3F6FB"/>
          </a:solidFill>
          <a:ln w="12700">
            <a:solidFill>
              <a:srgbClr val="D9E1EE"/>
            </a:solidFill>
            <a:prstDash val="solid"/>
          </a:ln>
        </p:spPr>
        <p:txBody>
          <a:bodyPr/>
          <a:lstStyle/>
          <a:p>
            <a:endParaRPr lang="de-DE"/>
          </a:p>
        </p:txBody>
      </p:sp>
      <p:sp>
        <p:nvSpPr>
          <p:cNvPr id="18" name="Shape 16"/>
          <p:cNvSpPr/>
          <p:nvPr/>
        </p:nvSpPr>
        <p:spPr>
          <a:xfrm>
            <a:off x="740664" y="4123944"/>
            <a:ext cx="384048" cy="384048"/>
          </a:xfrm>
          <a:prstGeom prst="ellipse">
            <a:avLst/>
          </a:prstGeom>
          <a:solidFill>
            <a:srgbClr val="B23A2E"/>
          </a:solidFill>
          <a:ln/>
        </p:spPr>
        <p:txBody>
          <a:bodyPr/>
          <a:lstStyle/>
          <a:p>
            <a:endParaRPr lang="de-DE"/>
          </a:p>
        </p:txBody>
      </p:sp>
      <p:sp>
        <p:nvSpPr>
          <p:cNvPr id="19" name="Text 17"/>
          <p:cNvSpPr/>
          <p:nvPr/>
        </p:nvSpPr>
        <p:spPr>
          <a:xfrm>
            <a:off x="740664" y="4114800"/>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3</a:t>
            </a:r>
            <a:endParaRPr lang="en-US" sz="1500"/>
          </a:p>
        </p:txBody>
      </p:sp>
      <p:sp>
        <p:nvSpPr>
          <p:cNvPr id="20" name="Text 18"/>
          <p:cNvSpPr/>
          <p:nvPr/>
        </p:nvSpPr>
        <p:spPr>
          <a:xfrm>
            <a:off x="1252728" y="4069080"/>
            <a:ext cx="4526280" cy="502920"/>
          </a:xfrm>
          <a:prstGeom prst="rect">
            <a:avLst/>
          </a:prstGeom>
          <a:noFill/>
          <a:ln/>
        </p:spPr>
        <p:txBody>
          <a:bodyPr wrap="square" lIns="0" tIns="0" rIns="0" bIns="0" rtlCol="0" anchor="ctr"/>
          <a:lstStyle/>
          <a:p>
            <a:pPr marL="0" indent="0">
              <a:buNone/>
            </a:pPr>
            <a:r>
              <a:rPr lang="en-US" sz="1500" b="1">
                <a:solidFill>
                  <a:srgbClr val="1C2434"/>
                </a:solidFill>
                <a:latin typeface="Cambria" pitchFamily="34" charset="0"/>
                <a:ea typeface="Cambria" pitchFamily="34" charset="-122"/>
                <a:cs typeface="Cambria" pitchFamily="34" charset="-120"/>
              </a:rPr>
              <a:t>Doppelte Elemente</a:t>
            </a:r>
            <a:endParaRPr lang="en-US" sz="1500"/>
          </a:p>
        </p:txBody>
      </p:sp>
      <p:sp>
        <p:nvSpPr>
          <p:cNvPr id="21" name="Text 19"/>
          <p:cNvSpPr/>
          <p:nvPr/>
        </p:nvSpPr>
        <p:spPr>
          <a:xfrm>
            <a:off x="740664" y="4654296"/>
            <a:ext cx="5010912" cy="731520"/>
          </a:xfrm>
          <a:prstGeom prst="rect">
            <a:avLst/>
          </a:prstGeom>
          <a:noFill/>
          <a:ln/>
        </p:spPr>
        <p:txBody>
          <a:bodyPr wrap="square" lIns="0" tIns="0" rIns="0" bIns="0" rtlCol="0" anchor="t"/>
          <a:lstStyle/>
          <a:p>
            <a:pPr marL="0" indent="0">
              <a:lnSpc>
                <a:spcPct val="110000"/>
              </a:lnSpc>
              <a:buNone/>
            </a:pPr>
            <a:r>
              <a:rPr lang="en-US" sz="950">
                <a:solidFill>
                  <a:srgbClr val="1C2434"/>
                </a:solidFill>
                <a:latin typeface="Calibri" pitchFamily="34" charset="0"/>
                <a:ea typeface="Calibri" pitchFamily="34" charset="-122"/>
                <a:cs typeface="Calibri" pitchFamily="34" charset="-120"/>
              </a:rPr>
              <a:t>Dasselbe Element wird mehrfach gezeichnet statt wiederverwendet – oder dieselbe Nachricht doppelt verschickt.</a:t>
            </a:r>
            <a:endParaRPr lang="en-US" sz="950"/>
          </a:p>
          <a:p>
            <a:pPr marL="0" indent="0">
              <a:lnSpc>
                <a:spcPct val="110000"/>
              </a:lnSpc>
              <a:buNone/>
            </a:pPr>
            <a:r>
              <a:rPr lang="en-US" sz="950">
                <a:solidFill>
                  <a:srgbClr val="1C2434"/>
                </a:solidFill>
                <a:latin typeface="Calibri" pitchFamily="34" charset="0"/>
                <a:ea typeface="Calibri" pitchFamily="34" charset="-122"/>
                <a:cs typeface="Calibri" pitchFamily="34" charset="-120"/>
              </a:rPr>
              <a:t>Beispiel EasyLib-Use-Case: „Bestand durchsuchen“ und „Standort/Status einsehen“ gibt es doppelt – 17 statt 15 Use Cases.</a:t>
            </a:r>
            <a:endParaRPr lang="en-US" sz="950"/>
          </a:p>
        </p:txBody>
      </p:sp>
      <p:sp>
        <p:nvSpPr>
          <p:cNvPr id="22" name="Text 20"/>
          <p:cNvSpPr/>
          <p:nvPr/>
        </p:nvSpPr>
        <p:spPr>
          <a:xfrm>
            <a:off x="740664" y="5413248"/>
            <a:ext cx="5010912" cy="274320"/>
          </a:xfrm>
          <a:prstGeom prst="rect">
            <a:avLst/>
          </a:prstGeom>
          <a:noFill/>
          <a:ln/>
        </p:spPr>
        <p:txBody>
          <a:bodyPr wrap="square" lIns="0" tIns="0" rIns="0" bIns="0" rtlCol="0" anchor="ctr"/>
          <a:lstStyle/>
          <a:p>
            <a:pPr marL="0" indent="0">
              <a:buNone/>
            </a:pPr>
            <a:r>
              <a:rPr lang="en-US" sz="1050" i="1">
                <a:solidFill>
                  <a:srgbClr val="5B6575"/>
                </a:solidFill>
                <a:latin typeface="Calibri" pitchFamily="34" charset="0"/>
                <a:ea typeface="Calibri" pitchFamily="34" charset="-122"/>
                <a:cs typeface="Calibri" pitchFamily="34" charset="-120"/>
              </a:rPr>
              <a:t>Zweimal bei ChatGPT (Use-Case + </a:t>
            </a:r>
            <a:r>
              <a:rPr lang="en-US" sz="1050" i="1" err="1">
                <a:solidFill>
                  <a:srgbClr val="5B6575"/>
                </a:solidFill>
                <a:latin typeface="Calibri" pitchFamily="34" charset="0"/>
                <a:ea typeface="Calibri" pitchFamily="34" charset="-122"/>
                <a:cs typeface="Calibri" pitchFamily="34" charset="-120"/>
              </a:rPr>
              <a:t>Sequenz</a:t>
            </a:r>
            <a:r>
              <a:rPr lang="en-US" sz="1050" i="1">
                <a:solidFill>
                  <a:srgbClr val="5B6575"/>
                </a:solidFill>
                <a:latin typeface="Calibri" pitchFamily="34" charset="0"/>
                <a:ea typeface="Calibri" pitchFamily="34" charset="-122"/>
                <a:cs typeface="Calibri" pitchFamily="34" charset="-120"/>
              </a:rPr>
              <a:t>)</a:t>
            </a:r>
            <a:endParaRPr lang="en-US" sz="1050"/>
          </a:p>
        </p:txBody>
      </p:sp>
      <p:sp>
        <p:nvSpPr>
          <p:cNvPr id="23" name="Shape 21"/>
          <p:cNvSpPr/>
          <p:nvPr/>
        </p:nvSpPr>
        <p:spPr>
          <a:xfrm>
            <a:off x="6190488" y="3904488"/>
            <a:ext cx="5486400" cy="1874520"/>
          </a:xfrm>
          <a:prstGeom prst="roundRect">
            <a:avLst>
              <a:gd name="adj" fmla="val 4878"/>
            </a:avLst>
          </a:prstGeom>
          <a:solidFill>
            <a:srgbClr val="F3F6FB"/>
          </a:solidFill>
          <a:ln w="12700">
            <a:solidFill>
              <a:srgbClr val="D9E1EE"/>
            </a:solidFill>
            <a:prstDash val="solid"/>
          </a:ln>
        </p:spPr>
        <p:txBody>
          <a:bodyPr/>
          <a:lstStyle/>
          <a:p>
            <a:endParaRPr lang="de-DE"/>
          </a:p>
        </p:txBody>
      </p:sp>
      <p:sp>
        <p:nvSpPr>
          <p:cNvPr id="24" name="Shape 22"/>
          <p:cNvSpPr/>
          <p:nvPr/>
        </p:nvSpPr>
        <p:spPr>
          <a:xfrm>
            <a:off x="6428232" y="4123944"/>
            <a:ext cx="384048" cy="384048"/>
          </a:xfrm>
          <a:prstGeom prst="ellipse">
            <a:avLst/>
          </a:prstGeom>
          <a:solidFill>
            <a:srgbClr val="B23A2E"/>
          </a:solidFill>
          <a:ln/>
        </p:spPr>
        <p:txBody>
          <a:bodyPr/>
          <a:lstStyle/>
          <a:p>
            <a:endParaRPr lang="de-DE"/>
          </a:p>
        </p:txBody>
      </p:sp>
      <p:sp>
        <p:nvSpPr>
          <p:cNvPr id="25" name="Text 23"/>
          <p:cNvSpPr/>
          <p:nvPr/>
        </p:nvSpPr>
        <p:spPr>
          <a:xfrm>
            <a:off x="6428232" y="4114800"/>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4</a:t>
            </a:r>
            <a:endParaRPr lang="en-US" sz="1500"/>
          </a:p>
        </p:txBody>
      </p:sp>
      <p:sp>
        <p:nvSpPr>
          <p:cNvPr id="26" name="Text 24"/>
          <p:cNvSpPr/>
          <p:nvPr/>
        </p:nvSpPr>
        <p:spPr>
          <a:xfrm>
            <a:off x="6940296" y="4069080"/>
            <a:ext cx="4526280" cy="502920"/>
          </a:xfrm>
          <a:prstGeom prst="rect">
            <a:avLst/>
          </a:prstGeom>
          <a:noFill/>
          <a:ln/>
        </p:spPr>
        <p:txBody>
          <a:bodyPr wrap="square" lIns="0" tIns="0" rIns="0" bIns="0" rtlCol="0" anchor="ctr"/>
          <a:lstStyle/>
          <a:p>
            <a:pPr marL="0" indent="0">
              <a:buNone/>
            </a:pPr>
            <a:r>
              <a:rPr lang="en-US" sz="1500" b="1">
                <a:solidFill>
                  <a:srgbClr val="1C2434"/>
                </a:solidFill>
                <a:latin typeface="Cambria" pitchFamily="34" charset="0"/>
                <a:ea typeface="Cambria" pitchFamily="34" charset="-122"/>
                <a:cs typeface="Cambria" pitchFamily="34" charset="-120"/>
              </a:rPr>
              <a:t>Verlorene Details</a:t>
            </a:r>
            <a:endParaRPr lang="en-US" sz="1500"/>
          </a:p>
        </p:txBody>
      </p:sp>
      <p:sp>
        <p:nvSpPr>
          <p:cNvPr id="27" name="Text 25"/>
          <p:cNvSpPr/>
          <p:nvPr/>
        </p:nvSpPr>
        <p:spPr>
          <a:xfrm>
            <a:off x="6428232" y="4654296"/>
            <a:ext cx="5010912" cy="731520"/>
          </a:xfrm>
          <a:prstGeom prst="rect">
            <a:avLst/>
          </a:prstGeom>
          <a:noFill/>
          <a:ln/>
        </p:spPr>
        <p:txBody>
          <a:bodyPr wrap="square" lIns="0" tIns="0" rIns="0" bIns="0" rtlCol="0" anchor="t"/>
          <a:lstStyle/>
          <a:p>
            <a:pPr marL="0" indent="0">
              <a:lnSpc>
                <a:spcPct val="110000"/>
              </a:lnSpc>
              <a:buNone/>
            </a:pPr>
            <a:r>
              <a:rPr lang="en-US" sz="950">
                <a:solidFill>
                  <a:srgbClr val="1C2434"/>
                </a:solidFill>
                <a:latin typeface="Calibri" pitchFamily="34" charset="0"/>
                <a:ea typeface="Calibri" pitchFamily="34" charset="-122"/>
                <a:cs typeface="Calibri" pitchFamily="34" charset="-120"/>
              </a:rPr>
              <a:t>Das Bild vereinfacht das Modell: Schleifen, Verzweigungen und Notizen aus dem Code tauchen im Bild nicht auf.</a:t>
            </a:r>
            <a:endParaRPr lang="en-US" sz="950"/>
          </a:p>
          <a:p>
            <a:pPr marL="0" indent="0">
              <a:lnSpc>
                <a:spcPct val="110000"/>
              </a:lnSpc>
              <a:buNone/>
            </a:pPr>
            <a:r>
              <a:rPr lang="en-US" sz="950">
                <a:solidFill>
                  <a:srgbClr val="1C2434"/>
                </a:solidFill>
                <a:latin typeface="Calibri" pitchFamily="34" charset="0"/>
                <a:ea typeface="Calibri" pitchFamily="34" charset="-122"/>
                <a:cs typeface="Calibri" pitchFamily="34" charset="-120"/>
              </a:rPr>
              <a:t>Beispiel EasyLib-Sequenz (Claude): Die komplette Fehlerfall-Verzweigung steht nur im Code – das Bild zeigt nur den Gutfall.</a:t>
            </a:r>
            <a:endParaRPr lang="en-US" sz="950"/>
          </a:p>
        </p:txBody>
      </p:sp>
      <p:sp>
        <p:nvSpPr>
          <p:cNvPr id="28" name="Text 26"/>
          <p:cNvSpPr/>
          <p:nvPr/>
        </p:nvSpPr>
        <p:spPr>
          <a:xfrm>
            <a:off x="6428232" y="5413248"/>
            <a:ext cx="5010912" cy="274320"/>
          </a:xfrm>
          <a:prstGeom prst="rect">
            <a:avLst/>
          </a:prstGeom>
          <a:noFill/>
          <a:ln/>
        </p:spPr>
        <p:txBody>
          <a:bodyPr wrap="square" lIns="0" tIns="0" rIns="0" bIns="0" rtlCol="0" anchor="ctr"/>
          <a:lstStyle/>
          <a:p>
            <a:pPr marL="0" indent="0">
              <a:buNone/>
            </a:pPr>
            <a:r>
              <a:rPr lang="en-US" sz="1050" i="1">
                <a:solidFill>
                  <a:srgbClr val="5B6575"/>
                </a:solidFill>
                <a:latin typeface="Calibri" pitchFamily="34" charset="0"/>
                <a:ea typeface="Calibri" pitchFamily="34" charset="-122"/>
                <a:cs typeface="Calibri" pitchFamily="34" charset="-120"/>
              </a:rPr>
              <a:t>Claude (Sequenzen) und ChatGPT (alle 3 </a:t>
            </a:r>
            <a:r>
              <a:rPr lang="en-US" sz="1050" i="1" err="1">
                <a:solidFill>
                  <a:srgbClr val="5B6575"/>
                </a:solidFill>
                <a:latin typeface="Calibri" pitchFamily="34" charset="0"/>
                <a:ea typeface="Calibri" pitchFamily="34" charset="-122"/>
                <a:cs typeface="Calibri" pitchFamily="34" charset="-120"/>
              </a:rPr>
              <a:t>Aktivitäten</a:t>
            </a:r>
            <a:r>
              <a:rPr lang="en-US" sz="1050" i="1">
                <a:solidFill>
                  <a:srgbClr val="5B6575"/>
                </a:solidFill>
                <a:latin typeface="Calibri" pitchFamily="34" charset="0"/>
                <a:ea typeface="Calibri" pitchFamily="34" charset="-122"/>
                <a:cs typeface="Calibri" pitchFamily="34" charset="-120"/>
              </a:rPr>
              <a:t>)</a:t>
            </a:r>
            <a:endParaRPr lang="en-US" sz="1050"/>
          </a:p>
        </p:txBody>
      </p:sp>
      <p:sp>
        <p:nvSpPr>
          <p:cNvPr id="29" name="Text 27"/>
          <p:cNvSpPr/>
          <p:nvPr/>
        </p:nvSpPr>
        <p:spPr>
          <a:xfrm>
            <a:off x="502920" y="5943600"/>
            <a:ext cx="11155680" cy="457200"/>
          </a:xfrm>
          <a:prstGeom prst="rect">
            <a:avLst/>
          </a:prstGeom>
          <a:noFill/>
          <a:ln/>
        </p:spPr>
        <p:txBody>
          <a:bodyPr wrap="square" lIns="0" tIns="0" rIns="0" bIns="0" rtlCol="0" anchor="ctr"/>
          <a:lstStyle/>
          <a:p>
            <a:pPr marL="0" indent="0">
              <a:buNone/>
            </a:pPr>
            <a:r>
              <a:rPr lang="en-US" sz="1450" b="1">
                <a:solidFill>
                  <a:srgbClr val="1C2434"/>
                </a:solidFill>
                <a:latin typeface="Cambria" pitchFamily="34" charset="0"/>
                <a:ea typeface="Cambria" pitchFamily="34" charset="-122"/>
                <a:cs typeface="Cambria" pitchFamily="34" charset="-120"/>
              </a:rPr>
              <a:t>Bei ChatGPT wies fast jedes direkt gezeichnete Bild mindestens eine Abweichung auf – vom Detail bis zum fachlichen Fehler.</a:t>
            </a:r>
            <a:endParaRPr lang="en-US" sz="1450"/>
          </a:p>
        </p:txBody>
      </p:sp>
      <p:sp>
        <p:nvSpPr>
          <p:cNvPr id="30" name="Text 28"/>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9</a:t>
            </a:r>
            <a:endParaRPr lang="en-US" sz="1000"/>
          </a:p>
        </p:txBody>
      </p:sp>
      <p:sp>
        <p:nvSpPr>
          <p:cNvPr id="31" name="Text 29"/>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4 · KERNBEFUNDE — KI-VERGLEICH</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Der Unterschied liegt zwischen den Formaten, nicht zwischen den KIs</a:t>
            </a:r>
            <a:endParaRPr lang="en-US" sz="3000"/>
          </a:p>
        </p:txBody>
      </p:sp>
      <p:sp>
        <p:nvSpPr>
          <p:cNvPr id="4" name="Shape 2"/>
          <p:cNvSpPr/>
          <p:nvPr/>
        </p:nvSpPr>
        <p:spPr>
          <a:xfrm>
            <a:off x="502920" y="1783080"/>
            <a:ext cx="5486400" cy="3977640"/>
          </a:xfrm>
          <a:prstGeom prst="roundRect">
            <a:avLst>
              <a:gd name="adj" fmla="val 2759"/>
            </a:avLst>
          </a:prstGeom>
          <a:solidFill>
            <a:srgbClr val="F3F6FB"/>
          </a:solidFill>
          <a:ln w="12700">
            <a:solidFill>
              <a:srgbClr val="D9E1EE"/>
            </a:solidFill>
            <a:prstDash val="solid"/>
          </a:ln>
        </p:spPr>
        <p:txBody>
          <a:bodyPr/>
          <a:lstStyle/>
          <a:p>
            <a:endParaRPr lang="de-DE"/>
          </a:p>
        </p:txBody>
      </p:sp>
      <p:sp>
        <p:nvSpPr>
          <p:cNvPr id="5" name="Text 3"/>
          <p:cNvSpPr/>
          <p:nvPr/>
        </p:nvSpPr>
        <p:spPr>
          <a:xfrm>
            <a:off x="777240" y="1965960"/>
            <a:ext cx="4937760" cy="411480"/>
          </a:xfrm>
          <a:prstGeom prst="rect">
            <a:avLst/>
          </a:prstGeom>
          <a:noFill/>
          <a:ln/>
        </p:spPr>
        <p:txBody>
          <a:bodyPr wrap="square" lIns="0" tIns="0" rIns="0" bIns="0" rtlCol="0" anchor="ctr"/>
          <a:lstStyle/>
          <a:p>
            <a:pPr marL="0" indent="0">
              <a:buNone/>
            </a:pPr>
            <a:r>
              <a:rPr lang="en-US" sz="1900" b="1">
                <a:solidFill>
                  <a:srgbClr val="1C2434"/>
                </a:solidFill>
                <a:latin typeface="Cambria" pitchFamily="34" charset="0"/>
                <a:ea typeface="Cambria" pitchFamily="34" charset="-122"/>
                <a:cs typeface="Cambria" pitchFamily="34" charset="-120"/>
              </a:rPr>
              <a:t>Claude</a:t>
            </a:r>
            <a:endParaRPr lang="en-US" sz="1900"/>
          </a:p>
        </p:txBody>
      </p:sp>
      <p:sp>
        <p:nvSpPr>
          <p:cNvPr id="6" name="Text 4"/>
          <p:cNvSpPr/>
          <p:nvPr/>
        </p:nvSpPr>
        <p:spPr>
          <a:xfrm>
            <a:off x="777240" y="2450592"/>
            <a:ext cx="4937760" cy="256032"/>
          </a:xfrm>
          <a:prstGeom prst="rect">
            <a:avLst/>
          </a:prstGeom>
          <a:noFill/>
          <a:ln/>
        </p:spPr>
        <p:txBody>
          <a:bodyPr wrap="square" lIns="0" tIns="0" rIns="0" bIns="0" rtlCol="0" anchor="ctr"/>
          <a:lstStyle/>
          <a:p>
            <a:pPr marL="0" indent="0">
              <a:buNone/>
            </a:pPr>
            <a:r>
              <a:rPr lang="en-US" sz="1100" b="1" kern="0" spc="200">
                <a:solidFill>
                  <a:srgbClr val="1F7A4D"/>
                </a:solidFill>
                <a:latin typeface="Calibri" pitchFamily="34" charset="0"/>
                <a:ea typeface="Calibri" pitchFamily="34" charset="-122"/>
                <a:cs typeface="Calibri" pitchFamily="34" charset="-120"/>
              </a:rPr>
              <a:t>STÄRKEN</a:t>
            </a:r>
            <a:endParaRPr lang="en-US" sz="1100"/>
          </a:p>
        </p:txBody>
      </p:sp>
      <p:sp>
        <p:nvSpPr>
          <p:cNvPr id="7" name="Text 5"/>
          <p:cNvSpPr/>
          <p:nvPr/>
        </p:nvSpPr>
        <p:spPr>
          <a:xfrm>
            <a:off x="777240" y="2743200"/>
            <a:ext cx="4983480" cy="1417320"/>
          </a:xfrm>
          <a:prstGeom prst="rect">
            <a:avLst/>
          </a:prstGeom>
          <a:noFill/>
          <a:ln/>
        </p:spPr>
        <p:txBody>
          <a:bodyPr wrap="square" lIns="0" tIns="0" rIns="0" bIns="0" rtlCol="0" anchor="t"/>
          <a:lstStyle/>
          <a:p>
            <a:pPr marL="152400" indent="-152400">
              <a:lnSpc>
                <a:spcPct val="105000"/>
              </a:lnSpc>
              <a:spcAft>
                <a:spcPts val="600"/>
              </a:spcAft>
              <a:buSzPct val="100000"/>
              <a:buChar char="•"/>
            </a:pPr>
            <a:r>
              <a:rPr lang="en-US" sz="1250">
                <a:solidFill>
                  <a:srgbClr val="1C2434"/>
                </a:solidFill>
                <a:latin typeface="Calibri" pitchFamily="34" charset="0"/>
                <a:ea typeface="Calibri" pitchFamily="34" charset="-122"/>
                <a:cs typeface="Calibri" pitchFamily="34" charset="-120"/>
              </a:rPr>
              <a:t>Fachregeln konsequent als Constraints und Notizen im Modell – z. B. Sitzplatzgrenze und Zentrale-Regel bei EasyRide</a:t>
            </a:r>
            <a:endParaRPr lang="en-US" sz="1250"/>
          </a:p>
          <a:p>
            <a:pPr marL="152400" indent="-152400">
              <a:lnSpc>
                <a:spcPct val="105000"/>
              </a:lnSpc>
              <a:spcAft>
                <a:spcPts val="600"/>
              </a:spcAft>
              <a:buSzPct val="100000"/>
              <a:buChar char="•"/>
            </a:pPr>
            <a:r>
              <a:rPr lang="en-US" sz="1250">
                <a:solidFill>
                  <a:srgbClr val="1C2434"/>
                </a:solidFill>
                <a:latin typeface="Calibri" pitchFamily="34" charset="0"/>
                <a:ea typeface="Calibri" pitchFamily="34" charset="-122"/>
                <a:cs typeface="Calibri" pitchFamily="34" charset="-120"/>
              </a:rPr>
              <a:t>Begriffe bleiben über die Diagrammtypen eines Systems konsistent</a:t>
            </a:r>
            <a:endParaRPr lang="en-US" sz="1250"/>
          </a:p>
        </p:txBody>
      </p:sp>
      <p:sp>
        <p:nvSpPr>
          <p:cNvPr id="8" name="Text 6"/>
          <p:cNvSpPr/>
          <p:nvPr/>
        </p:nvSpPr>
        <p:spPr>
          <a:xfrm>
            <a:off x="777240" y="4206240"/>
            <a:ext cx="4937760" cy="256032"/>
          </a:xfrm>
          <a:prstGeom prst="rect">
            <a:avLst/>
          </a:prstGeom>
          <a:noFill/>
          <a:ln/>
        </p:spPr>
        <p:txBody>
          <a:bodyPr wrap="square" lIns="0" tIns="0" rIns="0" bIns="0" rtlCol="0" anchor="ctr"/>
          <a:lstStyle/>
          <a:p>
            <a:pPr marL="0" indent="0">
              <a:buNone/>
            </a:pPr>
            <a:r>
              <a:rPr lang="en-US" sz="1100" b="1" kern="0" spc="200">
                <a:solidFill>
                  <a:srgbClr val="B23A2E"/>
                </a:solidFill>
                <a:latin typeface="Calibri" pitchFamily="34" charset="0"/>
                <a:ea typeface="Calibri" pitchFamily="34" charset="-122"/>
                <a:cs typeface="Calibri" pitchFamily="34" charset="-120"/>
              </a:rPr>
              <a:t>SCHWÄCHEN</a:t>
            </a:r>
            <a:endParaRPr lang="en-US" sz="1100"/>
          </a:p>
        </p:txBody>
      </p:sp>
      <p:sp>
        <p:nvSpPr>
          <p:cNvPr id="9" name="Text 7"/>
          <p:cNvSpPr/>
          <p:nvPr/>
        </p:nvSpPr>
        <p:spPr>
          <a:xfrm>
            <a:off x="777240" y="4498848"/>
            <a:ext cx="4983480" cy="1188720"/>
          </a:xfrm>
          <a:prstGeom prst="rect">
            <a:avLst/>
          </a:prstGeom>
          <a:noFill/>
          <a:ln/>
        </p:spPr>
        <p:txBody>
          <a:bodyPr wrap="square" lIns="0" tIns="0" rIns="0" bIns="0" rtlCol="0" anchor="t"/>
          <a:lstStyle/>
          <a:p>
            <a:pPr marL="152400" indent="-152400">
              <a:lnSpc>
                <a:spcPct val="105000"/>
              </a:lnSpc>
              <a:spcAft>
                <a:spcPts val="600"/>
              </a:spcAft>
              <a:buSzPct val="100000"/>
              <a:buChar char="•"/>
            </a:pPr>
            <a:r>
              <a:rPr lang="en-US" sz="1250">
                <a:solidFill>
                  <a:srgbClr val="1C2434"/>
                </a:solidFill>
                <a:latin typeface="Calibri" pitchFamily="34" charset="0"/>
                <a:ea typeface="Calibri" pitchFamily="34" charset="-122"/>
                <a:cs typeface="Calibri" pitchFamily="34" charset="-120"/>
              </a:rPr>
              <a:t>Unabhängig gezeichnete Bilder (Sequenzen) verlieren Details – Schleife, Fehlerfall-Verzweigung und Notizen fehlen (s. Muster 4)</a:t>
            </a:r>
            <a:endParaRPr lang="en-US" sz="1250"/>
          </a:p>
          <a:p>
            <a:pPr marL="152400" indent="-152400">
              <a:lnSpc>
                <a:spcPct val="105000"/>
              </a:lnSpc>
              <a:spcAft>
                <a:spcPts val="600"/>
              </a:spcAft>
              <a:buSzPct val="100000"/>
              <a:buChar char="•"/>
            </a:pPr>
            <a:r>
              <a:rPr lang="en-US" sz="1250">
                <a:solidFill>
                  <a:srgbClr val="1C2434"/>
                </a:solidFill>
                <a:latin typeface="Calibri" pitchFamily="34" charset="0"/>
                <a:ea typeface="Calibri" pitchFamily="34" charset="-122"/>
                <a:cs typeface="Calibri" pitchFamily="34" charset="-120"/>
              </a:rPr>
              <a:t>Vereinzelt unbelegte Annahmen („+28 Tage“ bei EasyLib); Auto-Layout der gerenderten Klassendiagramme unübersichtlich</a:t>
            </a:r>
            <a:endParaRPr lang="en-US" sz="1250"/>
          </a:p>
        </p:txBody>
      </p:sp>
      <p:sp>
        <p:nvSpPr>
          <p:cNvPr id="10" name="Shape 8"/>
          <p:cNvSpPr/>
          <p:nvPr/>
        </p:nvSpPr>
        <p:spPr>
          <a:xfrm>
            <a:off x="6190488" y="1783080"/>
            <a:ext cx="5486400" cy="3977640"/>
          </a:xfrm>
          <a:prstGeom prst="roundRect">
            <a:avLst>
              <a:gd name="adj" fmla="val 2759"/>
            </a:avLst>
          </a:prstGeom>
          <a:solidFill>
            <a:srgbClr val="F3F6FB"/>
          </a:solidFill>
          <a:ln w="12700">
            <a:solidFill>
              <a:srgbClr val="D9E1EE"/>
            </a:solidFill>
            <a:prstDash val="solid"/>
          </a:ln>
        </p:spPr>
        <p:txBody>
          <a:bodyPr/>
          <a:lstStyle/>
          <a:p>
            <a:endParaRPr lang="de-DE"/>
          </a:p>
        </p:txBody>
      </p:sp>
      <p:sp>
        <p:nvSpPr>
          <p:cNvPr id="11" name="Text 9"/>
          <p:cNvSpPr/>
          <p:nvPr/>
        </p:nvSpPr>
        <p:spPr>
          <a:xfrm>
            <a:off x="6464808" y="1965960"/>
            <a:ext cx="4937760" cy="411480"/>
          </a:xfrm>
          <a:prstGeom prst="rect">
            <a:avLst/>
          </a:prstGeom>
          <a:noFill/>
          <a:ln/>
        </p:spPr>
        <p:txBody>
          <a:bodyPr wrap="square" lIns="0" tIns="0" rIns="0" bIns="0" rtlCol="0" anchor="ctr"/>
          <a:lstStyle/>
          <a:p>
            <a:pPr marL="0" indent="0">
              <a:buNone/>
            </a:pPr>
            <a:r>
              <a:rPr lang="en-US" sz="1900" b="1">
                <a:solidFill>
                  <a:srgbClr val="1C2434"/>
                </a:solidFill>
                <a:latin typeface="Cambria" pitchFamily="34" charset="0"/>
                <a:ea typeface="Cambria" pitchFamily="34" charset="-122"/>
                <a:cs typeface="Cambria" pitchFamily="34" charset="-120"/>
              </a:rPr>
              <a:t>ChatGPT</a:t>
            </a:r>
            <a:endParaRPr lang="en-US" sz="1900"/>
          </a:p>
        </p:txBody>
      </p:sp>
      <p:sp>
        <p:nvSpPr>
          <p:cNvPr id="12" name="Text 10"/>
          <p:cNvSpPr/>
          <p:nvPr/>
        </p:nvSpPr>
        <p:spPr>
          <a:xfrm>
            <a:off x="6464808" y="2450592"/>
            <a:ext cx="4937760" cy="256032"/>
          </a:xfrm>
          <a:prstGeom prst="rect">
            <a:avLst/>
          </a:prstGeom>
          <a:noFill/>
          <a:ln/>
        </p:spPr>
        <p:txBody>
          <a:bodyPr wrap="square" lIns="0" tIns="0" rIns="0" bIns="0" rtlCol="0" anchor="ctr"/>
          <a:lstStyle/>
          <a:p>
            <a:pPr marL="0" indent="0">
              <a:buNone/>
            </a:pPr>
            <a:r>
              <a:rPr lang="en-US" sz="1100" b="1" kern="0" spc="200">
                <a:solidFill>
                  <a:srgbClr val="1F7A4D"/>
                </a:solidFill>
                <a:latin typeface="Calibri" pitchFamily="34" charset="0"/>
                <a:ea typeface="Calibri" pitchFamily="34" charset="-122"/>
                <a:cs typeface="Calibri" pitchFamily="34" charset="-120"/>
              </a:rPr>
              <a:t>STÄRKEN</a:t>
            </a:r>
            <a:endParaRPr lang="en-US" sz="1100"/>
          </a:p>
        </p:txBody>
      </p:sp>
      <p:sp>
        <p:nvSpPr>
          <p:cNvPr id="13" name="Text 11"/>
          <p:cNvSpPr/>
          <p:nvPr/>
        </p:nvSpPr>
        <p:spPr>
          <a:xfrm>
            <a:off x="6464808" y="2743200"/>
            <a:ext cx="4983480" cy="1417320"/>
          </a:xfrm>
          <a:prstGeom prst="rect">
            <a:avLst/>
          </a:prstGeom>
          <a:noFill/>
          <a:ln/>
        </p:spPr>
        <p:txBody>
          <a:bodyPr wrap="square" lIns="0" tIns="0" rIns="0" bIns="0" rtlCol="0" anchor="t"/>
          <a:lstStyle/>
          <a:p>
            <a:pPr marL="152400" indent="-152400">
              <a:lnSpc>
                <a:spcPct val="105000"/>
              </a:lnSpc>
              <a:spcAft>
                <a:spcPts val="600"/>
              </a:spcAft>
              <a:buSzPct val="100000"/>
              <a:buChar char="•"/>
            </a:pPr>
            <a:r>
              <a:rPr lang="en-US" sz="1250">
                <a:solidFill>
                  <a:srgbClr val="1C2434"/>
                </a:solidFill>
                <a:latin typeface="Calibri" pitchFamily="34" charset="0"/>
                <a:ea typeface="Calibri" pitchFamily="34" charset="-122"/>
                <a:cs typeface="Calibri" pitchFamily="34" charset="-120"/>
              </a:rPr>
              <a:t>PlantUML-Code in allen 12 Zellen korrekt und vollständig – selbst dort, wo das eigene Direktbild fachlich falsch ist</a:t>
            </a:r>
            <a:endParaRPr lang="en-US" sz="1250"/>
          </a:p>
          <a:p>
            <a:pPr marL="152400" indent="-152400">
              <a:lnSpc>
                <a:spcPct val="105000"/>
              </a:lnSpc>
              <a:spcAft>
                <a:spcPts val="600"/>
              </a:spcAft>
              <a:buSzPct val="100000"/>
              <a:buChar char="•"/>
            </a:pPr>
            <a:r>
              <a:rPr lang="en-US" sz="1250">
                <a:solidFill>
                  <a:srgbClr val="1C2434"/>
                </a:solidFill>
                <a:latin typeface="Calibri" pitchFamily="34" charset="0"/>
                <a:ea typeface="Calibri" pitchFamily="34" charset="-122"/>
                <a:cs typeface="Calibri" pitchFamily="34" charset="-120"/>
              </a:rPr>
              <a:t>Gerenderte Diagramme sehr sauber gezeichnet</a:t>
            </a:r>
            <a:endParaRPr lang="en-US" sz="1250"/>
          </a:p>
        </p:txBody>
      </p:sp>
      <p:sp>
        <p:nvSpPr>
          <p:cNvPr id="14" name="Text 12"/>
          <p:cNvSpPr/>
          <p:nvPr/>
        </p:nvSpPr>
        <p:spPr>
          <a:xfrm>
            <a:off x="6464808" y="4206240"/>
            <a:ext cx="4937760" cy="256032"/>
          </a:xfrm>
          <a:prstGeom prst="rect">
            <a:avLst/>
          </a:prstGeom>
          <a:noFill/>
          <a:ln/>
        </p:spPr>
        <p:txBody>
          <a:bodyPr wrap="square" lIns="0" tIns="0" rIns="0" bIns="0" rtlCol="0" anchor="ctr"/>
          <a:lstStyle/>
          <a:p>
            <a:pPr marL="0" indent="0">
              <a:buNone/>
            </a:pPr>
            <a:r>
              <a:rPr lang="en-US" sz="1100" b="1" kern="0" spc="200">
                <a:solidFill>
                  <a:srgbClr val="B23A2E"/>
                </a:solidFill>
                <a:latin typeface="Calibri" pitchFamily="34" charset="0"/>
                <a:ea typeface="Calibri" pitchFamily="34" charset="-122"/>
                <a:cs typeface="Calibri" pitchFamily="34" charset="-120"/>
              </a:rPr>
              <a:t>SCHWÄCHEN</a:t>
            </a:r>
            <a:endParaRPr lang="en-US" sz="1100"/>
          </a:p>
        </p:txBody>
      </p:sp>
      <p:sp>
        <p:nvSpPr>
          <p:cNvPr id="15" name="Text 13"/>
          <p:cNvSpPr/>
          <p:nvPr/>
        </p:nvSpPr>
        <p:spPr>
          <a:xfrm>
            <a:off x="6464808" y="4498848"/>
            <a:ext cx="4983480" cy="1188720"/>
          </a:xfrm>
          <a:prstGeom prst="rect">
            <a:avLst/>
          </a:prstGeom>
          <a:noFill/>
          <a:ln/>
        </p:spPr>
        <p:txBody>
          <a:bodyPr wrap="square" lIns="0" tIns="0" rIns="0" bIns="0" rtlCol="0" anchor="t"/>
          <a:lstStyle/>
          <a:p>
            <a:pPr marL="152400" indent="-152400">
              <a:lnSpc>
                <a:spcPct val="105000"/>
              </a:lnSpc>
              <a:spcAft>
                <a:spcPts val="600"/>
              </a:spcAft>
              <a:buSzPct val="100000"/>
              <a:buChar char="•"/>
            </a:pPr>
            <a:r>
              <a:rPr lang="en-US" sz="1250">
                <a:solidFill>
                  <a:srgbClr val="1C2434"/>
                </a:solidFill>
                <a:latin typeface="Calibri" pitchFamily="34" charset="0"/>
                <a:ea typeface="Calibri" pitchFamily="34" charset="-122"/>
                <a:cs typeface="Calibri" pitchFamily="34" charset="-120"/>
              </a:rPr>
              <a:t>Direkt gezeichnete Bilder fallen regelmäßig ab – von Ungenauigkeiten bis zu fachlichen Fehlern</a:t>
            </a:r>
            <a:endParaRPr lang="en-US" sz="1250"/>
          </a:p>
          <a:p>
            <a:pPr marL="152400" indent="-152400">
              <a:lnSpc>
                <a:spcPct val="105000"/>
              </a:lnSpc>
              <a:spcAft>
                <a:spcPts val="600"/>
              </a:spcAft>
              <a:buSzPct val="100000"/>
              <a:buChar char="•"/>
            </a:pPr>
            <a:r>
              <a:rPr lang="en-US" sz="1250">
                <a:solidFill>
                  <a:srgbClr val="1C2434"/>
                </a:solidFill>
                <a:latin typeface="Calibri" pitchFamily="34" charset="0"/>
                <a:ea typeface="Calibri" pitchFamily="34" charset="-122"/>
                <a:cs typeface="Calibri" pitchFamily="34" charset="-120"/>
              </a:rPr>
              <a:t>Code und Bild zur selben Aufgabe widersprechen sich teils inhaltlich</a:t>
            </a:r>
            <a:endParaRPr lang="en-US" sz="1250"/>
          </a:p>
        </p:txBody>
      </p:sp>
      <p:sp>
        <p:nvSpPr>
          <p:cNvPr id="16" name="Text 14"/>
          <p:cNvSpPr/>
          <p:nvPr/>
        </p:nvSpPr>
        <p:spPr>
          <a:xfrm>
            <a:off x="502920" y="5943600"/>
            <a:ext cx="11155680" cy="457200"/>
          </a:xfrm>
          <a:prstGeom prst="rect">
            <a:avLst/>
          </a:prstGeom>
          <a:noFill/>
          <a:ln/>
        </p:spPr>
        <p:txBody>
          <a:bodyPr wrap="square" lIns="0" tIns="0" rIns="0" bIns="0" rtlCol="0" anchor="ctr"/>
          <a:lstStyle/>
          <a:p>
            <a:pPr marL="0" indent="0">
              <a:buNone/>
            </a:pPr>
            <a:r>
              <a:rPr lang="en-US" sz="1450" b="1">
                <a:solidFill>
                  <a:srgbClr val="1C2434"/>
                </a:solidFill>
                <a:latin typeface="Cambria" pitchFamily="34" charset="0"/>
                <a:ea typeface="Cambria" pitchFamily="34" charset="-122"/>
                <a:cs typeface="Cambria" pitchFamily="34" charset="-120"/>
              </a:rPr>
              <a:t>Beim Code: Gleichstand. Beim Bild: </a:t>
            </a:r>
            <a:r>
              <a:rPr lang="en-US" sz="1450" b="1" err="1">
                <a:solidFill>
                  <a:srgbClr val="1C2434"/>
                </a:solidFill>
                <a:latin typeface="Cambria" pitchFamily="34" charset="0"/>
                <a:ea typeface="Cambria" pitchFamily="34" charset="-122"/>
                <a:cs typeface="Cambria" pitchFamily="34" charset="-120"/>
              </a:rPr>
              <a:t>verlieren</a:t>
            </a:r>
            <a:r>
              <a:rPr lang="en-US" sz="1450" b="1">
                <a:solidFill>
                  <a:srgbClr val="1C2434"/>
                </a:solidFill>
                <a:latin typeface="Cambria" pitchFamily="34" charset="0"/>
                <a:ea typeface="Cambria" pitchFamily="34" charset="-122"/>
                <a:cs typeface="Cambria" pitchFamily="34" charset="-120"/>
              </a:rPr>
              <a:t> </a:t>
            </a:r>
            <a:r>
              <a:rPr lang="en-US" sz="1450" b="1" err="1">
                <a:solidFill>
                  <a:srgbClr val="1C2434"/>
                </a:solidFill>
                <a:latin typeface="Cambria" pitchFamily="34" charset="0"/>
                <a:ea typeface="Cambria" pitchFamily="34" charset="-122"/>
                <a:cs typeface="Cambria" pitchFamily="34" charset="-120"/>
              </a:rPr>
              <a:t>beide</a:t>
            </a:r>
            <a:endParaRPr lang="en-US" sz="1450"/>
          </a:p>
        </p:txBody>
      </p:sp>
      <p:sp>
        <p:nvSpPr>
          <p:cNvPr id="17" name="Text 15"/>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10</a:t>
            </a:r>
            <a:endParaRPr lang="en-US" sz="1000"/>
          </a:p>
        </p:txBody>
      </p:sp>
      <p:sp>
        <p:nvSpPr>
          <p:cNvPr id="18" name="Text 16"/>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extLst>
      <p:ext uri="{BB962C8B-B14F-4D97-AF65-F5344CB8AC3E}">
        <p14:creationId xmlns:p14="http://schemas.microsoft.com/office/powerpoint/2010/main" val="25056251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4 · KERNBEFUNDE — SYSTEME</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Im Code kaum Unterschiede – beim Zeichnen schon</a:t>
            </a:r>
            <a:endParaRPr lang="en-US" sz="3000"/>
          </a:p>
        </p:txBody>
      </p:sp>
      <p:sp>
        <p:nvSpPr>
          <p:cNvPr id="4" name="Text 2"/>
          <p:cNvSpPr/>
          <p:nvPr/>
        </p:nvSpPr>
        <p:spPr>
          <a:xfrm>
            <a:off x="502920" y="1481328"/>
            <a:ext cx="11155680" cy="685800"/>
          </a:xfrm>
          <a:prstGeom prst="rect">
            <a:avLst/>
          </a:prstGeom>
          <a:noFill/>
          <a:ln/>
        </p:spPr>
        <p:txBody>
          <a:bodyPr wrap="square" lIns="0" tIns="0" rIns="0" bIns="0" rtlCol="0" anchor="t"/>
          <a:lstStyle/>
          <a:p>
            <a:pPr marL="0" indent="0">
              <a:lnSpc>
                <a:spcPct val="112000"/>
              </a:lnSpc>
              <a:buNone/>
            </a:pPr>
            <a:r>
              <a:rPr lang="en-US" sz="1400">
                <a:solidFill>
                  <a:srgbClr val="1C2434"/>
                </a:solidFill>
                <a:latin typeface="Calibri" pitchFamily="34" charset="0"/>
                <a:ea typeface="Calibri" pitchFamily="34" charset="-122"/>
                <a:cs typeface="Calibri" pitchFamily="34" charset="-120"/>
              </a:rPr>
              <a:t>EasyRide, EasyScoot und EasyLib werden im PlantUML-Code durchweg auf hohem Niveau modelliert. Die Unterschiede zeigen sich erst in den direkt gezeichneten Bildern – und je komplexer das System, desto deutlicher.</a:t>
            </a:r>
            <a:endParaRPr lang="en-US" sz="1400"/>
          </a:p>
        </p:txBody>
      </p:sp>
      <p:sp>
        <p:nvSpPr>
          <p:cNvPr id="5" name="Shape 3"/>
          <p:cNvSpPr/>
          <p:nvPr/>
        </p:nvSpPr>
        <p:spPr>
          <a:xfrm>
            <a:off x="502920" y="2331720"/>
            <a:ext cx="11173968" cy="1078992"/>
          </a:xfrm>
          <a:prstGeom prst="roundRect">
            <a:avLst>
              <a:gd name="adj" fmla="val 8475"/>
            </a:avLst>
          </a:prstGeom>
          <a:solidFill>
            <a:srgbClr val="F3F6FB"/>
          </a:solidFill>
          <a:ln w="12700">
            <a:solidFill>
              <a:srgbClr val="D9E1EE"/>
            </a:solidFill>
            <a:prstDash val="solid"/>
          </a:ln>
        </p:spPr>
        <p:txBody>
          <a:bodyPr/>
          <a:lstStyle/>
          <a:p>
            <a:endParaRPr lang="de-DE"/>
          </a:p>
        </p:txBody>
      </p:sp>
      <p:sp>
        <p:nvSpPr>
          <p:cNvPr id="6" name="Text 4"/>
          <p:cNvSpPr/>
          <p:nvPr/>
        </p:nvSpPr>
        <p:spPr>
          <a:xfrm>
            <a:off x="777240" y="2441448"/>
            <a:ext cx="2651760" cy="868680"/>
          </a:xfrm>
          <a:prstGeom prst="rect">
            <a:avLst/>
          </a:prstGeom>
          <a:noFill/>
          <a:ln/>
        </p:spPr>
        <p:txBody>
          <a:bodyPr wrap="square" lIns="0" tIns="0" rIns="0" bIns="0" rtlCol="0" anchor="ctr"/>
          <a:lstStyle/>
          <a:p>
            <a:pPr marL="0" indent="0">
              <a:lnSpc>
                <a:spcPct val="105000"/>
              </a:lnSpc>
              <a:buNone/>
            </a:pPr>
            <a:r>
              <a:rPr lang="en-US" sz="1500" b="1">
                <a:solidFill>
                  <a:srgbClr val="3E5FA3"/>
                </a:solidFill>
                <a:latin typeface="Cambria" pitchFamily="34" charset="0"/>
                <a:ea typeface="Cambria" pitchFamily="34" charset="-122"/>
                <a:cs typeface="Cambria" pitchFamily="34" charset="-120"/>
              </a:rPr>
              <a:t>Struktur schlägt Umfang</a:t>
            </a:r>
            <a:endParaRPr lang="en-US" sz="1500"/>
          </a:p>
        </p:txBody>
      </p:sp>
      <p:sp>
        <p:nvSpPr>
          <p:cNvPr id="7" name="Text 5"/>
          <p:cNvSpPr/>
          <p:nvPr/>
        </p:nvSpPr>
        <p:spPr>
          <a:xfrm>
            <a:off x="3566160" y="2423160"/>
            <a:ext cx="7863840" cy="914400"/>
          </a:xfrm>
          <a:prstGeom prst="rect">
            <a:avLst/>
          </a:prstGeom>
          <a:noFill/>
          <a:ln/>
        </p:spPr>
        <p:txBody>
          <a:bodyPr wrap="square" lIns="0" tIns="0" rIns="0" bIns="0" rtlCol="0" anchor="ctr"/>
          <a:lstStyle/>
          <a:p>
            <a:pPr>
              <a:lnSpc>
                <a:spcPct val="110000"/>
              </a:lnSpc>
            </a:pPr>
            <a:r>
              <a:rPr lang="en-US" sz="1250" err="1">
                <a:solidFill>
                  <a:srgbClr val="1C2434"/>
                </a:solidFill>
                <a:latin typeface="Calibri"/>
                <a:ea typeface="Calibri"/>
                <a:cs typeface="Calibri"/>
              </a:rPr>
              <a:t>EasyRide</a:t>
            </a:r>
            <a:r>
              <a:rPr lang="en-US" sz="1250">
                <a:solidFill>
                  <a:srgbClr val="1C2434"/>
                </a:solidFill>
                <a:latin typeface="Calibri"/>
                <a:ea typeface="Calibri"/>
                <a:cs typeface="Calibri"/>
              </a:rPr>
              <a:t> liefert das </a:t>
            </a:r>
            <a:r>
              <a:rPr lang="en-US" sz="1250" err="1">
                <a:solidFill>
                  <a:srgbClr val="1C2434"/>
                </a:solidFill>
                <a:latin typeface="Calibri"/>
                <a:ea typeface="Calibri"/>
                <a:cs typeface="Calibri"/>
              </a:rPr>
              <a:t>beste</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Ergebnis</a:t>
            </a:r>
            <a:r>
              <a:rPr lang="en-US" sz="1250">
                <a:solidFill>
                  <a:srgbClr val="1C2434"/>
                </a:solidFill>
                <a:latin typeface="Calibri"/>
                <a:ea typeface="Calibri"/>
                <a:cs typeface="Calibri"/>
              </a:rPr>
              <a:t>: Die </a:t>
            </a:r>
            <a:r>
              <a:rPr lang="en-US" sz="1250" err="1">
                <a:solidFill>
                  <a:srgbClr val="1C2434"/>
                </a:solidFill>
                <a:latin typeface="Calibri"/>
                <a:ea typeface="Calibri"/>
                <a:cs typeface="Calibri"/>
              </a:rPr>
              <a:t>abschließenden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Leistungslisten</a:t>
            </a:r>
            <a:r>
              <a:rPr lang="en-US" sz="1250">
                <a:solidFill>
                  <a:srgbClr val="1C2434"/>
                </a:solidFill>
                <a:latin typeface="Calibri"/>
                <a:ea typeface="Calibri"/>
                <a:cs typeface="Calibri"/>
              </a:rPr>
              <a:t> für Kunde und Fahrer </a:t>
            </a:r>
            <a:r>
              <a:rPr lang="en-US" sz="1250" err="1">
                <a:solidFill>
                  <a:srgbClr val="1C2434"/>
                </a:solidFill>
                <a:latin typeface="Calibri"/>
                <a:ea typeface="Calibri"/>
                <a:cs typeface="Calibri"/>
              </a:rPr>
              <a:t>führen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beide</a:t>
            </a:r>
            <a:r>
              <a:rPr lang="en-US" sz="1250">
                <a:solidFill>
                  <a:srgbClr val="1C2434"/>
                </a:solidFill>
                <a:latin typeface="Calibri"/>
                <a:ea typeface="Calibri"/>
                <a:cs typeface="Calibri"/>
              </a:rPr>
              <a:t> KIs </a:t>
            </a:r>
            <a:r>
              <a:rPr lang="en-US" sz="1250" err="1">
                <a:solidFill>
                  <a:srgbClr val="1C2434"/>
                </a:solidFill>
                <a:latin typeface="Calibri"/>
                <a:ea typeface="Calibri"/>
                <a:cs typeface="Calibri"/>
              </a:rPr>
              <a:t>exakt</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zu</a:t>
            </a:r>
            <a:r>
              <a:rPr lang="en-US" sz="1250">
                <a:solidFill>
                  <a:srgbClr val="1C2434"/>
                </a:solidFill>
                <a:latin typeface="Calibri"/>
                <a:ea typeface="Calibri"/>
                <a:cs typeface="Calibri"/>
              </a:rPr>
              <a:t> den </a:t>
            </a:r>
            <a:r>
              <a:rPr lang="en-US" sz="1250" err="1">
                <a:solidFill>
                  <a:srgbClr val="1C2434"/>
                </a:solidFill>
                <a:latin typeface="Calibri"/>
                <a:ea typeface="Calibri"/>
                <a:cs typeface="Calibri"/>
              </a:rPr>
              <a:t>fünf</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geforderten</a:t>
            </a:r>
            <a:r>
              <a:rPr lang="en-US" sz="1250">
                <a:solidFill>
                  <a:srgbClr val="1C2434"/>
                </a:solidFill>
                <a:latin typeface="Calibri"/>
                <a:ea typeface="Calibri"/>
                <a:cs typeface="Calibri"/>
              </a:rPr>
              <a:t> Use Cases.</a:t>
            </a:r>
            <a:endParaRPr lang="en-US" sz="1250">
              <a:latin typeface="Calibri"/>
              <a:ea typeface="Calibri"/>
              <a:cs typeface="Calibri"/>
            </a:endParaRPr>
          </a:p>
        </p:txBody>
      </p:sp>
      <p:sp>
        <p:nvSpPr>
          <p:cNvPr id="8" name="Shape 6"/>
          <p:cNvSpPr/>
          <p:nvPr/>
        </p:nvSpPr>
        <p:spPr>
          <a:xfrm>
            <a:off x="502920" y="3593592"/>
            <a:ext cx="11173968" cy="1078992"/>
          </a:xfrm>
          <a:prstGeom prst="roundRect">
            <a:avLst>
              <a:gd name="adj" fmla="val 8475"/>
            </a:avLst>
          </a:prstGeom>
          <a:solidFill>
            <a:srgbClr val="F3F6FB"/>
          </a:solidFill>
          <a:ln w="12700">
            <a:solidFill>
              <a:srgbClr val="D9E1EE"/>
            </a:solidFill>
            <a:prstDash val="solid"/>
          </a:ln>
        </p:spPr>
        <p:txBody>
          <a:bodyPr/>
          <a:lstStyle/>
          <a:p>
            <a:endParaRPr lang="de-DE"/>
          </a:p>
        </p:txBody>
      </p:sp>
      <p:sp>
        <p:nvSpPr>
          <p:cNvPr id="9" name="Text 7"/>
          <p:cNvSpPr/>
          <p:nvPr/>
        </p:nvSpPr>
        <p:spPr>
          <a:xfrm>
            <a:off x="777240" y="3703320"/>
            <a:ext cx="2651760" cy="868680"/>
          </a:xfrm>
          <a:prstGeom prst="rect">
            <a:avLst/>
          </a:prstGeom>
          <a:noFill/>
          <a:ln/>
        </p:spPr>
        <p:txBody>
          <a:bodyPr wrap="square" lIns="0" tIns="0" rIns="0" bIns="0" rtlCol="0" anchor="ctr"/>
          <a:lstStyle/>
          <a:p>
            <a:pPr marL="0" indent="0">
              <a:lnSpc>
                <a:spcPct val="105000"/>
              </a:lnSpc>
              <a:buNone/>
            </a:pPr>
            <a:r>
              <a:rPr lang="en-US" sz="1500" b="1">
                <a:solidFill>
                  <a:srgbClr val="3E5FA3"/>
                </a:solidFill>
                <a:latin typeface="Cambria" pitchFamily="34" charset="0"/>
                <a:ea typeface="Cambria" pitchFamily="34" charset="-122"/>
                <a:cs typeface="Cambria" pitchFamily="34" charset="-120"/>
              </a:rPr>
              <a:t>Komplexität wandert</a:t>
            </a:r>
            <a:endParaRPr lang="en-US" sz="1500"/>
          </a:p>
        </p:txBody>
      </p:sp>
      <p:sp>
        <p:nvSpPr>
          <p:cNvPr id="10" name="Text 8"/>
          <p:cNvSpPr/>
          <p:nvPr/>
        </p:nvSpPr>
        <p:spPr>
          <a:xfrm>
            <a:off x="3566160" y="3685032"/>
            <a:ext cx="7863840" cy="914400"/>
          </a:xfrm>
          <a:prstGeom prst="rect">
            <a:avLst/>
          </a:prstGeom>
          <a:noFill/>
          <a:ln/>
        </p:spPr>
        <p:txBody>
          <a:bodyPr wrap="square" lIns="0" tIns="0" rIns="0" bIns="0" rtlCol="0" anchor="ctr"/>
          <a:lstStyle/>
          <a:p>
            <a:pPr marL="0" indent="0">
              <a:lnSpc>
                <a:spcPct val="110000"/>
              </a:lnSpc>
              <a:buNone/>
            </a:pPr>
            <a:r>
              <a:rPr lang="en-US" sz="1250">
                <a:solidFill>
                  <a:srgbClr val="1C2434"/>
                </a:solidFill>
                <a:latin typeface="Calibri" pitchFamily="34" charset="0"/>
                <a:ea typeface="Calibri" pitchFamily="34" charset="-122"/>
                <a:cs typeface="Calibri" pitchFamily="34" charset="-120"/>
              </a:rPr>
              <a:t>Bei EasyRide fordert das Beziehungsgeflecht aus Haltepunkten und Routen das Klassendiagramm heraus. Bei EasyScoot und EasyLib belasten fünf Akteure und viele Use Cases die Use-Case- und Aktivitätsdiagramme – genau dort entstehen die Bildfehler.</a:t>
            </a:r>
            <a:endParaRPr lang="en-US" sz="1250"/>
          </a:p>
        </p:txBody>
      </p:sp>
      <p:sp>
        <p:nvSpPr>
          <p:cNvPr id="11" name="Shape 9"/>
          <p:cNvSpPr/>
          <p:nvPr/>
        </p:nvSpPr>
        <p:spPr>
          <a:xfrm>
            <a:off x="502920" y="4855464"/>
            <a:ext cx="11173968" cy="1078992"/>
          </a:xfrm>
          <a:prstGeom prst="roundRect">
            <a:avLst>
              <a:gd name="adj" fmla="val 8475"/>
            </a:avLst>
          </a:prstGeom>
          <a:solidFill>
            <a:srgbClr val="F3F6FB"/>
          </a:solidFill>
          <a:ln w="12700">
            <a:solidFill>
              <a:srgbClr val="D9E1EE"/>
            </a:solidFill>
            <a:prstDash val="solid"/>
          </a:ln>
        </p:spPr>
        <p:txBody>
          <a:bodyPr/>
          <a:lstStyle/>
          <a:p>
            <a:endParaRPr lang="de-DE"/>
          </a:p>
        </p:txBody>
      </p:sp>
      <p:sp>
        <p:nvSpPr>
          <p:cNvPr id="12" name="Text 10"/>
          <p:cNvSpPr/>
          <p:nvPr/>
        </p:nvSpPr>
        <p:spPr>
          <a:xfrm>
            <a:off x="777240" y="4965192"/>
            <a:ext cx="2651760" cy="868680"/>
          </a:xfrm>
          <a:prstGeom prst="rect">
            <a:avLst/>
          </a:prstGeom>
          <a:noFill/>
          <a:ln/>
        </p:spPr>
        <p:txBody>
          <a:bodyPr wrap="square" lIns="0" tIns="0" rIns="0" bIns="0" rtlCol="0" anchor="ctr"/>
          <a:lstStyle/>
          <a:p>
            <a:pPr>
              <a:lnSpc>
                <a:spcPct val="105000"/>
              </a:lnSpc>
            </a:pPr>
            <a:r>
              <a:rPr lang="en-US" sz="1500" b="1">
                <a:solidFill>
                  <a:srgbClr val="3E5FA3"/>
                </a:solidFill>
                <a:latin typeface="Cambria"/>
                <a:ea typeface="Cambria"/>
                <a:cs typeface="Cambria" pitchFamily="34" charset="-120"/>
              </a:rPr>
              <a:t>Kein </a:t>
            </a:r>
            <a:r>
              <a:rPr lang="en-US" sz="1500" b="1" err="1">
                <a:solidFill>
                  <a:srgbClr val="3E5FA3"/>
                </a:solidFill>
                <a:latin typeface="Cambria"/>
                <a:ea typeface="Cambria"/>
                <a:cs typeface="Cambria" pitchFamily="34" charset="-120"/>
              </a:rPr>
              <a:t>Domäneneffekt</a:t>
            </a:r>
            <a:endParaRPr lang="en-US" sz="1500" b="1" err="1">
              <a:solidFill>
                <a:srgbClr val="3E5FA3"/>
              </a:solidFill>
              <a:ea typeface="+mn-lt"/>
              <a:cs typeface="+mn-lt"/>
            </a:endParaRPr>
          </a:p>
        </p:txBody>
      </p:sp>
      <p:sp>
        <p:nvSpPr>
          <p:cNvPr id="13" name="Text 11"/>
          <p:cNvSpPr/>
          <p:nvPr/>
        </p:nvSpPr>
        <p:spPr>
          <a:xfrm>
            <a:off x="3566160" y="4946904"/>
            <a:ext cx="7863840" cy="914400"/>
          </a:xfrm>
          <a:prstGeom prst="rect">
            <a:avLst/>
          </a:prstGeom>
          <a:noFill/>
          <a:ln/>
        </p:spPr>
        <p:txBody>
          <a:bodyPr wrap="square" lIns="0" tIns="0" rIns="0" bIns="0" rtlCol="0" anchor="ctr"/>
          <a:lstStyle/>
          <a:p>
            <a:pPr>
              <a:lnSpc>
                <a:spcPct val="110000"/>
              </a:lnSpc>
            </a:pPr>
            <a:r>
              <a:rPr lang="en-US" sz="1250" err="1">
                <a:solidFill>
                  <a:srgbClr val="1C2434"/>
                </a:solidFill>
                <a:latin typeface="Calibri"/>
                <a:ea typeface="Calibri"/>
                <a:cs typeface="Calibri"/>
              </a:rPr>
              <a:t>Verleihsystem</a:t>
            </a:r>
            <a:r>
              <a:rPr lang="en-US" sz="1250">
                <a:solidFill>
                  <a:srgbClr val="1C2434"/>
                </a:solidFill>
                <a:latin typeface="Calibri"/>
                <a:ea typeface="Calibri"/>
                <a:cs typeface="Calibri"/>
              </a:rPr>
              <a:t> und </a:t>
            </a:r>
            <a:r>
              <a:rPr lang="en-US" sz="1250" err="1">
                <a:solidFill>
                  <a:srgbClr val="1C2434"/>
                </a:solidFill>
                <a:latin typeface="Calibri"/>
                <a:ea typeface="Calibri"/>
                <a:cs typeface="Calibri"/>
              </a:rPr>
              <a:t>Bibliothek</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schneiden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praktisch</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gleich</a:t>
            </a:r>
            <a:r>
              <a:rPr lang="en-US" sz="1250">
                <a:solidFill>
                  <a:srgbClr val="1C2434"/>
                </a:solidFill>
                <a:latin typeface="Calibri"/>
                <a:ea typeface="Calibri"/>
                <a:cs typeface="Calibri"/>
              </a:rPr>
              <a:t> ab. </a:t>
            </a:r>
            <a:r>
              <a:rPr lang="en-US" sz="1300" err="1">
                <a:solidFill>
                  <a:srgbClr val="1C2434"/>
                </a:solidFill>
                <a:latin typeface="Calibri"/>
                <a:ea typeface="Calibri"/>
                <a:cs typeface="Calibri"/>
              </a:rPr>
              <a:t>Unterschiede</a:t>
            </a:r>
            <a:r>
              <a:rPr lang="en-US" sz="1300">
                <a:solidFill>
                  <a:srgbClr val="1C2434"/>
                </a:solidFill>
                <a:latin typeface="Calibri"/>
                <a:ea typeface="Calibri"/>
                <a:cs typeface="Calibri"/>
              </a:rPr>
              <a:t> </a:t>
            </a:r>
            <a:r>
              <a:rPr lang="en-US" sz="1300" err="1">
                <a:solidFill>
                  <a:srgbClr val="1C2434"/>
                </a:solidFill>
                <a:latin typeface="Calibri"/>
                <a:ea typeface="Calibri"/>
                <a:cs typeface="Calibri"/>
              </a:rPr>
              <a:t>zeigen</a:t>
            </a:r>
            <a:r>
              <a:rPr lang="en-US" sz="1300">
                <a:solidFill>
                  <a:srgbClr val="1C2434"/>
                </a:solidFill>
                <a:latin typeface="Calibri"/>
                <a:ea typeface="Calibri"/>
                <a:cs typeface="Calibri"/>
              </a:rPr>
              <a:t> sich </a:t>
            </a:r>
            <a:r>
              <a:rPr lang="en-US" sz="1300" err="1">
                <a:solidFill>
                  <a:srgbClr val="1C2434"/>
                </a:solidFill>
                <a:latin typeface="Calibri"/>
                <a:ea typeface="Calibri"/>
                <a:cs typeface="Calibri"/>
              </a:rPr>
              <a:t>bei</a:t>
            </a:r>
            <a:r>
              <a:rPr lang="en-US" sz="1300">
                <a:solidFill>
                  <a:srgbClr val="1C2434"/>
                </a:solidFill>
                <a:latin typeface="Calibri"/>
                <a:ea typeface="Calibri"/>
                <a:cs typeface="Calibri"/>
              </a:rPr>
              <a:t> </a:t>
            </a:r>
            <a:r>
              <a:rPr lang="en-US" sz="1300" err="1">
                <a:solidFill>
                  <a:srgbClr val="1C2434"/>
                </a:solidFill>
                <a:latin typeface="Calibri"/>
                <a:ea typeface="Calibri"/>
                <a:cs typeface="Calibri"/>
              </a:rPr>
              <a:t>Modellstruktur</a:t>
            </a:r>
            <a:r>
              <a:rPr lang="en-US" sz="1300">
                <a:solidFill>
                  <a:srgbClr val="1C2434"/>
                </a:solidFill>
                <a:latin typeface="Calibri"/>
                <a:ea typeface="Calibri"/>
                <a:cs typeface="Calibri"/>
              </a:rPr>
              <a:t> und </a:t>
            </a:r>
            <a:r>
              <a:rPr lang="en-US" sz="1300" err="1">
                <a:solidFill>
                  <a:srgbClr val="1C2434"/>
                </a:solidFill>
                <a:latin typeface="Calibri"/>
                <a:ea typeface="Calibri"/>
                <a:cs typeface="Calibri"/>
              </a:rPr>
              <a:t>Akteurszahl</a:t>
            </a:r>
            <a:r>
              <a:rPr lang="en-US" sz="1300">
                <a:solidFill>
                  <a:srgbClr val="1C2434"/>
                </a:solidFill>
                <a:latin typeface="Calibri"/>
                <a:ea typeface="Calibri"/>
                <a:cs typeface="Calibri"/>
              </a:rPr>
              <a:t>.</a:t>
            </a:r>
            <a:endParaRPr lang="en-US" sz="1250">
              <a:solidFill>
                <a:srgbClr val="1C2434"/>
              </a:solidFill>
              <a:latin typeface="Calibri"/>
              <a:ea typeface="Calibri"/>
              <a:cs typeface="Calibri"/>
            </a:endParaRPr>
          </a:p>
        </p:txBody>
      </p:sp>
      <p:sp>
        <p:nvSpPr>
          <p:cNvPr id="14" name="Text 12"/>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11</a:t>
            </a:r>
            <a:endParaRPr lang="en-US" sz="1000"/>
          </a:p>
        </p:txBody>
      </p:sp>
      <p:sp>
        <p:nvSpPr>
          <p:cNvPr id="15" name="Text 13"/>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4 · KERNBEFUNDE — DIAGRAMMTYPEN</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Welche Diagramme lassen sich „gut“ zeichnen?</a:t>
            </a:r>
            <a:endParaRPr lang="en-US" sz="3000"/>
          </a:p>
        </p:txBody>
      </p:sp>
      <p:sp>
        <p:nvSpPr>
          <p:cNvPr id="4" name="Shape 2"/>
          <p:cNvSpPr/>
          <p:nvPr/>
        </p:nvSpPr>
        <p:spPr>
          <a:xfrm>
            <a:off x="495663" y="1713411"/>
            <a:ext cx="11168742" cy="860118"/>
          </a:xfrm>
          <a:prstGeom prst="roundRect">
            <a:avLst>
              <a:gd name="adj" fmla="val 9804"/>
            </a:avLst>
          </a:prstGeom>
          <a:solidFill>
            <a:srgbClr val="F3F6FB"/>
          </a:solidFill>
          <a:ln w="12700">
            <a:solidFill>
              <a:srgbClr val="D9E1EE"/>
            </a:solidFill>
            <a:prstDash val="solid"/>
          </a:ln>
        </p:spPr>
        <p:txBody>
          <a:bodyPr/>
          <a:lstStyle/>
          <a:p>
            <a:endParaRPr lang="de-DE"/>
          </a:p>
        </p:txBody>
      </p:sp>
      <p:sp>
        <p:nvSpPr>
          <p:cNvPr id="5" name="Shape 3"/>
          <p:cNvSpPr/>
          <p:nvPr/>
        </p:nvSpPr>
        <p:spPr>
          <a:xfrm>
            <a:off x="749808" y="2057400"/>
            <a:ext cx="201168" cy="201168"/>
          </a:xfrm>
          <a:prstGeom prst="ellipse">
            <a:avLst/>
          </a:prstGeom>
          <a:solidFill>
            <a:srgbClr val="1F7A4D"/>
          </a:solidFill>
          <a:ln/>
        </p:spPr>
        <p:txBody>
          <a:bodyPr/>
          <a:lstStyle/>
          <a:p>
            <a:endParaRPr lang="de-DE"/>
          </a:p>
        </p:txBody>
      </p:sp>
      <p:sp>
        <p:nvSpPr>
          <p:cNvPr id="6" name="Text 4"/>
          <p:cNvSpPr/>
          <p:nvPr/>
        </p:nvSpPr>
        <p:spPr>
          <a:xfrm>
            <a:off x="1097280" y="1764792"/>
            <a:ext cx="2148840" cy="786384"/>
          </a:xfrm>
          <a:prstGeom prst="rect">
            <a:avLst/>
          </a:prstGeom>
          <a:noFill/>
          <a:ln/>
        </p:spPr>
        <p:txBody>
          <a:bodyPr wrap="square" lIns="0" tIns="0" rIns="0" bIns="0" rtlCol="0" anchor="ctr"/>
          <a:lstStyle/>
          <a:p>
            <a:pPr marL="0" indent="0">
              <a:lnSpc>
                <a:spcPct val="100000"/>
              </a:lnSpc>
              <a:buNone/>
            </a:pPr>
            <a:r>
              <a:rPr lang="en-US" sz="1350" b="1">
                <a:solidFill>
                  <a:srgbClr val="1C2434"/>
                </a:solidFill>
                <a:latin typeface="Cambria" pitchFamily="34" charset="0"/>
                <a:ea typeface="Cambria" pitchFamily="34" charset="-122"/>
                <a:cs typeface="Cambria" pitchFamily="34" charset="-120"/>
              </a:rPr>
              <a:t>Aktivitätsdiagramm</a:t>
            </a:r>
            <a:endParaRPr lang="en-US" sz="1350"/>
          </a:p>
        </p:txBody>
      </p:sp>
      <p:sp>
        <p:nvSpPr>
          <p:cNvPr id="7" name="Text 5"/>
          <p:cNvSpPr/>
          <p:nvPr/>
        </p:nvSpPr>
        <p:spPr>
          <a:xfrm>
            <a:off x="3262812" y="1755648"/>
            <a:ext cx="5942147" cy="808446"/>
          </a:xfrm>
          <a:prstGeom prst="rect">
            <a:avLst/>
          </a:prstGeom>
          <a:noFill/>
          <a:ln/>
        </p:spPr>
        <p:txBody>
          <a:bodyPr wrap="square" lIns="0" tIns="0" rIns="0" bIns="0" rtlCol="0" anchor="ctr"/>
          <a:lstStyle/>
          <a:p>
            <a:pPr marL="0" indent="0">
              <a:lnSpc>
                <a:spcPct val="105000"/>
              </a:lnSpc>
              <a:buNone/>
            </a:pPr>
            <a:r>
              <a:rPr lang="en-US" sz="1250">
                <a:solidFill>
                  <a:srgbClr val="1C2434"/>
                </a:solidFill>
                <a:latin typeface="Calibri"/>
                <a:ea typeface="Calibri"/>
                <a:cs typeface="Calibri"/>
              </a:rPr>
              <a:t>Am </a:t>
            </a:r>
            <a:r>
              <a:rPr lang="en-US" sz="1250" err="1">
                <a:solidFill>
                  <a:srgbClr val="1C2434"/>
                </a:solidFill>
                <a:latin typeface="Calibri"/>
                <a:ea typeface="Calibri"/>
                <a:cs typeface="Calibri"/>
              </a:rPr>
              <a:t>robustesten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feste</a:t>
            </a:r>
            <a:r>
              <a:rPr lang="en-US" sz="1250">
                <a:solidFill>
                  <a:srgbClr val="1C2434"/>
                </a:solidFill>
                <a:latin typeface="Calibri"/>
                <a:ea typeface="Calibri"/>
                <a:cs typeface="Calibri"/>
              </a:rPr>
              <a:t> Swimlane-</a:t>
            </a:r>
            <a:r>
              <a:rPr lang="en-US" sz="1250" err="1">
                <a:solidFill>
                  <a:srgbClr val="1C2434"/>
                </a:solidFill>
                <a:latin typeface="Calibri"/>
                <a:ea typeface="Calibri"/>
                <a:cs typeface="Calibri"/>
              </a:rPr>
              <a:t>Spalten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kommen</a:t>
            </a:r>
            <a:r>
              <a:rPr lang="en-US" sz="1250">
                <a:solidFill>
                  <a:srgbClr val="1C2434"/>
                </a:solidFill>
                <a:latin typeface="Calibri"/>
                <a:ea typeface="Calibri"/>
                <a:cs typeface="Calibri"/>
              </a:rPr>
              <a:t> in </a:t>
            </a:r>
            <a:r>
              <a:rPr lang="en-US" sz="1250" err="1">
                <a:solidFill>
                  <a:srgbClr val="1C2434"/>
                </a:solidFill>
                <a:latin typeface="Calibri"/>
                <a:ea typeface="Calibri"/>
                <a:cs typeface="Calibri"/>
              </a:rPr>
              <a:t>beiden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Formaten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sauber</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heraus</a:t>
            </a:r>
            <a:r>
              <a:rPr lang="en-US" sz="1250">
                <a:solidFill>
                  <a:srgbClr val="1C2434"/>
                </a:solidFill>
                <a:latin typeface="Calibri"/>
                <a:ea typeface="Calibri"/>
                <a:cs typeface="Calibri"/>
              </a:rPr>
              <a:t>.</a:t>
            </a:r>
            <a:endParaRPr lang="en-US" sz="1250">
              <a:latin typeface="Calibri"/>
              <a:ea typeface="Calibri"/>
              <a:cs typeface="Calibri"/>
            </a:endParaRPr>
          </a:p>
        </p:txBody>
      </p:sp>
      <p:sp>
        <p:nvSpPr>
          <p:cNvPr id="8" name="Shape 6"/>
          <p:cNvSpPr/>
          <p:nvPr/>
        </p:nvSpPr>
        <p:spPr>
          <a:xfrm>
            <a:off x="495663" y="2803143"/>
            <a:ext cx="11161485" cy="838347"/>
          </a:xfrm>
          <a:prstGeom prst="roundRect">
            <a:avLst>
              <a:gd name="adj" fmla="val 9804"/>
            </a:avLst>
          </a:prstGeom>
          <a:solidFill>
            <a:srgbClr val="F3F6FB"/>
          </a:solidFill>
          <a:ln w="12700">
            <a:solidFill>
              <a:srgbClr val="D9E1EE"/>
            </a:solidFill>
            <a:prstDash val="solid"/>
          </a:ln>
        </p:spPr>
        <p:txBody>
          <a:bodyPr/>
          <a:lstStyle/>
          <a:p>
            <a:endParaRPr lang="de-DE"/>
          </a:p>
        </p:txBody>
      </p:sp>
      <p:sp>
        <p:nvSpPr>
          <p:cNvPr id="9" name="Shape 7"/>
          <p:cNvSpPr/>
          <p:nvPr/>
        </p:nvSpPr>
        <p:spPr>
          <a:xfrm>
            <a:off x="749808" y="3118104"/>
            <a:ext cx="201168" cy="201168"/>
          </a:xfrm>
          <a:prstGeom prst="ellipse">
            <a:avLst/>
          </a:prstGeom>
          <a:solidFill>
            <a:srgbClr val="1F7A4D"/>
          </a:solidFill>
          <a:ln/>
        </p:spPr>
        <p:txBody>
          <a:bodyPr/>
          <a:lstStyle/>
          <a:p>
            <a:endParaRPr lang="de-DE"/>
          </a:p>
        </p:txBody>
      </p:sp>
      <p:sp>
        <p:nvSpPr>
          <p:cNvPr id="10" name="Text 8"/>
          <p:cNvSpPr/>
          <p:nvPr/>
        </p:nvSpPr>
        <p:spPr>
          <a:xfrm>
            <a:off x="1097280" y="2825496"/>
            <a:ext cx="2148840" cy="786384"/>
          </a:xfrm>
          <a:prstGeom prst="rect">
            <a:avLst/>
          </a:prstGeom>
          <a:noFill/>
          <a:ln/>
        </p:spPr>
        <p:txBody>
          <a:bodyPr wrap="square" lIns="0" tIns="0" rIns="0" bIns="0" rtlCol="0" anchor="ctr"/>
          <a:lstStyle/>
          <a:p>
            <a:pPr marL="0" indent="0">
              <a:lnSpc>
                <a:spcPct val="100000"/>
              </a:lnSpc>
              <a:buNone/>
            </a:pPr>
            <a:r>
              <a:rPr lang="en-US" sz="1350" b="1">
                <a:solidFill>
                  <a:srgbClr val="1C2434"/>
                </a:solidFill>
                <a:latin typeface="Cambria" pitchFamily="34" charset="0"/>
                <a:ea typeface="Cambria" pitchFamily="34" charset="-122"/>
                <a:cs typeface="Cambria" pitchFamily="34" charset="-120"/>
              </a:rPr>
              <a:t>Sequenzdiagramm</a:t>
            </a:r>
            <a:endParaRPr lang="en-US" sz="1350"/>
          </a:p>
        </p:txBody>
      </p:sp>
      <p:sp>
        <p:nvSpPr>
          <p:cNvPr id="11" name="Text 9"/>
          <p:cNvSpPr/>
          <p:nvPr/>
        </p:nvSpPr>
        <p:spPr>
          <a:xfrm>
            <a:off x="3284583" y="2823609"/>
            <a:ext cx="5165634" cy="808446"/>
          </a:xfrm>
          <a:prstGeom prst="rect">
            <a:avLst/>
          </a:prstGeom>
          <a:noFill/>
          <a:ln/>
        </p:spPr>
        <p:txBody>
          <a:bodyPr wrap="square" lIns="0" tIns="0" rIns="0" bIns="0" rtlCol="0" anchor="ctr"/>
          <a:lstStyle/>
          <a:p>
            <a:pPr marL="0" indent="0">
              <a:lnSpc>
                <a:spcPct val="105000"/>
              </a:lnSpc>
              <a:buNone/>
            </a:pPr>
            <a:r>
              <a:rPr lang="en-US" sz="1250">
                <a:solidFill>
                  <a:srgbClr val="1C2434"/>
                </a:solidFill>
                <a:latin typeface="Calibri"/>
                <a:ea typeface="Calibri"/>
                <a:cs typeface="Calibri"/>
              </a:rPr>
              <a:t>Ähnlich </a:t>
            </a:r>
            <a:r>
              <a:rPr lang="en-US" sz="1250" err="1">
                <a:solidFill>
                  <a:srgbClr val="1C2434"/>
                </a:solidFill>
                <a:latin typeface="Calibri"/>
                <a:ea typeface="Calibri"/>
                <a:cs typeface="Calibri"/>
              </a:rPr>
              <a:t>stabil</a:t>
            </a:r>
            <a:r>
              <a:rPr lang="en-US" sz="1250">
                <a:solidFill>
                  <a:srgbClr val="1C2434"/>
                </a:solidFill>
                <a:latin typeface="Calibri"/>
                <a:ea typeface="Calibri"/>
                <a:cs typeface="Calibri"/>
              </a:rPr>
              <a:t>: Die </a:t>
            </a:r>
            <a:r>
              <a:rPr lang="en-US" sz="1250" err="1">
                <a:solidFill>
                  <a:srgbClr val="1C2434"/>
                </a:solidFill>
                <a:latin typeface="Calibri"/>
                <a:ea typeface="Calibri"/>
                <a:cs typeface="Calibri"/>
              </a:rPr>
              <a:t>Zeitachse</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hält</a:t>
            </a:r>
            <a:r>
              <a:rPr lang="en-US" sz="1250">
                <a:solidFill>
                  <a:srgbClr val="1C2434"/>
                </a:solidFill>
                <a:latin typeface="Calibri"/>
                <a:ea typeface="Calibri"/>
                <a:cs typeface="Calibri"/>
              </a:rPr>
              <a:t> das Bild </a:t>
            </a:r>
            <a:r>
              <a:rPr lang="en-US" sz="1250" err="1">
                <a:solidFill>
                  <a:srgbClr val="1C2434"/>
                </a:solidFill>
                <a:latin typeface="Calibri"/>
                <a:ea typeface="Calibri"/>
                <a:cs typeface="Calibri"/>
              </a:rPr>
              <a:t>auch</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bei</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vielen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Aufrufen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lesbar</a:t>
            </a:r>
            <a:r>
              <a:rPr lang="en-US" sz="1250">
                <a:solidFill>
                  <a:srgbClr val="1C2434"/>
                </a:solidFill>
                <a:latin typeface="Calibri"/>
                <a:ea typeface="Calibri"/>
                <a:cs typeface="Calibri"/>
              </a:rPr>
              <a:t>.</a:t>
            </a:r>
            <a:endParaRPr lang="en-US" sz="1250">
              <a:latin typeface="Calibri"/>
              <a:ea typeface="Calibri"/>
              <a:cs typeface="Calibri"/>
            </a:endParaRPr>
          </a:p>
        </p:txBody>
      </p:sp>
      <p:sp>
        <p:nvSpPr>
          <p:cNvPr id="12" name="Shape 10"/>
          <p:cNvSpPr/>
          <p:nvPr/>
        </p:nvSpPr>
        <p:spPr>
          <a:xfrm>
            <a:off x="495663" y="3863847"/>
            <a:ext cx="11146971" cy="852861"/>
          </a:xfrm>
          <a:prstGeom prst="roundRect">
            <a:avLst>
              <a:gd name="adj" fmla="val 9804"/>
            </a:avLst>
          </a:prstGeom>
          <a:solidFill>
            <a:srgbClr val="F3F6FB"/>
          </a:solidFill>
          <a:ln w="12700">
            <a:solidFill>
              <a:srgbClr val="D9E1EE"/>
            </a:solidFill>
            <a:prstDash val="solid"/>
          </a:ln>
        </p:spPr>
        <p:txBody>
          <a:bodyPr/>
          <a:lstStyle/>
          <a:p>
            <a:endParaRPr lang="de-DE"/>
          </a:p>
        </p:txBody>
      </p:sp>
      <p:sp>
        <p:nvSpPr>
          <p:cNvPr id="13" name="Shape 11"/>
          <p:cNvSpPr/>
          <p:nvPr/>
        </p:nvSpPr>
        <p:spPr>
          <a:xfrm>
            <a:off x="749808" y="4178808"/>
            <a:ext cx="201168" cy="201168"/>
          </a:xfrm>
          <a:prstGeom prst="ellipse">
            <a:avLst/>
          </a:prstGeom>
          <a:solidFill>
            <a:srgbClr val="B23A2E"/>
          </a:solidFill>
          <a:ln/>
        </p:spPr>
        <p:txBody>
          <a:bodyPr/>
          <a:lstStyle/>
          <a:p>
            <a:endParaRPr lang="de-DE"/>
          </a:p>
        </p:txBody>
      </p:sp>
      <p:sp>
        <p:nvSpPr>
          <p:cNvPr id="14" name="Text 12"/>
          <p:cNvSpPr/>
          <p:nvPr/>
        </p:nvSpPr>
        <p:spPr>
          <a:xfrm>
            <a:off x="1097280" y="3886200"/>
            <a:ext cx="2148840" cy="786384"/>
          </a:xfrm>
          <a:prstGeom prst="rect">
            <a:avLst/>
          </a:prstGeom>
          <a:noFill/>
          <a:ln/>
        </p:spPr>
        <p:txBody>
          <a:bodyPr wrap="square" lIns="0" tIns="0" rIns="0" bIns="0" rtlCol="0" anchor="ctr"/>
          <a:lstStyle/>
          <a:p>
            <a:pPr marL="0" indent="0">
              <a:lnSpc>
                <a:spcPct val="100000"/>
              </a:lnSpc>
              <a:buNone/>
            </a:pPr>
            <a:r>
              <a:rPr lang="en-US" sz="1350" b="1">
                <a:solidFill>
                  <a:srgbClr val="1C2434"/>
                </a:solidFill>
                <a:latin typeface="Cambria" pitchFamily="34" charset="0"/>
                <a:ea typeface="Cambria" pitchFamily="34" charset="-122"/>
                <a:cs typeface="Cambria" pitchFamily="34" charset="-120"/>
              </a:rPr>
              <a:t>Use-Case-Diagramm</a:t>
            </a:r>
            <a:endParaRPr lang="en-US" sz="1350"/>
          </a:p>
        </p:txBody>
      </p:sp>
      <p:sp>
        <p:nvSpPr>
          <p:cNvPr id="15" name="Text 13"/>
          <p:cNvSpPr/>
          <p:nvPr/>
        </p:nvSpPr>
        <p:spPr>
          <a:xfrm>
            <a:off x="3270069" y="3877056"/>
            <a:ext cx="6428376" cy="815703"/>
          </a:xfrm>
          <a:prstGeom prst="rect">
            <a:avLst/>
          </a:prstGeom>
          <a:noFill/>
          <a:ln/>
        </p:spPr>
        <p:txBody>
          <a:bodyPr wrap="square" lIns="0" tIns="0" rIns="0" bIns="0" rtlCol="0" anchor="ctr"/>
          <a:lstStyle/>
          <a:p>
            <a:pPr marL="0" indent="0">
              <a:lnSpc>
                <a:spcPct val="105000"/>
              </a:lnSpc>
              <a:buNone/>
            </a:pPr>
            <a:r>
              <a:rPr lang="en-US" sz="1250">
                <a:solidFill>
                  <a:srgbClr val="1C2434"/>
                </a:solidFill>
                <a:latin typeface="Calibri"/>
                <a:ea typeface="Calibri"/>
                <a:cs typeface="Calibri"/>
              </a:rPr>
              <a:t>Der </a:t>
            </a:r>
            <a:r>
              <a:rPr lang="en-US" sz="1250" err="1">
                <a:solidFill>
                  <a:srgbClr val="1C2434"/>
                </a:solidFill>
                <a:latin typeface="Calibri"/>
                <a:ea typeface="Calibri"/>
                <a:cs typeface="Calibri"/>
              </a:rPr>
              <a:t>schwächste</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Typ</a:t>
            </a:r>
            <a:r>
              <a:rPr lang="en-US" sz="1250">
                <a:solidFill>
                  <a:srgbClr val="1C2434"/>
                </a:solidFill>
                <a:latin typeface="Calibri"/>
                <a:ea typeface="Calibri"/>
                <a:cs typeface="Calibri"/>
              </a:rPr>
              <a:t>: Liniengewirr </a:t>
            </a:r>
            <a:r>
              <a:rPr lang="en-US" sz="1250" err="1">
                <a:solidFill>
                  <a:srgbClr val="1C2434"/>
                </a:solidFill>
                <a:latin typeface="Calibri"/>
                <a:ea typeface="Calibri"/>
                <a:cs typeface="Calibri"/>
              </a:rPr>
              <a:t>bei</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vielen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Akteuren</a:t>
            </a:r>
            <a:r>
              <a:rPr lang="en-US" sz="1250">
                <a:solidFill>
                  <a:srgbClr val="1C2434"/>
                </a:solidFill>
                <a:latin typeface="Calibri"/>
                <a:ea typeface="Calibri"/>
                <a:cs typeface="Calibri"/>
              </a:rPr>
              <a:t> – </a:t>
            </a:r>
            <a:r>
              <a:rPr lang="en-US" sz="1250" err="1">
                <a:solidFill>
                  <a:srgbClr val="1C2434"/>
                </a:solidFill>
                <a:latin typeface="Calibri"/>
                <a:ea typeface="Calibri"/>
                <a:cs typeface="Calibri"/>
              </a:rPr>
              <a:t>hier</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passieren</a:t>
            </a:r>
            <a:r>
              <a:rPr lang="en-US" sz="1250">
                <a:solidFill>
                  <a:srgbClr val="1C2434"/>
                </a:solidFill>
                <a:latin typeface="Calibri"/>
                <a:ea typeface="Calibri"/>
                <a:cs typeface="Calibri"/>
              </a:rPr>
              <a:t> die </a:t>
            </a:r>
            <a:r>
              <a:rPr lang="en-US" sz="1250" err="1">
                <a:solidFill>
                  <a:srgbClr val="1C2434"/>
                </a:solidFill>
                <a:latin typeface="Calibri"/>
                <a:ea typeface="Calibri"/>
                <a:cs typeface="Calibri"/>
              </a:rPr>
              <a:t>meisten</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Bildfehler</a:t>
            </a:r>
            <a:r>
              <a:rPr lang="en-US" sz="1250">
                <a:solidFill>
                  <a:srgbClr val="1C2434"/>
                </a:solidFill>
                <a:latin typeface="Calibri"/>
                <a:ea typeface="Calibri"/>
                <a:cs typeface="Calibri"/>
              </a:rPr>
              <a:t>.</a:t>
            </a:r>
            <a:endParaRPr lang="en-US" sz="1250">
              <a:latin typeface="Calibri"/>
              <a:ea typeface="Calibri"/>
              <a:cs typeface="Calibri"/>
            </a:endParaRPr>
          </a:p>
        </p:txBody>
      </p:sp>
      <p:sp>
        <p:nvSpPr>
          <p:cNvPr id="16" name="Shape 14"/>
          <p:cNvSpPr/>
          <p:nvPr/>
        </p:nvSpPr>
        <p:spPr>
          <a:xfrm>
            <a:off x="502920" y="4924551"/>
            <a:ext cx="11139713" cy="852861"/>
          </a:xfrm>
          <a:prstGeom prst="roundRect">
            <a:avLst>
              <a:gd name="adj" fmla="val 9804"/>
            </a:avLst>
          </a:prstGeom>
          <a:solidFill>
            <a:srgbClr val="F3F6FB"/>
          </a:solidFill>
          <a:ln w="12700">
            <a:solidFill>
              <a:srgbClr val="D9E1EE"/>
            </a:solidFill>
            <a:prstDash val="solid"/>
          </a:ln>
        </p:spPr>
        <p:txBody>
          <a:bodyPr/>
          <a:lstStyle/>
          <a:p>
            <a:endParaRPr lang="de-DE"/>
          </a:p>
        </p:txBody>
      </p:sp>
      <p:sp>
        <p:nvSpPr>
          <p:cNvPr id="17" name="Shape 15"/>
          <p:cNvSpPr/>
          <p:nvPr/>
        </p:nvSpPr>
        <p:spPr>
          <a:xfrm>
            <a:off x="749808" y="5239512"/>
            <a:ext cx="201168" cy="201168"/>
          </a:xfrm>
          <a:prstGeom prst="ellipse">
            <a:avLst/>
          </a:prstGeom>
          <a:solidFill>
            <a:srgbClr val="3E5FA3"/>
          </a:solidFill>
          <a:ln/>
        </p:spPr>
        <p:txBody>
          <a:bodyPr/>
          <a:lstStyle/>
          <a:p>
            <a:endParaRPr lang="de-DE"/>
          </a:p>
        </p:txBody>
      </p:sp>
      <p:sp>
        <p:nvSpPr>
          <p:cNvPr id="18" name="Text 16"/>
          <p:cNvSpPr/>
          <p:nvPr/>
        </p:nvSpPr>
        <p:spPr>
          <a:xfrm>
            <a:off x="1097280" y="4946904"/>
            <a:ext cx="2148840" cy="786384"/>
          </a:xfrm>
          <a:prstGeom prst="rect">
            <a:avLst/>
          </a:prstGeom>
          <a:noFill/>
          <a:ln/>
        </p:spPr>
        <p:txBody>
          <a:bodyPr wrap="square" lIns="0" tIns="0" rIns="0" bIns="0" rtlCol="0" anchor="ctr"/>
          <a:lstStyle/>
          <a:p>
            <a:pPr marL="0" indent="0">
              <a:lnSpc>
                <a:spcPct val="100000"/>
              </a:lnSpc>
              <a:buNone/>
            </a:pPr>
            <a:r>
              <a:rPr lang="en-US" sz="1350" b="1">
                <a:solidFill>
                  <a:srgbClr val="1C2434"/>
                </a:solidFill>
                <a:latin typeface="Cambria" pitchFamily="34" charset="0"/>
                <a:ea typeface="Cambria" pitchFamily="34" charset="-122"/>
                <a:cs typeface="Cambria" pitchFamily="34" charset="-120"/>
              </a:rPr>
              <a:t>Klassendiagramm</a:t>
            </a:r>
            <a:endParaRPr lang="en-US" sz="1350"/>
          </a:p>
        </p:txBody>
      </p:sp>
      <p:sp>
        <p:nvSpPr>
          <p:cNvPr id="19" name="Text 17"/>
          <p:cNvSpPr/>
          <p:nvPr/>
        </p:nvSpPr>
        <p:spPr>
          <a:xfrm>
            <a:off x="3277326" y="4937760"/>
            <a:ext cx="6406605" cy="808446"/>
          </a:xfrm>
          <a:prstGeom prst="rect">
            <a:avLst/>
          </a:prstGeom>
          <a:noFill/>
          <a:ln/>
        </p:spPr>
        <p:txBody>
          <a:bodyPr wrap="square" lIns="0" tIns="0" rIns="0" bIns="0" rtlCol="0" anchor="ctr"/>
          <a:lstStyle/>
          <a:p>
            <a:pPr marL="0" indent="0">
              <a:lnSpc>
                <a:spcPct val="105000"/>
              </a:lnSpc>
              <a:buNone/>
            </a:pPr>
            <a:r>
              <a:rPr lang="en-US" sz="1250" err="1">
                <a:solidFill>
                  <a:srgbClr val="1C2434"/>
                </a:solidFill>
                <a:latin typeface="Calibri"/>
                <a:ea typeface="Calibri"/>
                <a:cs typeface="Calibri"/>
              </a:rPr>
              <a:t>Sonderfall</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inhaltlich</a:t>
            </a:r>
            <a:r>
              <a:rPr lang="en-US" sz="1250">
                <a:solidFill>
                  <a:srgbClr val="1C2434"/>
                </a:solidFill>
                <a:latin typeface="Calibri"/>
                <a:ea typeface="Calibri"/>
                <a:cs typeface="Calibri"/>
              </a:rPr>
              <a:t> stark, </a:t>
            </a:r>
            <a:r>
              <a:rPr lang="en-US" sz="1250" err="1">
                <a:solidFill>
                  <a:srgbClr val="1C2434"/>
                </a:solidFill>
                <a:latin typeface="Calibri"/>
                <a:ea typeface="Calibri"/>
                <a:cs typeface="Calibri"/>
              </a:rPr>
              <a:t>aber</a:t>
            </a:r>
            <a:r>
              <a:rPr lang="en-US" sz="1250">
                <a:solidFill>
                  <a:srgbClr val="1C2434"/>
                </a:solidFill>
                <a:latin typeface="Calibri"/>
                <a:ea typeface="Calibri"/>
                <a:cs typeface="Calibri"/>
              </a:rPr>
              <a:t> das Auto-Layout des </a:t>
            </a:r>
            <a:r>
              <a:rPr lang="en-US" sz="1250" err="1">
                <a:solidFill>
                  <a:srgbClr val="1C2434"/>
                </a:solidFill>
                <a:latin typeface="Calibri"/>
                <a:ea typeface="Calibri"/>
                <a:cs typeface="Calibri"/>
              </a:rPr>
              <a:t>gerenderten</a:t>
            </a:r>
            <a:r>
              <a:rPr lang="en-US" sz="1250">
                <a:solidFill>
                  <a:srgbClr val="1C2434"/>
                </a:solidFill>
                <a:latin typeface="Calibri"/>
                <a:ea typeface="Calibri"/>
                <a:cs typeface="Calibri"/>
              </a:rPr>
              <a:t> Codes </a:t>
            </a:r>
            <a:r>
              <a:rPr lang="en-US" sz="1250" err="1">
                <a:solidFill>
                  <a:srgbClr val="1C2434"/>
                </a:solidFill>
                <a:latin typeface="Calibri"/>
                <a:ea typeface="Calibri"/>
                <a:cs typeface="Calibri"/>
              </a:rPr>
              <a:t>zieht</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ausufernde</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Bögen</a:t>
            </a:r>
            <a:r>
              <a:rPr lang="en-US" sz="1250">
                <a:solidFill>
                  <a:srgbClr val="1C2434"/>
                </a:solidFill>
                <a:latin typeface="Calibri"/>
                <a:ea typeface="Calibri"/>
                <a:cs typeface="Calibri"/>
              </a:rPr>
              <a:t> – das </a:t>
            </a:r>
            <a:r>
              <a:rPr lang="en-US" sz="1250" err="1">
                <a:solidFill>
                  <a:srgbClr val="1C2434"/>
                </a:solidFill>
                <a:latin typeface="Calibri"/>
                <a:ea typeface="Calibri"/>
                <a:cs typeface="Calibri"/>
              </a:rPr>
              <a:t>selbst</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gezeichnete</a:t>
            </a:r>
            <a:r>
              <a:rPr lang="en-US" sz="1250">
                <a:solidFill>
                  <a:srgbClr val="1C2434"/>
                </a:solidFill>
                <a:latin typeface="Calibri"/>
                <a:ea typeface="Calibri"/>
                <a:cs typeface="Calibri"/>
              </a:rPr>
              <a:t> Bild </a:t>
            </a:r>
            <a:r>
              <a:rPr lang="en-US" sz="1250" err="1">
                <a:solidFill>
                  <a:srgbClr val="1C2434"/>
                </a:solidFill>
                <a:latin typeface="Calibri"/>
                <a:ea typeface="Calibri"/>
                <a:cs typeface="Calibri"/>
              </a:rPr>
              <a:t>ist</a:t>
            </a:r>
            <a:r>
              <a:rPr lang="en-US" sz="1250">
                <a:solidFill>
                  <a:srgbClr val="1C2434"/>
                </a:solidFill>
                <a:latin typeface="Calibri"/>
                <a:ea typeface="Calibri"/>
                <a:cs typeface="Calibri"/>
              </a:rPr>
              <a:t> </a:t>
            </a:r>
            <a:r>
              <a:rPr lang="en-US" sz="1250" err="1">
                <a:solidFill>
                  <a:srgbClr val="1C2434"/>
                </a:solidFill>
                <a:latin typeface="Calibri"/>
                <a:ea typeface="Calibri"/>
                <a:cs typeface="Calibri"/>
              </a:rPr>
              <a:t>hier</a:t>
            </a:r>
            <a:r>
              <a:rPr lang="en-US" sz="1250">
                <a:solidFill>
                  <a:srgbClr val="1C2434"/>
                </a:solidFill>
                <a:latin typeface="Calibri"/>
                <a:ea typeface="Calibri"/>
                <a:cs typeface="Calibri"/>
              </a:rPr>
              <a:t> oft </a:t>
            </a:r>
            <a:r>
              <a:rPr lang="en-US" sz="1250" err="1">
                <a:solidFill>
                  <a:srgbClr val="1C2434"/>
                </a:solidFill>
                <a:latin typeface="Calibri"/>
                <a:ea typeface="Calibri"/>
                <a:cs typeface="Calibri"/>
              </a:rPr>
              <a:t>aufgeräumter</a:t>
            </a:r>
            <a:r>
              <a:rPr lang="en-US" sz="1250">
                <a:solidFill>
                  <a:srgbClr val="1C2434"/>
                </a:solidFill>
                <a:latin typeface="Calibri"/>
                <a:ea typeface="Calibri"/>
                <a:cs typeface="Calibri"/>
              </a:rPr>
              <a:t>.</a:t>
            </a:r>
            <a:endParaRPr lang="en-US" sz="1250">
              <a:latin typeface="Calibri"/>
              <a:ea typeface="Calibri"/>
              <a:cs typeface="Calibri"/>
            </a:endParaRPr>
          </a:p>
        </p:txBody>
      </p:sp>
      <p:sp>
        <p:nvSpPr>
          <p:cNvPr id="25" name="Text 21"/>
          <p:cNvSpPr/>
          <p:nvPr/>
        </p:nvSpPr>
        <p:spPr>
          <a:xfrm>
            <a:off x="502920" y="5943600"/>
            <a:ext cx="11155680" cy="457200"/>
          </a:xfrm>
          <a:prstGeom prst="rect">
            <a:avLst/>
          </a:prstGeom>
          <a:noFill/>
          <a:ln/>
        </p:spPr>
        <p:txBody>
          <a:bodyPr wrap="square" lIns="0" tIns="0" rIns="0" bIns="0" rtlCol="0" anchor="ctr"/>
          <a:lstStyle/>
          <a:p>
            <a:pPr marL="0" indent="0">
              <a:buNone/>
            </a:pPr>
            <a:r>
              <a:rPr lang="en-US" sz="1400" b="1">
                <a:solidFill>
                  <a:srgbClr val="1C2434"/>
                </a:solidFill>
                <a:latin typeface="Cambria" pitchFamily="34" charset="0"/>
                <a:ea typeface="Cambria" pitchFamily="34" charset="-122"/>
                <a:cs typeface="Cambria" pitchFamily="34" charset="-120"/>
              </a:rPr>
              <a:t>Feste Grundstruktur (Spalten, Zeitachse) funktioniert zuverlässig – netzartige Diagramme kämpfen mit dem Layout.</a:t>
            </a:r>
            <a:endParaRPr lang="en-US" sz="1400"/>
          </a:p>
        </p:txBody>
      </p:sp>
      <p:sp>
        <p:nvSpPr>
          <p:cNvPr id="26" name="Text 22"/>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pitchFamily="34" charset="0"/>
                <a:ea typeface="Calibri" pitchFamily="34" charset="-122"/>
                <a:cs typeface="Calibri" pitchFamily="34" charset="-120"/>
              </a:rPr>
              <a:t>12</a:t>
            </a:r>
            <a:endParaRPr lang="en-US" sz="1000"/>
          </a:p>
        </p:txBody>
      </p:sp>
      <p:sp>
        <p:nvSpPr>
          <p:cNvPr id="27" name="Text 23"/>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39C52692-ABF4-46CA-80DE-9D75B4A2D948}"/>
              </a:ext>
            </a:extLst>
          </p:cNvPr>
          <p:cNvSpPr>
            <a:spLocks noGrp="1"/>
          </p:cNvSpPr>
          <p:nvPr/>
        </p:nvSpPr>
        <p:spPr>
          <a:xfrm>
            <a:off x="502920" y="384048"/>
            <a:ext cx="11155680" cy="292608"/>
          </a:xfrm>
          <a:prstGeom prst="rect">
            <a:avLst/>
          </a:prstGeom>
          <a:noFill/>
        </p:spPr>
        <p:txBody>
          <a:bodyPr wrap="square" lIns="0" tIns="0" rIns="0" bIns="0" anchor="ctr"/>
          <a:lstStyle/>
          <a:p>
            <a:pPr marL="0" indent="0">
              <a:buNone/>
              <a:defRPr sz="1000" b="1">
                <a:solidFill>
                  <a:srgbClr val="2F5DA8"/>
                </a:solidFill>
              </a:defRPr>
            </a:pPr>
            <a:r>
              <a:rPr sz="1000" b="1">
                <a:solidFill>
                  <a:srgbClr val="2F5DA8"/>
                </a:solidFill>
                <a:latin typeface="Calibri"/>
                <a:ea typeface="Calibri"/>
                <a:cs typeface="Calibri"/>
              </a:rPr>
              <a:t>4 · KERNBEFUNDE — USE-CASE-BEISPIEL</a:t>
            </a:r>
          </a:p>
        </p:txBody>
      </p:sp>
      <p:sp>
        <p:nvSpPr>
          <p:cNvPr id="3" name="Text 1">
            <a:extLst>
              <a:ext uri="{FF2B5EF4-FFF2-40B4-BE49-F238E27FC236}">
                <a16:creationId xmlns:a16="http://schemas.microsoft.com/office/drawing/2014/main" id="{D0D9B4F3-D85E-4181-8FAC-9F329E1ECC96}"/>
              </a:ext>
            </a:extLst>
          </p:cNvPr>
          <p:cNvSpPr>
            <a:spLocks noGrp="1"/>
          </p:cNvSpPr>
          <p:nvPr/>
        </p:nvSpPr>
        <p:spPr>
          <a:xfrm>
            <a:off x="502920" y="658368"/>
            <a:ext cx="11155680" cy="685800"/>
          </a:xfrm>
          <a:prstGeom prst="rect">
            <a:avLst/>
          </a:prstGeom>
          <a:noFill/>
        </p:spPr>
        <p:txBody>
          <a:bodyPr wrap="square" lIns="0" tIns="0" rIns="0" bIns="0" anchor="ctr"/>
          <a:lstStyle/>
          <a:p>
            <a:pPr marL="0" indent="0">
              <a:buNone/>
            </a:pPr>
            <a:r>
              <a:rPr sz="3000" b="1">
                <a:solidFill>
                  <a:srgbClr val="1C2434"/>
                </a:solidFill>
                <a:latin typeface="Cambria"/>
                <a:ea typeface="Cambria"/>
                <a:cs typeface="Cambria"/>
              </a:rPr>
              <a:t>Gut gezeichnet – falsch verbunden</a:t>
            </a:r>
          </a:p>
        </p:txBody>
      </p:sp>
      <p:sp>
        <p:nvSpPr>
          <p:cNvPr id="4" name="Text 2">
            <a:extLst>
              <a:ext uri="{FF2B5EF4-FFF2-40B4-BE49-F238E27FC236}">
                <a16:creationId xmlns:a16="http://schemas.microsoft.com/office/drawing/2014/main" id="{93ACDAF2-E408-4D83-A8CD-D935C9318403}"/>
              </a:ext>
            </a:extLst>
          </p:cNvPr>
          <p:cNvSpPr>
            <a:spLocks noGrp="1"/>
          </p:cNvSpPr>
          <p:nvPr/>
        </p:nvSpPr>
        <p:spPr>
          <a:xfrm>
            <a:off x="502920" y="1371600"/>
            <a:ext cx="11155680" cy="320040"/>
          </a:xfrm>
          <a:prstGeom prst="rect">
            <a:avLst/>
          </a:prstGeom>
          <a:noFill/>
        </p:spPr>
        <p:txBody>
          <a:bodyPr wrap="square" lIns="0" tIns="0" rIns="0" bIns="0" anchor="ctr"/>
          <a:lstStyle/>
          <a:p>
            <a:pPr marL="0" indent="0">
              <a:buNone/>
            </a:pPr>
            <a:r>
              <a:rPr sz="1350" i="1" err="1">
                <a:solidFill>
                  <a:srgbClr val="5B6575"/>
                </a:solidFill>
                <a:latin typeface="Calibri"/>
                <a:ea typeface="Calibri"/>
                <a:cs typeface="Calibri"/>
              </a:rPr>
              <a:t>EasyLib</a:t>
            </a:r>
            <a:r>
              <a:rPr sz="1350" i="1">
                <a:solidFill>
                  <a:srgbClr val="5B6575"/>
                </a:solidFill>
                <a:latin typeface="Calibri"/>
                <a:ea typeface="Calibri"/>
                <a:cs typeface="Calibri"/>
              </a:rPr>
              <a:t> · Use-Case-</a:t>
            </a:r>
            <a:r>
              <a:rPr sz="1350" i="1" err="1">
                <a:solidFill>
                  <a:srgbClr val="5B6575"/>
                </a:solidFill>
                <a:latin typeface="Calibri"/>
                <a:ea typeface="Calibri"/>
                <a:cs typeface="Calibri"/>
              </a:rPr>
              <a:t>Diagramm</a:t>
            </a:r>
            <a:r>
              <a:rPr sz="1350" i="1">
                <a:solidFill>
                  <a:srgbClr val="5B6575"/>
                </a:solidFill>
                <a:latin typeface="Calibri"/>
                <a:ea typeface="Calibri"/>
                <a:cs typeface="Calibri"/>
              </a:rPr>
              <a:t> · ChatGPT</a:t>
            </a:r>
            <a:endParaRPr lang="de-DE" sz="1350" i="1">
              <a:solidFill>
                <a:srgbClr val="5B6575"/>
              </a:solidFill>
              <a:latin typeface="Calibri"/>
              <a:ea typeface="Calibri"/>
              <a:cs typeface="Calibri"/>
            </a:endParaRPr>
          </a:p>
        </p:txBody>
      </p:sp>
      <p:sp>
        <p:nvSpPr>
          <p:cNvPr id="5" name="Shape 3">
            <a:extLst>
              <a:ext uri="{FF2B5EF4-FFF2-40B4-BE49-F238E27FC236}">
                <a16:creationId xmlns:a16="http://schemas.microsoft.com/office/drawing/2014/main" id="{756ED54E-B2F2-4A2A-B917-B486DB1FB0A5}"/>
              </a:ext>
            </a:extLst>
          </p:cNvPr>
          <p:cNvSpPr>
            <a:spLocks noGrp="1"/>
          </p:cNvSpPr>
          <p:nvPr/>
        </p:nvSpPr>
        <p:spPr>
          <a:xfrm>
            <a:off x="502920" y="1783080"/>
            <a:ext cx="2857500" cy="320040"/>
          </a:xfrm>
          <a:prstGeom prst="roundRect">
            <a:avLst>
              <a:gd name="adj" fmla="val 50000"/>
            </a:avLst>
          </a:prstGeom>
          <a:solidFill>
            <a:srgbClr val="FBEBE9"/>
          </a:solidFill>
          <a:ln w="9525">
            <a:solidFill>
              <a:srgbClr val="B23A2E"/>
            </a:solidFill>
            <a:prstDash val="solid"/>
          </a:ln>
        </p:spPr>
        <p:txBody>
          <a:bodyPr/>
          <a:lstStyle/>
          <a:p>
            <a:endParaRPr/>
          </a:p>
        </p:txBody>
      </p:sp>
      <p:sp>
        <p:nvSpPr>
          <p:cNvPr id="6" name="Text 4">
            <a:extLst>
              <a:ext uri="{FF2B5EF4-FFF2-40B4-BE49-F238E27FC236}">
                <a16:creationId xmlns:a16="http://schemas.microsoft.com/office/drawing/2014/main" id="{A5C08A69-A808-403B-9542-5890C7C5FD44}"/>
              </a:ext>
            </a:extLst>
          </p:cNvPr>
          <p:cNvSpPr>
            <a:spLocks noGrp="1"/>
          </p:cNvSpPr>
          <p:nvPr/>
        </p:nvSpPr>
        <p:spPr>
          <a:xfrm>
            <a:off x="502920" y="1783080"/>
            <a:ext cx="2857500" cy="320040"/>
          </a:xfrm>
          <a:prstGeom prst="rect">
            <a:avLst/>
          </a:prstGeom>
          <a:noFill/>
        </p:spPr>
        <p:txBody>
          <a:bodyPr wrap="square" lIns="0" tIns="0" rIns="0" bIns="0" anchor="ctr"/>
          <a:lstStyle/>
          <a:p>
            <a:pPr marL="0" indent="0" algn="ctr">
              <a:buNone/>
            </a:pPr>
            <a:r>
              <a:rPr sz="1100" b="1">
                <a:solidFill>
                  <a:srgbClr val="B23A2E"/>
                </a:solidFill>
                <a:latin typeface="Calibri"/>
                <a:ea typeface="Calibri"/>
                <a:cs typeface="Calibri"/>
              </a:rPr>
              <a:t>DIREKT GEZEICHNET</a:t>
            </a:r>
          </a:p>
        </p:txBody>
      </p:sp>
      <p:pic>
        <p:nvPicPr>
          <p:cNvPr id="21" name="Image 0"/>
          <p:cNvPicPr>
            <a:picLocks noChangeAspect="1"/>
          </p:cNvPicPr>
          <p:nvPr/>
        </p:nvPicPr>
        <p:blipFill>
          <a:blip r:embed="rId3"/>
          <a:stretch/>
        </p:blipFill>
        <p:spPr>
          <a:xfrm>
            <a:off x="503884" y="2276475"/>
            <a:ext cx="6665572" cy="3657600"/>
          </a:xfrm>
          <a:prstGeom prst="rect">
            <a:avLst/>
          </a:prstGeom>
        </p:spPr>
      </p:pic>
      <p:sp>
        <p:nvSpPr>
          <p:cNvPr id="8" name="Text 5">
            <a:extLst>
              <a:ext uri="{FF2B5EF4-FFF2-40B4-BE49-F238E27FC236}">
                <a16:creationId xmlns:a16="http://schemas.microsoft.com/office/drawing/2014/main" id="{12BAD80E-6D45-4F9E-B253-DA8D136BDEBC}"/>
              </a:ext>
            </a:extLst>
          </p:cNvPr>
          <p:cNvSpPr>
            <a:spLocks noGrp="1"/>
          </p:cNvSpPr>
          <p:nvPr/>
        </p:nvSpPr>
        <p:spPr>
          <a:xfrm>
            <a:off x="7467600" y="2343150"/>
            <a:ext cx="4191000" cy="3305175"/>
          </a:xfrm>
          <a:prstGeom prst="rect">
            <a:avLst/>
          </a:prstGeom>
          <a:noFill/>
        </p:spPr>
        <p:txBody>
          <a:bodyPr wrap="square" lIns="0" tIns="0" rIns="0" bIns="0" anchor="t"/>
          <a:lstStyle/>
          <a:p>
            <a:pPr>
              <a:lnSpc>
                <a:spcPct val="105000"/>
              </a:lnSpc>
              <a:spcAft>
                <a:spcPts val="500"/>
              </a:spcAft>
              <a:buSzPct val="100000"/>
              <a:defRPr sz="1275">
                <a:solidFill>
                  <a:srgbClr val="C43D32"/>
                </a:solidFill>
              </a:defRPr>
            </a:pPr>
            <a:endParaRPr lang="de-DE" sz="1400">
              <a:solidFill>
                <a:srgbClr val="C43D32"/>
              </a:solidFill>
              <a:latin typeface="Calibri"/>
              <a:ea typeface="Calibri"/>
              <a:cs typeface="Calibri"/>
            </a:endParaRPr>
          </a:p>
          <a:p>
            <a:pPr marL="152400" indent="-152400">
              <a:lnSpc>
                <a:spcPct val="105000"/>
              </a:lnSpc>
              <a:spcAft>
                <a:spcPts val="500"/>
              </a:spcAft>
              <a:buSzPct val="100000"/>
              <a:buChar char="•"/>
              <a:defRPr sz="1275">
                <a:solidFill>
                  <a:srgbClr val="C43D32"/>
                </a:solidFill>
              </a:defRPr>
            </a:pPr>
            <a:r>
              <a:rPr lang="de-DE" sz="1400">
                <a:solidFill>
                  <a:srgbClr val="C43D32"/>
                </a:solidFill>
                <a:latin typeface="Calibri"/>
                <a:ea typeface="Calibri"/>
                <a:cs typeface="Calibri"/>
              </a:rPr>
              <a:t>Falsche </a:t>
            </a:r>
            <a:r>
              <a:rPr lang="de-DE" sz="1400" err="1">
                <a:solidFill>
                  <a:srgbClr val="C43D32"/>
                </a:solidFill>
                <a:latin typeface="Calibri"/>
                <a:ea typeface="Calibri"/>
                <a:cs typeface="Calibri"/>
              </a:rPr>
              <a:t>Akteursanschlüsse</a:t>
            </a:r>
            <a:r>
              <a:rPr lang="de-DE" sz="1400">
                <a:solidFill>
                  <a:srgbClr val="C43D32"/>
                </a:solidFill>
                <a:latin typeface="Calibri"/>
                <a:ea typeface="Calibri"/>
                <a:cs typeface="Calibri"/>
              </a:rPr>
              <a:t>: „Vernetzte Bibliotheken“ am falschen Use Case; „Kundendaten einsehen“ ohne Anschluss.</a:t>
            </a:r>
          </a:p>
          <a:p>
            <a:pPr marL="152400" indent="-152400">
              <a:lnSpc>
                <a:spcPct val="105000"/>
              </a:lnSpc>
              <a:spcAft>
                <a:spcPts val="500"/>
              </a:spcAft>
              <a:buSzPct val="100000"/>
              <a:buChar char="•"/>
              <a:defRPr sz="1275">
                <a:solidFill>
                  <a:srgbClr val="C43D32"/>
                </a:solidFill>
              </a:defRPr>
            </a:pPr>
            <a:endParaRPr lang="de-DE" sz="1400">
              <a:solidFill>
                <a:srgbClr val="C43D32"/>
              </a:solidFill>
              <a:latin typeface="Calibri"/>
              <a:ea typeface="Calibri"/>
              <a:cs typeface="Calibri"/>
            </a:endParaRPr>
          </a:p>
          <a:p>
            <a:pPr marL="152400" indent="-152400">
              <a:lnSpc>
                <a:spcPct val="105000"/>
              </a:lnSpc>
              <a:spcAft>
                <a:spcPts val="500"/>
              </a:spcAft>
              <a:buSzPct val="100000"/>
              <a:buChar char="•"/>
              <a:defRPr sz="1275">
                <a:solidFill>
                  <a:srgbClr val="C43D32"/>
                </a:solidFill>
              </a:defRPr>
            </a:pPr>
            <a:endParaRPr lang="de-DE" sz="1400">
              <a:solidFill>
                <a:srgbClr val="C43D32"/>
              </a:solidFill>
              <a:latin typeface="Calibri"/>
              <a:ea typeface="Calibri"/>
              <a:cs typeface="Calibri"/>
            </a:endParaRPr>
          </a:p>
          <a:p>
            <a:pPr marL="152400" indent="-152400">
              <a:lnSpc>
                <a:spcPct val="105000"/>
              </a:lnSpc>
              <a:spcAft>
                <a:spcPts val="500"/>
              </a:spcAft>
              <a:buSzPct val="100000"/>
              <a:buChar char="•"/>
              <a:defRPr sz="1275">
                <a:solidFill>
                  <a:srgbClr val="C43D32"/>
                </a:solidFill>
              </a:defRPr>
            </a:pPr>
            <a:endParaRPr lang="de-DE" sz="1400">
              <a:solidFill>
                <a:srgbClr val="C43D32"/>
              </a:solidFill>
              <a:latin typeface="Calibri"/>
              <a:ea typeface="Calibri"/>
              <a:cs typeface="Calibri"/>
            </a:endParaRPr>
          </a:p>
          <a:p>
            <a:pPr marL="152400" indent="-152400">
              <a:lnSpc>
                <a:spcPct val="105000"/>
              </a:lnSpc>
              <a:spcAft>
                <a:spcPts val="500"/>
              </a:spcAft>
              <a:buSzPct val="100000"/>
              <a:buChar char="•"/>
              <a:defRPr sz="1275">
                <a:solidFill>
                  <a:srgbClr val="C43D32"/>
                </a:solidFill>
              </a:defRPr>
            </a:pPr>
            <a:endParaRPr lang="de-DE" sz="1400">
              <a:solidFill>
                <a:srgbClr val="C43D32"/>
              </a:solidFill>
              <a:latin typeface="Calibri"/>
              <a:ea typeface="Calibri"/>
              <a:cs typeface="Calibri"/>
            </a:endParaRPr>
          </a:p>
          <a:p>
            <a:pPr marL="152400" indent="-152400">
              <a:lnSpc>
                <a:spcPct val="105000"/>
              </a:lnSpc>
              <a:spcAft>
                <a:spcPts val="500"/>
              </a:spcAft>
              <a:buSzPct val="100000"/>
              <a:buChar char="•"/>
              <a:defRPr sz="1275">
                <a:solidFill>
                  <a:srgbClr val="C43D32"/>
                </a:solidFill>
              </a:defRPr>
            </a:pPr>
            <a:r>
              <a:rPr lang="de-DE" sz="1400">
                <a:solidFill>
                  <a:srgbClr val="C43D32"/>
                </a:solidFill>
                <a:latin typeface="Calibri"/>
                <a:ea typeface="Calibri"/>
                <a:cs typeface="Calibri"/>
              </a:rPr>
              <a:t>Doppelte Use Cases: Zwei Funktionen erscheinen mehrfach und sind ungültig miteinander verbunden.</a:t>
            </a:r>
            <a:endParaRPr sz="1400">
              <a:solidFill>
                <a:srgbClr val="C43D32"/>
              </a:solidFill>
              <a:latin typeface="Calibri"/>
              <a:ea typeface="Calibri"/>
              <a:cs typeface="Calibri"/>
            </a:endParaRPr>
          </a:p>
        </p:txBody>
      </p:sp>
      <p:sp>
        <p:nvSpPr>
          <p:cNvPr id="9" name="Shape 6">
            <a:extLst>
              <a:ext uri="{FF2B5EF4-FFF2-40B4-BE49-F238E27FC236}">
                <a16:creationId xmlns:a16="http://schemas.microsoft.com/office/drawing/2014/main" id="{F1F4440C-0737-4F21-A667-4DAA0585AB27}"/>
              </a:ext>
            </a:extLst>
          </p:cNvPr>
          <p:cNvSpPr>
            <a:spLocks noGrp="1"/>
          </p:cNvSpPr>
          <p:nvPr/>
        </p:nvSpPr>
        <p:spPr>
          <a:xfrm>
            <a:off x="7467600" y="1783080"/>
            <a:ext cx="4191000" cy="320040"/>
          </a:xfrm>
          <a:prstGeom prst="roundRect">
            <a:avLst>
              <a:gd name="adj" fmla="val 50000"/>
            </a:avLst>
          </a:prstGeom>
          <a:solidFill>
            <a:srgbClr val="FDECEA"/>
          </a:solidFill>
          <a:ln w="9525">
            <a:solidFill>
              <a:srgbClr val="D34A3A"/>
            </a:solidFill>
            <a:prstDash val="solid"/>
          </a:ln>
        </p:spPr>
        <p:txBody>
          <a:bodyPr/>
          <a:lstStyle/>
          <a:p>
            <a:endParaRPr/>
          </a:p>
        </p:txBody>
      </p:sp>
      <p:sp>
        <p:nvSpPr>
          <p:cNvPr id="10" name="Text 7">
            <a:extLst>
              <a:ext uri="{FF2B5EF4-FFF2-40B4-BE49-F238E27FC236}">
                <a16:creationId xmlns:a16="http://schemas.microsoft.com/office/drawing/2014/main" id="{8AC95CC2-DA7F-4378-8B02-902B59329FAC}"/>
              </a:ext>
            </a:extLst>
          </p:cNvPr>
          <p:cNvSpPr>
            <a:spLocks noGrp="1"/>
          </p:cNvSpPr>
          <p:nvPr/>
        </p:nvSpPr>
        <p:spPr>
          <a:xfrm>
            <a:off x="7467600" y="1783080"/>
            <a:ext cx="4191000" cy="320040"/>
          </a:xfrm>
          <a:prstGeom prst="rect">
            <a:avLst/>
          </a:prstGeom>
          <a:noFill/>
        </p:spPr>
        <p:txBody>
          <a:bodyPr wrap="square" lIns="0" tIns="0" rIns="0" bIns="0" anchor="ctr"/>
          <a:lstStyle/>
          <a:p>
            <a:pPr marL="0" indent="0" algn="ctr">
              <a:buNone/>
              <a:defRPr sz="1000" b="1">
                <a:solidFill>
                  <a:srgbClr val="C43D32"/>
                </a:solidFill>
              </a:defRPr>
            </a:pPr>
            <a:r>
              <a:rPr sz="1000" b="1">
                <a:solidFill>
                  <a:srgbClr val="C43D32"/>
                </a:solidFill>
                <a:latin typeface="Calibri"/>
                <a:ea typeface="Calibri"/>
                <a:cs typeface="Calibri"/>
              </a:rPr>
              <a:t>FEHLER IM DIREKTBILD</a:t>
            </a:r>
          </a:p>
        </p:txBody>
      </p:sp>
      <p:sp>
        <p:nvSpPr>
          <p:cNvPr id="13" name="Text 9">
            <a:extLst>
              <a:ext uri="{FF2B5EF4-FFF2-40B4-BE49-F238E27FC236}">
                <a16:creationId xmlns:a16="http://schemas.microsoft.com/office/drawing/2014/main" id="{DE573B89-4C59-4F35-AD5D-6BDE1B20AC38}"/>
              </a:ext>
            </a:extLst>
          </p:cNvPr>
          <p:cNvSpPr>
            <a:spLocks noGrp="1"/>
          </p:cNvSpPr>
          <p:nvPr/>
        </p:nvSpPr>
        <p:spPr>
          <a:xfrm>
            <a:off x="11658600" y="6473952"/>
            <a:ext cx="365760" cy="274320"/>
          </a:xfrm>
          <a:prstGeom prst="rect">
            <a:avLst/>
          </a:prstGeom>
          <a:noFill/>
        </p:spPr>
        <p:txBody>
          <a:bodyPr wrap="square" lIns="0" tIns="0" rIns="0" bIns="0" anchor="ctr"/>
          <a:lstStyle/>
          <a:p>
            <a:pPr marL="0" indent="0" algn="r">
              <a:buNone/>
            </a:pPr>
            <a:r>
              <a:rPr sz="1000">
                <a:solidFill>
                  <a:srgbClr val="5B6575"/>
                </a:solidFill>
                <a:latin typeface="Calibri"/>
                <a:ea typeface="Calibri"/>
                <a:cs typeface="Calibri"/>
              </a:rPr>
              <a:t>13</a:t>
            </a:r>
          </a:p>
        </p:txBody>
      </p:sp>
      <p:sp>
        <p:nvSpPr>
          <p:cNvPr id="14" name="Text 10">
            <a:extLst>
              <a:ext uri="{FF2B5EF4-FFF2-40B4-BE49-F238E27FC236}">
                <a16:creationId xmlns:a16="http://schemas.microsoft.com/office/drawing/2014/main" id="{26D8AA32-7E92-4F32-B2EA-1FF8800E3D53}"/>
              </a:ext>
            </a:extLst>
          </p:cNvPr>
          <p:cNvSpPr>
            <a:spLocks noGrp="1"/>
          </p:cNvSpPr>
          <p:nvPr/>
        </p:nvSpPr>
        <p:spPr>
          <a:xfrm>
            <a:off x="502920" y="6473952"/>
            <a:ext cx="3657600" cy="274320"/>
          </a:xfrm>
          <a:prstGeom prst="rect">
            <a:avLst/>
          </a:prstGeom>
          <a:noFill/>
        </p:spPr>
        <p:txBody>
          <a:bodyPr wrap="square" lIns="0" tIns="0" rIns="0" bIns="0" anchor="ctr"/>
          <a:lstStyle/>
          <a:p>
            <a:pPr marL="0" indent="0" algn="l">
              <a:buNone/>
            </a:pPr>
            <a:r>
              <a:rPr sz="1000">
                <a:solidFill>
                  <a:srgbClr val="5B6575"/>
                </a:solidFill>
                <a:latin typeface="Calibri"/>
                <a:ea typeface="Calibri"/>
                <a:cs typeface="Calibri"/>
              </a:rPr>
              <a:t>Modellierung mit KI · UML</a:t>
            </a:r>
          </a:p>
        </p:txBody>
      </p:sp>
    </p:spTree>
    <p:extLst>
      <p:ext uri="{BB962C8B-B14F-4D97-AF65-F5344CB8AC3E}">
        <p14:creationId xmlns:p14="http://schemas.microsoft.com/office/powerpoint/2010/main" val="41595419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3" name="Text 1">
            <a:extLst>
              <a:ext uri="{FF2B5EF4-FFF2-40B4-BE49-F238E27FC236}">
                <a16:creationId xmlns:a16="http://schemas.microsoft.com/office/drawing/2014/main" id="{D0D9B4F3-D85E-4181-8FAC-9F329E1ECC96}"/>
              </a:ext>
            </a:extLst>
          </p:cNvPr>
          <p:cNvSpPr>
            <a:spLocks noGrp="1"/>
          </p:cNvSpPr>
          <p:nvPr/>
        </p:nvSpPr>
        <p:spPr>
          <a:xfrm>
            <a:off x="502920" y="658368"/>
            <a:ext cx="11155680" cy="685800"/>
          </a:xfrm>
          <a:prstGeom prst="rect">
            <a:avLst/>
          </a:prstGeom>
          <a:noFill/>
        </p:spPr>
        <p:txBody>
          <a:bodyPr wrap="square" lIns="0" tIns="0" rIns="0" bIns="0" anchor="ctr"/>
          <a:lstStyle/>
          <a:p>
            <a:pPr marL="0" indent="0">
              <a:buNone/>
            </a:pPr>
            <a:r>
              <a:rPr sz="3000" b="1">
                <a:solidFill>
                  <a:srgbClr val="1C2434"/>
                </a:solidFill>
                <a:latin typeface="Cambria"/>
                <a:ea typeface="Cambria"/>
                <a:cs typeface="Cambria"/>
              </a:rPr>
              <a:t>Gleicher Inhalt, zwei Layoutwege</a:t>
            </a:r>
          </a:p>
        </p:txBody>
      </p:sp>
      <p:sp>
        <p:nvSpPr>
          <p:cNvPr id="4" name="Text 2">
            <a:extLst>
              <a:ext uri="{FF2B5EF4-FFF2-40B4-BE49-F238E27FC236}">
                <a16:creationId xmlns:a16="http://schemas.microsoft.com/office/drawing/2014/main" id="{93ACDAF2-E408-4D83-A8CD-D935C9318403}"/>
              </a:ext>
            </a:extLst>
          </p:cNvPr>
          <p:cNvSpPr>
            <a:spLocks noGrp="1"/>
          </p:cNvSpPr>
          <p:nvPr/>
        </p:nvSpPr>
        <p:spPr>
          <a:xfrm>
            <a:off x="502920" y="1371600"/>
            <a:ext cx="11155680" cy="320040"/>
          </a:xfrm>
          <a:prstGeom prst="rect">
            <a:avLst/>
          </a:prstGeom>
          <a:noFill/>
        </p:spPr>
        <p:txBody>
          <a:bodyPr wrap="square" lIns="0" tIns="0" rIns="0" bIns="0" anchor="ctr"/>
          <a:lstStyle/>
          <a:p>
            <a:pPr marL="0" indent="0">
              <a:buNone/>
            </a:pPr>
            <a:r>
              <a:rPr sz="1350" i="1" err="1">
                <a:solidFill>
                  <a:srgbClr val="5B6575"/>
                </a:solidFill>
                <a:latin typeface="Calibri"/>
                <a:ea typeface="Calibri"/>
                <a:cs typeface="Calibri"/>
              </a:rPr>
              <a:t>EasyRide</a:t>
            </a:r>
            <a:r>
              <a:rPr sz="1350" i="1">
                <a:solidFill>
                  <a:srgbClr val="5B6575"/>
                </a:solidFill>
                <a:latin typeface="Calibri"/>
                <a:ea typeface="Calibri"/>
                <a:cs typeface="Calibri"/>
              </a:rPr>
              <a:t> · </a:t>
            </a:r>
            <a:r>
              <a:rPr sz="1350" i="1" err="1">
                <a:solidFill>
                  <a:srgbClr val="5B6575"/>
                </a:solidFill>
                <a:latin typeface="Calibri"/>
                <a:ea typeface="Calibri"/>
                <a:cs typeface="Calibri"/>
              </a:rPr>
              <a:t>Klassendiagramm</a:t>
            </a:r>
            <a:r>
              <a:rPr sz="1350" i="1">
                <a:solidFill>
                  <a:srgbClr val="5B6575"/>
                </a:solidFill>
                <a:latin typeface="Calibri"/>
                <a:ea typeface="Calibri"/>
                <a:cs typeface="Calibri"/>
              </a:rPr>
              <a:t> · </a:t>
            </a:r>
            <a:r>
              <a:rPr lang="de-DE" sz="1350" i="1">
                <a:solidFill>
                  <a:srgbClr val="5B6575"/>
                </a:solidFill>
                <a:latin typeface="Calibri"/>
                <a:ea typeface="Calibri"/>
                <a:cs typeface="Calibri"/>
              </a:rPr>
              <a:t>ChatGPT</a:t>
            </a:r>
            <a:r>
              <a:rPr sz="1350" i="1">
                <a:solidFill>
                  <a:srgbClr val="5B6575"/>
                </a:solidFill>
                <a:latin typeface="Calibri"/>
                <a:ea typeface="Calibri"/>
                <a:cs typeface="Calibri"/>
              </a:rPr>
              <a:t> — </a:t>
            </a:r>
            <a:r>
              <a:rPr sz="1350" i="1" err="1">
                <a:solidFill>
                  <a:srgbClr val="5B6575"/>
                </a:solidFill>
                <a:latin typeface="Calibri"/>
                <a:ea typeface="Calibri"/>
                <a:cs typeface="Calibri"/>
              </a:rPr>
              <a:t>verglichen</a:t>
            </a:r>
            <a:r>
              <a:rPr sz="1350" i="1">
                <a:solidFill>
                  <a:srgbClr val="5B6575"/>
                </a:solidFill>
                <a:latin typeface="Calibri"/>
                <a:ea typeface="Calibri"/>
                <a:cs typeface="Calibri"/>
              </a:rPr>
              <a:t> </a:t>
            </a:r>
            <a:r>
              <a:rPr sz="1350" i="1" err="1">
                <a:solidFill>
                  <a:srgbClr val="5B6575"/>
                </a:solidFill>
                <a:latin typeface="Calibri"/>
                <a:ea typeface="Calibri"/>
                <a:cs typeface="Calibri"/>
              </a:rPr>
              <a:t>wird</a:t>
            </a:r>
            <a:r>
              <a:rPr sz="1350" i="1">
                <a:solidFill>
                  <a:srgbClr val="5B6575"/>
                </a:solidFill>
                <a:latin typeface="Calibri"/>
                <a:ea typeface="Calibri"/>
                <a:cs typeface="Calibri"/>
              </a:rPr>
              <a:t> </a:t>
            </a:r>
            <a:r>
              <a:rPr sz="1350" i="1" err="1">
                <a:solidFill>
                  <a:srgbClr val="5B6575"/>
                </a:solidFill>
                <a:latin typeface="Calibri"/>
                <a:ea typeface="Calibri"/>
                <a:cs typeface="Calibri"/>
              </a:rPr>
              <a:t>nur</a:t>
            </a:r>
            <a:r>
              <a:rPr sz="1350" i="1">
                <a:solidFill>
                  <a:srgbClr val="5B6575"/>
                </a:solidFill>
                <a:latin typeface="Calibri"/>
                <a:ea typeface="Calibri"/>
                <a:cs typeface="Calibri"/>
              </a:rPr>
              <a:t> die </a:t>
            </a:r>
            <a:r>
              <a:rPr sz="1350" i="1" err="1">
                <a:solidFill>
                  <a:srgbClr val="5B6575"/>
                </a:solidFill>
                <a:latin typeface="Calibri"/>
                <a:ea typeface="Calibri"/>
                <a:cs typeface="Calibri"/>
              </a:rPr>
              <a:t>Zeichenqualität</a:t>
            </a:r>
            <a:endParaRPr sz="1350" i="1">
              <a:solidFill>
                <a:srgbClr val="5B6575"/>
              </a:solidFill>
              <a:latin typeface="Calibri"/>
              <a:ea typeface="Calibri"/>
              <a:cs typeface="Calibri"/>
            </a:endParaRPr>
          </a:p>
        </p:txBody>
      </p:sp>
      <p:sp>
        <p:nvSpPr>
          <p:cNvPr id="5" name="Shape 3">
            <a:extLst>
              <a:ext uri="{FF2B5EF4-FFF2-40B4-BE49-F238E27FC236}">
                <a16:creationId xmlns:a16="http://schemas.microsoft.com/office/drawing/2014/main" id="{756ED54E-B2F2-4A2A-B917-B486DB1FB0A5}"/>
              </a:ext>
            </a:extLst>
          </p:cNvPr>
          <p:cNvSpPr>
            <a:spLocks noGrp="1"/>
          </p:cNvSpPr>
          <p:nvPr/>
        </p:nvSpPr>
        <p:spPr>
          <a:xfrm>
            <a:off x="502920" y="1783080"/>
            <a:ext cx="2377440" cy="310896"/>
          </a:xfrm>
          <a:prstGeom prst="roundRect">
            <a:avLst>
              <a:gd name="adj" fmla="val 50000"/>
            </a:avLst>
          </a:prstGeom>
          <a:solidFill>
            <a:srgbClr val="FBEBE9"/>
          </a:solidFill>
          <a:ln w="9525">
            <a:solidFill>
              <a:srgbClr val="B23A2E"/>
            </a:solidFill>
            <a:prstDash val="solid"/>
          </a:ln>
        </p:spPr>
        <p:txBody>
          <a:bodyPr/>
          <a:lstStyle/>
          <a:p>
            <a:endParaRPr lang="de-DE"/>
          </a:p>
        </p:txBody>
      </p:sp>
      <p:sp>
        <p:nvSpPr>
          <p:cNvPr id="6" name="Text 4">
            <a:extLst>
              <a:ext uri="{FF2B5EF4-FFF2-40B4-BE49-F238E27FC236}">
                <a16:creationId xmlns:a16="http://schemas.microsoft.com/office/drawing/2014/main" id="{A5C08A69-A808-403B-9542-5890C7C5FD44}"/>
              </a:ext>
            </a:extLst>
          </p:cNvPr>
          <p:cNvSpPr>
            <a:spLocks noGrp="1"/>
          </p:cNvSpPr>
          <p:nvPr/>
        </p:nvSpPr>
        <p:spPr>
          <a:xfrm>
            <a:off x="502920" y="1783080"/>
            <a:ext cx="2377440" cy="310896"/>
          </a:xfrm>
          <a:prstGeom prst="rect">
            <a:avLst/>
          </a:prstGeom>
          <a:noFill/>
        </p:spPr>
        <p:txBody>
          <a:bodyPr wrap="square" lIns="0" tIns="0" rIns="0" bIns="0" anchor="ctr"/>
          <a:lstStyle/>
          <a:p>
            <a:pPr marL="0" indent="0" algn="ctr">
              <a:buNone/>
            </a:pPr>
            <a:r>
              <a:rPr sz="1100" b="1">
                <a:solidFill>
                  <a:srgbClr val="B23A2E"/>
                </a:solidFill>
                <a:latin typeface="Calibri"/>
                <a:ea typeface="Calibri"/>
                <a:cs typeface="Calibri"/>
              </a:rPr>
              <a:t>PLANTUML-AUTO-LAYOUT</a:t>
            </a:r>
          </a:p>
        </p:txBody>
      </p:sp>
      <p:pic>
        <p:nvPicPr>
          <p:cNvPr id="22" name="Image 0"/>
          <p:cNvPicPr>
            <a:picLocks noChangeAspect="1"/>
          </p:cNvPicPr>
          <p:nvPr/>
        </p:nvPicPr>
        <p:blipFill>
          <a:blip r:embed="rId3"/>
          <a:stretch/>
        </p:blipFill>
        <p:spPr>
          <a:xfrm>
            <a:off x="6267994" y="2262552"/>
            <a:ext cx="5922508" cy="3948338"/>
          </a:xfrm>
          <a:prstGeom prst="rect">
            <a:avLst/>
          </a:prstGeom>
        </p:spPr>
      </p:pic>
      <p:sp>
        <p:nvSpPr>
          <p:cNvPr id="8" name="Text 5">
            <a:extLst>
              <a:ext uri="{FF2B5EF4-FFF2-40B4-BE49-F238E27FC236}">
                <a16:creationId xmlns:a16="http://schemas.microsoft.com/office/drawing/2014/main" id="{12BAD80E-6D45-4F9E-B253-DA8D136BDEBC}"/>
              </a:ext>
            </a:extLst>
          </p:cNvPr>
          <p:cNvSpPr>
            <a:spLocks noGrp="1"/>
          </p:cNvSpPr>
          <p:nvPr/>
        </p:nvSpPr>
        <p:spPr>
          <a:xfrm>
            <a:off x="646128" y="6167235"/>
            <a:ext cx="6572250" cy="514350"/>
          </a:xfrm>
          <a:prstGeom prst="rect">
            <a:avLst/>
          </a:prstGeom>
          <a:noFill/>
        </p:spPr>
        <p:txBody>
          <a:bodyPr wrap="square" lIns="0" tIns="0" rIns="0" bIns="0" anchor="t"/>
          <a:lstStyle/>
          <a:p>
            <a:pPr marL="152400" indent="-152400">
              <a:lnSpc>
                <a:spcPct val="105000"/>
              </a:lnSpc>
              <a:spcAft>
                <a:spcPts val="500"/>
              </a:spcAft>
              <a:buSzPct val="100000"/>
              <a:buChar char="•"/>
            </a:pPr>
            <a:r>
              <a:rPr sz="1250" err="1">
                <a:solidFill>
                  <a:srgbClr val="B23A2E"/>
                </a:solidFill>
                <a:latin typeface="Calibri"/>
                <a:ea typeface="Calibri"/>
                <a:cs typeface="Calibri"/>
              </a:rPr>
              <a:t>Fachlich</a:t>
            </a:r>
            <a:r>
              <a:rPr sz="1250">
                <a:solidFill>
                  <a:srgbClr val="B23A2E"/>
                </a:solidFill>
                <a:latin typeface="Calibri"/>
                <a:ea typeface="Calibri"/>
                <a:cs typeface="Calibri"/>
              </a:rPr>
              <a:t> </a:t>
            </a:r>
            <a:r>
              <a:rPr sz="1250" err="1">
                <a:solidFill>
                  <a:srgbClr val="B23A2E"/>
                </a:solidFill>
                <a:latin typeface="Calibri"/>
                <a:ea typeface="Calibri"/>
                <a:cs typeface="Calibri"/>
              </a:rPr>
              <a:t>korrekt</a:t>
            </a:r>
            <a:r>
              <a:rPr sz="1250">
                <a:solidFill>
                  <a:srgbClr val="B23A2E"/>
                </a:solidFill>
                <a:latin typeface="Calibri"/>
                <a:ea typeface="Calibri"/>
                <a:cs typeface="Calibri"/>
              </a:rPr>
              <a:t>, </a:t>
            </a:r>
            <a:r>
              <a:rPr sz="1250" err="1">
                <a:solidFill>
                  <a:srgbClr val="B23A2E"/>
                </a:solidFill>
                <a:latin typeface="Calibri"/>
                <a:ea typeface="Calibri"/>
                <a:cs typeface="Calibri"/>
              </a:rPr>
              <a:t>aber</a:t>
            </a:r>
            <a:r>
              <a:rPr sz="1250">
                <a:solidFill>
                  <a:srgbClr val="B23A2E"/>
                </a:solidFill>
                <a:latin typeface="Calibri"/>
                <a:ea typeface="Calibri"/>
                <a:cs typeface="Calibri"/>
              </a:rPr>
              <a:t> </a:t>
            </a:r>
            <a:r>
              <a:rPr sz="1250" err="1">
                <a:solidFill>
                  <a:srgbClr val="B23A2E"/>
                </a:solidFill>
                <a:latin typeface="Calibri"/>
                <a:ea typeface="Calibri"/>
                <a:cs typeface="Calibri"/>
              </a:rPr>
              <a:t>mit</a:t>
            </a:r>
            <a:r>
              <a:rPr sz="1250">
                <a:solidFill>
                  <a:srgbClr val="B23A2E"/>
                </a:solidFill>
                <a:latin typeface="Calibri"/>
                <a:ea typeface="Calibri"/>
                <a:cs typeface="Calibri"/>
              </a:rPr>
              <a:t> </a:t>
            </a:r>
            <a:r>
              <a:rPr sz="1250" err="1">
                <a:solidFill>
                  <a:srgbClr val="B23A2E"/>
                </a:solidFill>
                <a:latin typeface="Calibri"/>
                <a:ea typeface="Calibri"/>
                <a:cs typeface="Calibri"/>
              </a:rPr>
              <a:t>weiten</a:t>
            </a:r>
            <a:r>
              <a:rPr sz="1250">
                <a:solidFill>
                  <a:srgbClr val="B23A2E"/>
                </a:solidFill>
                <a:latin typeface="Calibri"/>
                <a:ea typeface="Calibri"/>
                <a:cs typeface="Calibri"/>
              </a:rPr>
              <a:t> </a:t>
            </a:r>
            <a:r>
              <a:rPr sz="1250" err="1">
                <a:solidFill>
                  <a:srgbClr val="B23A2E"/>
                </a:solidFill>
                <a:latin typeface="Calibri"/>
                <a:ea typeface="Calibri"/>
                <a:cs typeface="Calibri"/>
              </a:rPr>
              <a:t>Beziehungsbögen</a:t>
            </a:r>
            <a:endParaRPr sz="1250">
              <a:solidFill>
                <a:srgbClr val="B23A2E"/>
              </a:solidFill>
              <a:latin typeface="Calibri"/>
              <a:ea typeface="Calibri"/>
              <a:cs typeface="Calibri"/>
            </a:endParaRPr>
          </a:p>
        </p:txBody>
      </p:sp>
      <p:sp>
        <p:nvSpPr>
          <p:cNvPr id="9" name="Shape 6">
            <a:extLst>
              <a:ext uri="{FF2B5EF4-FFF2-40B4-BE49-F238E27FC236}">
                <a16:creationId xmlns:a16="http://schemas.microsoft.com/office/drawing/2014/main" id="{F1F4440C-0737-4F21-A667-4DAA0585AB27}"/>
              </a:ext>
            </a:extLst>
          </p:cNvPr>
          <p:cNvSpPr>
            <a:spLocks noGrp="1"/>
          </p:cNvSpPr>
          <p:nvPr/>
        </p:nvSpPr>
        <p:spPr>
          <a:xfrm>
            <a:off x="6355080" y="1783080"/>
            <a:ext cx="2834640" cy="310896"/>
          </a:xfrm>
          <a:prstGeom prst="roundRect">
            <a:avLst>
              <a:gd name="adj" fmla="val 50000"/>
            </a:avLst>
          </a:prstGeom>
          <a:solidFill>
            <a:srgbClr val="E7F4EC"/>
          </a:solidFill>
          <a:ln w="9525">
            <a:solidFill>
              <a:srgbClr val="1F7A4D"/>
            </a:solidFill>
            <a:prstDash val="solid"/>
          </a:ln>
        </p:spPr>
        <p:txBody>
          <a:bodyPr/>
          <a:lstStyle/>
          <a:p>
            <a:endParaRPr lang="de-DE"/>
          </a:p>
        </p:txBody>
      </p:sp>
      <p:sp>
        <p:nvSpPr>
          <p:cNvPr id="10" name="Text 7">
            <a:extLst>
              <a:ext uri="{FF2B5EF4-FFF2-40B4-BE49-F238E27FC236}">
                <a16:creationId xmlns:a16="http://schemas.microsoft.com/office/drawing/2014/main" id="{8AC95CC2-DA7F-4378-8B02-902B59329FAC}"/>
              </a:ext>
            </a:extLst>
          </p:cNvPr>
          <p:cNvSpPr>
            <a:spLocks noGrp="1"/>
          </p:cNvSpPr>
          <p:nvPr/>
        </p:nvSpPr>
        <p:spPr>
          <a:xfrm>
            <a:off x="6355080" y="1783080"/>
            <a:ext cx="2834640" cy="310896"/>
          </a:xfrm>
          <a:prstGeom prst="rect">
            <a:avLst/>
          </a:prstGeom>
          <a:noFill/>
        </p:spPr>
        <p:txBody>
          <a:bodyPr wrap="square" lIns="0" tIns="0" rIns="0" bIns="0" anchor="ctr"/>
          <a:lstStyle/>
          <a:p>
            <a:pPr marL="0" indent="0" algn="ctr">
              <a:buNone/>
            </a:pPr>
            <a:r>
              <a:rPr lang="de-DE" sz="1100" b="1">
                <a:solidFill>
                  <a:srgbClr val="1F7A4D"/>
                </a:solidFill>
                <a:latin typeface="Calibri"/>
                <a:ea typeface="Calibri"/>
                <a:cs typeface="Calibri"/>
              </a:rPr>
              <a:t>DIREKT GEZEICHNET</a:t>
            </a:r>
            <a:endParaRPr sz="1100" b="1">
              <a:solidFill>
                <a:srgbClr val="1F7A4D"/>
              </a:solidFill>
              <a:latin typeface="Calibri"/>
              <a:ea typeface="Calibri"/>
              <a:cs typeface="Calibri"/>
            </a:endParaRPr>
          </a:p>
        </p:txBody>
      </p:sp>
      <p:pic>
        <p:nvPicPr>
          <p:cNvPr id="26" name="Image 1"/>
          <p:cNvPicPr>
            <a:picLocks noChangeAspect="1"/>
          </p:cNvPicPr>
          <p:nvPr/>
        </p:nvPicPr>
        <p:blipFill>
          <a:blip r:embed="rId4"/>
          <a:stretch/>
        </p:blipFill>
        <p:spPr>
          <a:xfrm>
            <a:off x="813276" y="2185415"/>
            <a:ext cx="3188453" cy="3863693"/>
          </a:xfrm>
          <a:prstGeom prst="rect">
            <a:avLst/>
          </a:prstGeom>
        </p:spPr>
      </p:pic>
      <p:sp>
        <p:nvSpPr>
          <p:cNvPr id="12" name="Text 8">
            <a:extLst>
              <a:ext uri="{FF2B5EF4-FFF2-40B4-BE49-F238E27FC236}">
                <a16:creationId xmlns:a16="http://schemas.microsoft.com/office/drawing/2014/main" id="{453354BE-9245-43E5-81E9-FB36F499CBB0}"/>
              </a:ext>
            </a:extLst>
          </p:cNvPr>
          <p:cNvSpPr>
            <a:spLocks noGrp="1"/>
          </p:cNvSpPr>
          <p:nvPr/>
        </p:nvSpPr>
        <p:spPr>
          <a:xfrm>
            <a:off x="6355080" y="6210890"/>
            <a:ext cx="4095750" cy="514350"/>
          </a:xfrm>
          <a:prstGeom prst="rect">
            <a:avLst/>
          </a:prstGeom>
          <a:noFill/>
        </p:spPr>
        <p:txBody>
          <a:bodyPr wrap="square" lIns="0" tIns="0" rIns="0" bIns="0" anchor="t"/>
          <a:lstStyle/>
          <a:p>
            <a:pPr marL="152400" indent="-152400">
              <a:lnSpc>
                <a:spcPct val="105000"/>
              </a:lnSpc>
              <a:spcAft>
                <a:spcPts val="500"/>
              </a:spcAft>
              <a:buSzPct val="100000"/>
              <a:buChar char="•"/>
            </a:pPr>
            <a:r>
              <a:rPr sz="1250" err="1">
                <a:solidFill>
                  <a:srgbClr val="1F7A4D"/>
                </a:solidFill>
                <a:latin typeface="Calibri"/>
                <a:ea typeface="Calibri"/>
                <a:cs typeface="Calibri"/>
              </a:rPr>
              <a:t>Derselbe</a:t>
            </a:r>
            <a:r>
              <a:rPr sz="1250">
                <a:solidFill>
                  <a:srgbClr val="1F7A4D"/>
                </a:solidFill>
                <a:latin typeface="Calibri"/>
                <a:ea typeface="Calibri"/>
                <a:cs typeface="Calibri"/>
              </a:rPr>
              <a:t> </a:t>
            </a:r>
            <a:r>
              <a:rPr sz="1250" err="1">
                <a:solidFill>
                  <a:srgbClr val="1F7A4D"/>
                </a:solidFill>
                <a:latin typeface="Calibri"/>
                <a:ea typeface="Calibri"/>
                <a:cs typeface="Calibri"/>
              </a:rPr>
              <a:t>Inhalt</a:t>
            </a:r>
            <a:r>
              <a:rPr sz="1250">
                <a:solidFill>
                  <a:srgbClr val="1F7A4D"/>
                </a:solidFill>
                <a:latin typeface="Calibri"/>
                <a:ea typeface="Calibri"/>
                <a:cs typeface="Calibri"/>
              </a:rPr>
              <a:t> </a:t>
            </a:r>
            <a:r>
              <a:rPr sz="1250" err="1">
                <a:solidFill>
                  <a:srgbClr val="1F7A4D"/>
                </a:solidFill>
                <a:latin typeface="Calibri"/>
                <a:ea typeface="Calibri"/>
                <a:cs typeface="Calibri"/>
              </a:rPr>
              <a:t>kompakter</a:t>
            </a:r>
            <a:r>
              <a:rPr sz="1250">
                <a:solidFill>
                  <a:srgbClr val="1F7A4D"/>
                </a:solidFill>
                <a:latin typeface="Calibri"/>
                <a:ea typeface="Calibri"/>
                <a:cs typeface="Calibri"/>
              </a:rPr>
              <a:t> </a:t>
            </a:r>
            <a:r>
              <a:rPr sz="1250" err="1">
                <a:solidFill>
                  <a:srgbClr val="1F7A4D"/>
                </a:solidFill>
                <a:latin typeface="Calibri"/>
                <a:ea typeface="Calibri"/>
                <a:cs typeface="Calibri"/>
              </a:rPr>
              <a:t>angeordnet</a:t>
            </a:r>
            <a:endParaRPr sz="1250">
              <a:solidFill>
                <a:srgbClr val="1F7A4D"/>
              </a:solidFill>
              <a:latin typeface="Calibri"/>
              <a:ea typeface="Calibri"/>
              <a:cs typeface="Calibri"/>
            </a:endParaRPr>
          </a:p>
        </p:txBody>
      </p:sp>
      <p:sp>
        <p:nvSpPr>
          <p:cNvPr id="13" name="Text 9">
            <a:extLst>
              <a:ext uri="{FF2B5EF4-FFF2-40B4-BE49-F238E27FC236}">
                <a16:creationId xmlns:a16="http://schemas.microsoft.com/office/drawing/2014/main" id="{DE573B89-4C59-4F35-AD5D-6BDE1B20AC38}"/>
              </a:ext>
            </a:extLst>
          </p:cNvPr>
          <p:cNvSpPr>
            <a:spLocks noGrp="1"/>
          </p:cNvSpPr>
          <p:nvPr/>
        </p:nvSpPr>
        <p:spPr>
          <a:xfrm>
            <a:off x="11658600" y="6473952"/>
            <a:ext cx="365760" cy="274320"/>
          </a:xfrm>
          <a:prstGeom prst="rect">
            <a:avLst/>
          </a:prstGeom>
          <a:noFill/>
        </p:spPr>
        <p:txBody>
          <a:bodyPr wrap="square" lIns="0" tIns="0" rIns="0" bIns="0" anchor="ctr"/>
          <a:lstStyle/>
          <a:p>
            <a:pPr marL="0" indent="0" algn="r">
              <a:buNone/>
            </a:pPr>
            <a:r>
              <a:rPr lang="de-DE" sz="1000">
                <a:solidFill>
                  <a:srgbClr val="5B6575"/>
                </a:solidFill>
                <a:latin typeface="Calibri"/>
                <a:ea typeface="Calibri"/>
                <a:cs typeface="Calibri"/>
              </a:rPr>
              <a:t>14</a:t>
            </a:r>
            <a:endParaRPr sz="1000">
              <a:solidFill>
                <a:srgbClr val="5B6575"/>
              </a:solidFill>
              <a:latin typeface="Calibri"/>
              <a:ea typeface="Calibri"/>
              <a:cs typeface="Calibri"/>
            </a:endParaRPr>
          </a:p>
        </p:txBody>
      </p:sp>
      <p:sp>
        <p:nvSpPr>
          <p:cNvPr id="14" name="Text 10">
            <a:extLst>
              <a:ext uri="{FF2B5EF4-FFF2-40B4-BE49-F238E27FC236}">
                <a16:creationId xmlns:a16="http://schemas.microsoft.com/office/drawing/2014/main" id="{26D8AA32-7E92-4F32-B2EA-1FF8800E3D53}"/>
              </a:ext>
            </a:extLst>
          </p:cNvPr>
          <p:cNvSpPr>
            <a:spLocks noGrp="1"/>
          </p:cNvSpPr>
          <p:nvPr/>
        </p:nvSpPr>
        <p:spPr>
          <a:xfrm>
            <a:off x="502920" y="6473952"/>
            <a:ext cx="3657600" cy="274320"/>
          </a:xfrm>
          <a:prstGeom prst="rect">
            <a:avLst/>
          </a:prstGeom>
          <a:noFill/>
        </p:spPr>
        <p:txBody>
          <a:bodyPr wrap="square" lIns="0" tIns="0" rIns="0" bIns="0" anchor="ctr"/>
          <a:lstStyle/>
          <a:p>
            <a:pPr marL="0" indent="0" algn="l">
              <a:buNone/>
            </a:pPr>
            <a:r>
              <a:rPr sz="1000">
                <a:solidFill>
                  <a:srgbClr val="5B6575"/>
                </a:solidFill>
                <a:latin typeface="Calibri"/>
                <a:ea typeface="Calibri"/>
                <a:cs typeface="Calibri"/>
              </a:rPr>
              <a:t>Modellierung mit KI · UML</a:t>
            </a:r>
          </a:p>
        </p:txBody>
      </p:sp>
      <p:sp>
        <p:nvSpPr>
          <p:cNvPr id="16" name="Text 0">
            <a:extLst>
              <a:ext uri="{FF2B5EF4-FFF2-40B4-BE49-F238E27FC236}">
                <a16:creationId xmlns:a16="http://schemas.microsoft.com/office/drawing/2014/main" id="{13A5C53F-E24B-2ECE-77E2-3A576846513C}"/>
              </a:ext>
            </a:extLst>
          </p:cNvPr>
          <p:cNvSpPr/>
          <p:nvPr/>
        </p:nvSpPr>
        <p:spPr>
          <a:xfrm>
            <a:off x="502920" y="384048"/>
            <a:ext cx="11155680" cy="292608"/>
          </a:xfrm>
          <a:prstGeom prst="rect">
            <a:avLst/>
          </a:prstGeom>
          <a:noFill/>
          <a:ln/>
        </p:spPr>
        <p:txBody>
          <a:bodyPr wrap="square" lIns="0" tIns="0" rIns="0" bIns="0" rtlCol="0" anchor="ctr"/>
          <a:lstStyle/>
          <a:p>
            <a:r>
              <a:rPr lang="en-US" sz="1300" b="1" kern="0" spc="200">
                <a:solidFill>
                  <a:srgbClr val="3E5FA3"/>
                </a:solidFill>
                <a:latin typeface="Calibri"/>
                <a:ea typeface="Calibri"/>
                <a:cs typeface="Calibri"/>
              </a:rPr>
              <a:t>4 · KERNBEFUNDE — LAYOUT</a:t>
            </a:r>
            <a:endParaRPr lang="en-US" sz="1300">
              <a:latin typeface="Calibri"/>
              <a:ea typeface="Calibri"/>
              <a:cs typeface="Calibri"/>
            </a:endParaRPr>
          </a:p>
        </p:txBody>
      </p:sp>
    </p:spTree>
    <p:extLst>
      <p:ext uri="{BB962C8B-B14F-4D97-AF65-F5344CB8AC3E}">
        <p14:creationId xmlns:p14="http://schemas.microsoft.com/office/powerpoint/2010/main" val="6730987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4 · KERNBEFUNDE — PROMPTS &amp; WIEDERHOLBARKEIT</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Gleicher Prompt, anderes Modell</a:t>
            </a:r>
            <a:endParaRPr lang="en-US" sz="3000"/>
          </a:p>
        </p:txBody>
      </p:sp>
      <p:sp>
        <p:nvSpPr>
          <p:cNvPr id="4" name="Text 2"/>
          <p:cNvSpPr/>
          <p:nvPr/>
        </p:nvSpPr>
        <p:spPr>
          <a:xfrm>
            <a:off x="502920" y="1645920"/>
            <a:ext cx="5394960" cy="548640"/>
          </a:xfrm>
          <a:prstGeom prst="rect">
            <a:avLst/>
          </a:prstGeom>
          <a:noFill/>
          <a:ln/>
        </p:spPr>
        <p:txBody>
          <a:bodyPr wrap="square" lIns="0" tIns="0" rIns="0" bIns="0" rtlCol="0" anchor="ctr"/>
          <a:lstStyle/>
          <a:p>
            <a:pPr marL="0" indent="0">
              <a:lnSpc>
                <a:spcPct val="105000"/>
              </a:lnSpc>
              <a:buNone/>
            </a:pPr>
            <a:r>
              <a:rPr lang="en-US" sz="1600" b="1">
                <a:solidFill>
                  <a:srgbClr val="1C2434"/>
                </a:solidFill>
                <a:latin typeface="Cambria" pitchFamily="34" charset="0"/>
                <a:ea typeface="Cambria" pitchFamily="34" charset="-122"/>
                <a:cs typeface="Cambria" pitchFamily="34" charset="-120"/>
              </a:rPr>
              <a:t>Konnten wir die Ergebnisse durch Prompt-Anpassungen verbessern?</a:t>
            </a:r>
            <a:endParaRPr lang="en-US" sz="1600"/>
          </a:p>
        </p:txBody>
      </p:sp>
      <p:sp>
        <p:nvSpPr>
          <p:cNvPr id="5" name="Text 3"/>
          <p:cNvSpPr/>
          <p:nvPr/>
        </p:nvSpPr>
        <p:spPr>
          <a:xfrm>
            <a:off x="502920" y="2286000"/>
            <a:ext cx="5394960" cy="3474720"/>
          </a:xfrm>
          <a:prstGeom prst="rect">
            <a:avLst/>
          </a:prstGeom>
          <a:noFill/>
          <a:ln/>
        </p:spPr>
        <p:txBody>
          <a:bodyPr wrap="square" lIns="0" tIns="0" rIns="0" bIns="0" rtlCol="0" anchor="t"/>
          <a:lstStyle/>
          <a:p>
            <a:pPr marL="152400" indent="-152400">
              <a:lnSpc>
                <a:spcPct val="105000"/>
              </a:lnSpc>
              <a:spcAft>
                <a:spcPts val="1200"/>
              </a:spcAft>
              <a:buSzPct val="100000"/>
              <a:buChar char="•"/>
            </a:pPr>
            <a:r>
              <a:rPr lang="en-US" sz="1350">
                <a:solidFill>
                  <a:srgbClr val="1C2434"/>
                </a:solidFill>
                <a:latin typeface="Calibri"/>
                <a:ea typeface="Calibri"/>
                <a:cs typeface="Calibri"/>
              </a:rPr>
              <a:t>Eine </a:t>
            </a:r>
            <a:r>
              <a:rPr lang="en-US" sz="1350" err="1">
                <a:solidFill>
                  <a:srgbClr val="1C2434"/>
                </a:solidFill>
                <a:latin typeface="Calibri"/>
                <a:ea typeface="Calibri"/>
                <a:cs typeface="Calibri"/>
              </a:rPr>
              <a:t>echte</a:t>
            </a:r>
            <a:r>
              <a:rPr lang="en-US" sz="1350">
                <a:solidFill>
                  <a:srgbClr val="1C2434"/>
                </a:solidFill>
                <a:latin typeface="Calibri"/>
                <a:ea typeface="Calibri"/>
                <a:cs typeface="Calibri"/>
              </a:rPr>
              <a:t> Prompt-Iteration war nicht </a:t>
            </a:r>
            <a:r>
              <a:rPr lang="en-US" sz="1350" err="1">
                <a:solidFill>
                  <a:srgbClr val="1C2434"/>
                </a:solidFill>
                <a:latin typeface="Calibri"/>
                <a:ea typeface="Calibri"/>
                <a:cs typeface="Calibri"/>
              </a:rPr>
              <a:t>nötig</a:t>
            </a:r>
            <a:r>
              <a:rPr lang="en-US" sz="1350">
                <a:solidFill>
                  <a:srgbClr val="1C2434"/>
                </a:solidFill>
                <a:latin typeface="Calibri"/>
                <a:ea typeface="Calibri"/>
                <a:cs typeface="Calibri"/>
              </a:rPr>
              <a:t> – </a:t>
            </a:r>
            <a:r>
              <a:rPr lang="en-US" sz="1350" err="1">
                <a:solidFill>
                  <a:srgbClr val="1C2434"/>
                </a:solidFill>
                <a:latin typeface="Calibri"/>
                <a:ea typeface="Calibri"/>
                <a:cs typeface="Calibri"/>
              </a:rPr>
              <a:t>schon</a:t>
            </a:r>
            <a:r>
              <a:rPr lang="en-US" sz="1350">
                <a:solidFill>
                  <a:srgbClr val="1C2434"/>
                </a:solidFill>
                <a:latin typeface="Calibri"/>
                <a:ea typeface="Calibri"/>
                <a:cs typeface="Calibri"/>
              </a:rPr>
              <a:t> Version 1 </a:t>
            </a:r>
            <a:r>
              <a:rPr lang="en-US" sz="1350" err="1">
                <a:solidFill>
                  <a:srgbClr val="1C2434"/>
                </a:solidFill>
                <a:latin typeface="Calibri"/>
                <a:ea typeface="Calibri"/>
                <a:cs typeface="Calibri"/>
              </a:rPr>
              <a:t>erfüllte</a:t>
            </a:r>
            <a:r>
              <a:rPr lang="en-US" sz="1350">
                <a:solidFill>
                  <a:srgbClr val="1C2434"/>
                </a:solidFill>
                <a:latin typeface="Calibri"/>
                <a:ea typeface="Calibri"/>
                <a:cs typeface="Calibri"/>
              </a:rPr>
              <a:t> alle </a:t>
            </a:r>
            <a:r>
              <a:rPr lang="en-US" sz="1350" err="1">
                <a:solidFill>
                  <a:srgbClr val="1C2434"/>
                </a:solidFill>
                <a:latin typeface="Calibri"/>
                <a:ea typeface="Calibri"/>
                <a:cs typeface="Calibri"/>
              </a:rPr>
              <a:t>Mindestanforderungen</a:t>
            </a:r>
            <a:r>
              <a:rPr lang="en-US" sz="1350">
                <a:solidFill>
                  <a:srgbClr val="1C2434"/>
                </a:solidFill>
                <a:latin typeface="Calibri"/>
                <a:ea typeface="Calibri"/>
                <a:cs typeface="Calibri"/>
              </a:rPr>
              <a:t>. Die Fehler </a:t>
            </a:r>
            <a:r>
              <a:rPr lang="en-US" sz="1350" err="1">
                <a:solidFill>
                  <a:srgbClr val="1C2434"/>
                </a:solidFill>
                <a:latin typeface="Calibri"/>
                <a:ea typeface="Calibri"/>
                <a:cs typeface="Calibri"/>
              </a:rPr>
              <a:t>lagen</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im</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Zeichnen</a:t>
            </a:r>
            <a:r>
              <a:rPr lang="en-US" sz="1350">
                <a:solidFill>
                  <a:srgbClr val="1C2434"/>
                </a:solidFill>
                <a:latin typeface="Calibri"/>
                <a:ea typeface="Calibri"/>
                <a:cs typeface="Calibri"/>
              </a:rPr>
              <a:t>, nicht </a:t>
            </a:r>
            <a:r>
              <a:rPr lang="en-US" sz="1350" err="1">
                <a:solidFill>
                  <a:srgbClr val="1C2434"/>
                </a:solidFill>
                <a:latin typeface="Calibri"/>
                <a:ea typeface="Calibri"/>
                <a:cs typeface="Calibri"/>
              </a:rPr>
              <a:t>im</a:t>
            </a:r>
            <a:r>
              <a:rPr lang="en-US" sz="1350">
                <a:solidFill>
                  <a:srgbClr val="1C2434"/>
                </a:solidFill>
                <a:latin typeface="Calibri"/>
                <a:ea typeface="Calibri"/>
                <a:cs typeface="Calibri"/>
              </a:rPr>
              <a:t> Prompt-</a:t>
            </a:r>
            <a:r>
              <a:rPr lang="en-US" sz="1350" err="1">
                <a:solidFill>
                  <a:srgbClr val="1C2434"/>
                </a:solidFill>
                <a:latin typeface="Calibri"/>
                <a:ea typeface="Calibri"/>
                <a:cs typeface="Calibri"/>
              </a:rPr>
              <a:t>Verständnis</a:t>
            </a:r>
            <a:r>
              <a:rPr lang="en-US" sz="1350">
                <a:solidFill>
                  <a:srgbClr val="1C2434"/>
                </a:solidFill>
                <a:latin typeface="Calibri"/>
                <a:ea typeface="Calibri"/>
                <a:cs typeface="Calibri"/>
              </a:rPr>
              <a:t>.</a:t>
            </a:r>
            <a:endParaRPr lang="en-US" sz="1350">
              <a:latin typeface="Calibri"/>
              <a:ea typeface="Calibri"/>
              <a:cs typeface="Calibri"/>
            </a:endParaRPr>
          </a:p>
          <a:p>
            <a:pPr marL="152400" indent="-152400">
              <a:lnSpc>
                <a:spcPct val="105000"/>
              </a:lnSpc>
              <a:spcAft>
                <a:spcPts val="1200"/>
              </a:spcAft>
              <a:buSzPct val="100000"/>
              <a:buChar char="•"/>
            </a:pPr>
            <a:r>
              <a:rPr lang="en-US" sz="1350">
                <a:solidFill>
                  <a:srgbClr val="1C2434"/>
                </a:solidFill>
                <a:latin typeface="Calibri"/>
                <a:ea typeface="Calibri"/>
                <a:cs typeface="Calibri"/>
              </a:rPr>
              <a:t>Zweite </a:t>
            </a:r>
            <a:r>
              <a:rPr lang="en-US" sz="1350" err="1">
                <a:solidFill>
                  <a:srgbClr val="1C2434"/>
                </a:solidFill>
                <a:latin typeface="Calibri"/>
                <a:ea typeface="Calibri"/>
                <a:cs typeface="Calibri"/>
              </a:rPr>
              <a:t>Durchläufe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mit</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überarbeitetem</a:t>
            </a:r>
            <a:r>
              <a:rPr lang="en-US" sz="1350">
                <a:solidFill>
                  <a:srgbClr val="1C2434"/>
                </a:solidFill>
                <a:latin typeface="Calibri"/>
                <a:ea typeface="Calibri"/>
                <a:cs typeface="Calibri"/>
              </a:rPr>
              <a:t> Prompt in </a:t>
            </a:r>
            <a:r>
              <a:rPr lang="en-US" sz="1350" err="1">
                <a:solidFill>
                  <a:srgbClr val="1C2434"/>
                </a:solidFill>
                <a:latin typeface="Calibri"/>
                <a:ea typeface="Calibri"/>
                <a:cs typeface="Calibri"/>
              </a:rPr>
              <a:t>frischer</a:t>
            </a:r>
            <a:r>
              <a:rPr lang="en-US" sz="1350">
                <a:solidFill>
                  <a:srgbClr val="1C2434"/>
                </a:solidFill>
                <a:latin typeface="Calibri"/>
                <a:ea typeface="Calibri"/>
                <a:cs typeface="Calibri"/>
              </a:rPr>
              <a:t> Session – </a:t>
            </a:r>
            <a:r>
              <a:rPr lang="en-US" sz="1350" err="1">
                <a:solidFill>
                  <a:srgbClr val="1C2434"/>
                </a:solidFill>
                <a:latin typeface="Calibri"/>
                <a:ea typeface="Calibri"/>
                <a:cs typeface="Calibri"/>
              </a:rPr>
              <a:t>wie</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stabil</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ist</a:t>
            </a:r>
            <a:r>
              <a:rPr lang="en-US" sz="1350">
                <a:solidFill>
                  <a:srgbClr val="1C2434"/>
                </a:solidFill>
                <a:latin typeface="Calibri"/>
                <a:ea typeface="Calibri"/>
                <a:cs typeface="Calibri"/>
              </a:rPr>
              <a:t> das </a:t>
            </a:r>
            <a:r>
              <a:rPr lang="en-US" sz="1350" err="1">
                <a:solidFill>
                  <a:srgbClr val="1C2434"/>
                </a:solidFill>
                <a:latin typeface="Calibri"/>
                <a:ea typeface="Calibri"/>
                <a:cs typeface="Calibri"/>
              </a:rPr>
              <a:t>Ergebnis</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überhaupt</a:t>
            </a:r>
            <a:r>
              <a:rPr lang="en-US" sz="1350">
                <a:solidFill>
                  <a:srgbClr val="1C2434"/>
                </a:solidFill>
                <a:latin typeface="Calibri"/>
                <a:ea typeface="Calibri"/>
                <a:cs typeface="Calibri"/>
              </a:rPr>
              <a:t>?</a:t>
            </a:r>
            <a:endParaRPr lang="en-US" sz="1350">
              <a:latin typeface="Calibri"/>
              <a:ea typeface="Calibri"/>
              <a:cs typeface="Calibri"/>
            </a:endParaRPr>
          </a:p>
          <a:p>
            <a:pPr marL="152400" indent="-152400">
              <a:lnSpc>
                <a:spcPct val="105000"/>
              </a:lnSpc>
              <a:spcAft>
                <a:spcPts val="1200"/>
              </a:spcAft>
              <a:buSzPct val="100000"/>
              <a:buChar char="•"/>
            </a:pPr>
            <a:r>
              <a:rPr lang="en-US" sz="1350" err="1">
                <a:solidFill>
                  <a:srgbClr val="1C2434"/>
                </a:solidFill>
                <a:latin typeface="Calibri"/>
                <a:ea typeface="Calibri"/>
                <a:cs typeface="Calibri"/>
              </a:rPr>
              <a:t>Antwort</a:t>
            </a:r>
            <a:r>
              <a:rPr lang="en-US" sz="1350">
                <a:solidFill>
                  <a:srgbClr val="1C2434"/>
                </a:solidFill>
                <a:latin typeface="Calibri"/>
                <a:ea typeface="Calibri"/>
                <a:cs typeface="Calibri"/>
              </a:rPr>
              <a:t>: Jedes Modell </a:t>
            </a:r>
            <a:r>
              <a:rPr lang="en-US" sz="1350" err="1">
                <a:solidFill>
                  <a:srgbClr val="1C2434"/>
                </a:solidFill>
                <a:latin typeface="Calibri"/>
                <a:ea typeface="Calibri"/>
                <a:cs typeface="Calibri"/>
              </a:rPr>
              <a:t>ist</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ein</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anderer</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Wurf</a:t>
            </a:r>
            <a:r>
              <a:rPr lang="en-US" sz="1350">
                <a:solidFill>
                  <a:srgbClr val="1C2434"/>
                </a:solidFill>
                <a:latin typeface="Calibri"/>
                <a:ea typeface="Calibri"/>
                <a:cs typeface="Calibri"/>
              </a:rPr>
              <a:t> – </a:t>
            </a:r>
            <a:r>
              <a:rPr lang="en-US" sz="1350" err="1">
                <a:solidFill>
                  <a:srgbClr val="1C2434"/>
                </a:solidFill>
                <a:latin typeface="Calibri"/>
                <a:ea typeface="Calibri"/>
                <a:cs typeface="Calibri"/>
              </a:rPr>
              <a:t>inhaltlich</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vertretbar</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aber</a:t>
            </a:r>
            <a:r>
              <a:rPr lang="en-US" sz="1350">
                <a:solidFill>
                  <a:srgbClr val="1C2434"/>
                </a:solidFill>
                <a:latin typeface="Calibri"/>
                <a:ea typeface="Calibri"/>
                <a:cs typeface="Calibri"/>
              </a:rPr>
              <a:t> </a:t>
            </a:r>
            <a:r>
              <a:rPr lang="en-US" sz="1350" err="1">
                <a:solidFill>
                  <a:srgbClr val="1C2434"/>
                </a:solidFill>
                <a:latin typeface="Calibri"/>
                <a:ea typeface="Calibri"/>
                <a:cs typeface="Calibri"/>
              </a:rPr>
              <a:t>im</a:t>
            </a:r>
            <a:r>
              <a:rPr lang="en-US" sz="1350">
                <a:solidFill>
                  <a:srgbClr val="1C2434"/>
                </a:solidFill>
                <a:latin typeface="Calibri"/>
                <a:ea typeface="Calibri"/>
                <a:cs typeface="Calibri"/>
              </a:rPr>
              <a:t> Detail </a:t>
            </a:r>
            <a:r>
              <a:rPr lang="en-US" sz="1350" err="1">
                <a:solidFill>
                  <a:srgbClr val="1C2434"/>
                </a:solidFill>
                <a:latin typeface="Calibri"/>
                <a:ea typeface="Calibri"/>
                <a:cs typeface="Calibri"/>
              </a:rPr>
              <a:t>verschieden</a:t>
            </a:r>
            <a:r>
              <a:rPr lang="en-US" sz="1350">
                <a:solidFill>
                  <a:srgbClr val="1C2434"/>
                </a:solidFill>
                <a:latin typeface="Calibri"/>
                <a:ea typeface="Calibri"/>
                <a:cs typeface="Calibri"/>
              </a:rPr>
              <a:t>.</a:t>
            </a:r>
            <a:endParaRPr lang="en-US" sz="1350">
              <a:latin typeface="Calibri"/>
              <a:ea typeface="Calibri"/>
              <a:cs typeface="Calibri"/>
            </a:endParaRPr>
          </a:p>
        </p:txBody>
      </p:sp>
      <p:sp>
        <p:nvSpPr>
          <p:cNvPr id="6" name="Shape 4"/>
          <p:cNvSpPr/>
          <p:nvPr/>
        </p:nvSpPr>
        <p:spPr>
          <a:xfrm>
            <a:off x="6355080" y="1691640"/>
            <a:ext cx="5349240" cy="4069080"/>
          </a:xfrm>
          <a:prstGeom prst="roundRect">
            <a:avLst>
              <a:gd name="adj" fmla="val 2697"/>
            </a:avLst>
          </a:prstGeom>
          <a:solidFill>
            <a:srgbClr val="F3F6FB"/>
          </a:solidFill>
          <a:ln w="12700">
            <a:solidFill>
              <a:srgbClr val="D9E1EE"/>
            </a:solidFill>
            <a:prstDash val="solid"/>
          </a:ln>
        </p:spPr>
        <p:txBody>
          <a:bodyPr/>
          <a:lstStyle/>
          <a:p>
            <a:endParaRPr lang="de-DE"/>
          </a:p>
        </p:txBody>
      </p:sp>
      <p:sp>
        <p:nvSpPr>
          <p:cNvPr id="7" name="Text 5"/>
          <p:cNvSpPr/>
          <p:nvPr/>
        </p:nvSpPr>
        <p:spPr>
          <a:xfrm>
            <a:off x="6629400" y="1874520"/>
            <a:ext cx="4846320" cy="274320"/>
          </a:xfrm>
          <a:prstGeom prst="rect">
            <a:avLst/>
          </a:prstGeom>
          <a:noFill/>
          <a:ln/>
        </p:spPr>
        <p:txBody>
          <a:bodyPr wrap="square" lIns="0" tIns="0" rIns="0" bIns="0" rtlCol="0" anchor="ctr"/>
          <a:lstStyle/>
          <a:p>
            <a:pPr marL="0" indent="0">
              <a:buNone/>
            </a:pPr>
            <a:r>
              <a:rPr lang="en-US" sz="1100" b="1" kern="0" spc="100">
                <a:solidFill>
                  <a:srgbClr val="3E5FA3"/>
                </a:solidFill>
                <a:latin typeface="Calibri" pitchFamily="34" charset="0"/>
                <a:ea typeface="Calibri" pitchFamily="34" charset="-122"/>
                <a:cs typeface="Calibri" pitchFamily="34" charset="-120"/>
              </a:rPr>
              <a:t>BEOBACHTETE VARIANZ ZWISCHEN ZWEI DURCHLÄUFEN</a:t>
            </a:r>
            <a:endParaRPr lang="en-US" sz="1100"/>
          </a:p>
        </p:txBody>
      </p:sp>
      <p:sp>
        <p:nvSpPr>
          <p:cNvPr id="8" name="Text 6"/>
          <p:cNvSpPr/>
          <p:nvPr/>
        </p:nvSpPr>
        <p:spPr>
          <a:xfrm>
            <a:off x="6629400" y="2240280"/>
            <a:ext cx="4846320" cy="3383280"/>
          </a:xfrm>
          <a:prstGeom prst="rect">
            <a:avLst/>
          </a:prstGeom>
          <a:noFill/>
          <a:ln/>
        </p:spPr>
        <p:txBody>
          <a:bodyPr wrap="square" lIns="0" tIns="0" rIns="0" bIns="0" rtlCol="0" anchor="t"/>
          <a:lstStyle/>
          <a:p>
            <a:pPr marL="152400" indent="-152400">
              <a:lnSpc>
                <a:spcPct val="105000"/>
              </a:lnSpc>
              <a:spcAft>
                <a:spcPts val="1000"/>
              </a:spcAft>
              <a:buSzPct val="100000"/>
              <a:buChar char="•"/>
            </a:pPr>
            <a:r>
              <a:rPr lang="en-US" sz="1250">
                <a:solidFill>
                  <a:srgbClr val="1C2434"/>
                </a:solidFill>
                <a:latin typeface="Calibri" pitchFamily="34" charset="0"/>
                <a:ea typeface="Calibri" pitchFamily="34" charset="-122"/>
                <a:cs typeface="Calibri" pitchFamily="34" charset="-120"/>
              </a:rPr>
              <a:t>EasyRide · Aktivität: In einem Durchlauf fehlen ganze Aktivitäten, die der andere enthält.</a:t>
            </a:r>
            <a:endParaRPr lang="en-US" sz="1250"/>
          </a:p>
          <a:p>
            <a:pPr marL="152400" indent="-152400">
              <a:lnSpc>
                <a:spcPct val="105000"/>
              </a:lnSpc>
              <a:spcAft>
                <a:spcPts val="1000"/>
              </a:spcAft>
              <a:buSzPct val="100000"/>
              <a:buChar char="•"/>
            </a:pPr>
            <a:r>
              <a:rPr lang="en-US" sz="1250">
                <a:solidFill>
                  <a:srgbClr val="1C2434"/>
                </a:solidFill>
                <a:latin typeface="Calibri" pitchFamily="34" charset="0"/>
                <a:ea typeface="Calibri" pitchFamily="34" charset="-122"/>
                <a:cs typeface="Calibri" pitchFamily="34" charset="-120"/>
              </a:rPr>
              <a:t>EasyScoot · Aktivität: Der zweite Durchlauf verliert den letzten Schritt „Zusammenfassung einsehen“.</a:t>
            </a:r>
            <a:endParaRPr lang="en-US" sz="1250"/>
          </a:p>
          <a:p>
            <a:pPr marL="152400" indent="-152400">
              <a:lnSpc>
                <a:spcPct val="105000"/>
              </a:lnSpc>
              <a:spcAft>
                <a:spcPts val="1000"/>
              </a:spcAft>
              <a:buSzPct val="100000"/>
              <a:buChar char="•"/>
            </a:pPr>
            <a:r>
              <a:rPr lang="en-US" sz="1250">
                <a:solidFill>
                  <a:srgbClr val="1C2434"/>
                </a:solidFill>
                <a:latin typeface="Calibri" pitchFamily="34" charset="0"/>
                <a:ea typeface="Calibri" pitchFamily="34" charset="-122"/>
                <a:cs typeface="Calibri" pitchFamily="34" charset="-120"/>
              </a:rPr>
              <a:t>EasyScoot · Klassendiagramm: Statuswerte einmal unverbunden, einmal korrekt am E-Scooter.</a:t>
            </a:r>
            <a:endParaRPr lang="en-US" sz="1250"/>
          </a:p>
          <a:p>
            <a:pPr marL="152400" indent="-152400">
              <a:lnSpc>
                <a:spcPct val="105000"/>
              </a:lnSpc>
              <a:spcAft>
                <a:spcPts val="1000"/>
              </a:spcAft>
              <a:buSzPct val="100000"/>
              <a:buChar char="•"/>
            </a:pPr>
            <a:r>
              <a:rPr lang="en-US" sz="1250">
                <a:solidFill>
                  <a:srgbClr val="1C2434"/>
                </a:solidFill>
                <a:latin typeface="Calibri" pitchFamily="34" charset="0"/>
                <a:ea typeface="Calibri" pitchFamily="34" charset="-122"/>
                <a:cs typeface="Calibri" pitchFamily="34" charset="-120"/>
              </a:rPr>
              <a:t>EasyLib · Klassendiagramm: Erst der zweite Durchlauf ergänzt die Bibliotheksausweis-Klasse, die wir im ersten vermisst hatten.</a:t>
            </a:r>
            <a:endParaRPr lang="en-US" sz="1250"/>
          </a:p>
        </p:txBody>
      </p:sp>
      <p:sp>
        <p:nvSpPr>
          <p:cNvPr id="10" name="Text 8"/>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a:ea typeface="Calibri"/>
                <a:cs typeface="Calibri"/>
              </a:rPr>
              <a:t>15</a:t>
            </a:r>
            <a:endParaRPr lang="en-US" sz="1000"/>
          </a:p>
        </p:txBody>
      </p:sp>
      <p:sp>
        <p:nvSpPr>
          <p:cNvPr id="11" name="Text 9"/>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384048"/>
            <a:ext cx="11155680" cy="292608"/>
          </a:xfrm>
          <a:prstGeom prst="rect">
            <a:avLst/>
          </a:prstGeom>
          <a:noFill/>
          <a:ln/>
        </p:spPr>
        <p:txBody>
          <a:bodyPr wrap="square" lIns="0" tIns="0" rIns="0" bIns="0" rtlCol="0" anchor="ctr"/>
          <a:lstStyle/>
          <a:p>
            <a:pPr marL="0" indent="0">
              <a:buNone/>
            </a:pPr>
            <a:r>
              <a:rPr lang="en-US" sz="1300" b="1" kern="0" spc="200">
                <a:solidFill>
                  <a:srgbClr val="3E5FA3"/>
                </a:solidFill>
                <a:latin typeface="Calibri" pitchFamily="34" charset="0"/>
                <a:ea typeface="Calibri" pitchFamily="34" charset="-122"/>
                <a:cs typeface="Calibri" pitchFamily="34" charset="-120"/>
              </a:rPr>
              <a:t>5 · GRENZEN DER STUDIE</a:t>
            </a:r>
            <a:endParaRPr lang="en-US" sz="1300"/>
          </a:p>
        </p:txBody>
      </p:sp>
      <p:sp>
        <p:nvSpPr>
          <p:cNvPr id="3" name="Text 1"/>
          <p:cNvSpPr/>
          <p:nvPr/>
        </p:nvSpPr>
        <p:spPr>
          <a:xfrm>
            <a:off x="502920" y="658368"/>
            <a:ext cx="11155680" cy="685800"/>
          </a:xfrm>
          <a:prstGeom prst="rect">
            <a:avLst/>
          </a:prstGeom>
          <a:noFill/>
          <a:ln/>
        </p:spPr>
        <p:txBody>
          <a:bodyPr wrap="square" lIns="0" tIns="0" rIns="0" bIns="0" rtlCol="0" anchor="ctr"/>
          <a:lstStyle/>
          <a:p>
            <a:pPr marL="0" indent="0">
              <a:buNone/>
            </a:pPr>
            <a:r>
              <a:rPr lang="en-US" sz="3000" b="1">
                <a:solidFill>
                  <a:srgbClr val="1C2434"/>
                </a:solidFill>
                <a:latin typeface="Cambria" pitchFamily="34" charset="0"/>
                <a:ea typeface="Cambria" pitchFamily="34" charset="-122"/>
                <a:cs typeface="Cambria" pitchFamily="34" charset="-120"/>
              </a:rPr>
              <a:t>Was unser Vergleich (noch) nicht kann</a:t>
            </a:r>
            <a:endParaRPr lang="en-US" sz="3000"/>
          </a:p>
        </p:txBody>
      </p:sp>
      <p:sp>
        <p:nvSpPr>
          <p:cNvPr id="7" name="Shape 5"/>
          <p:cNvSpPr/>
          <p:nvPr/>
        </p:nvSpPr>
        <p:spPr>
          <a:xfrm>
            <a:off x="502920" y="1904505"/>
            <a:ext cx="11173968" cy="896112"/>
          </a:xfrm>
          <a:prstGeom prst="roundRect">
            <a:avLst>
              <a:gd name="adj" fmla="val 10204"/>
            </a:avLst>
          </a:prstGeom>
          <a:solidFill>
            <a:srgbClr val="F3F6FB"/>
          </a:solidFill>
          <a:ln w="12700">
            <a:solidFill>
              <a:srgbClr val="D9E1EE"/>
            </a:solidFill>
            <a:prstDash val="solid"/>
          </a:ln>
        </p:spPr>
        <p:txBody>
          <a:bodyPr/>
          <a:lstStyle/>
          <a:p>
            <a:endParaRPr lang="de-DE"/>
          </a:p>
        </p:txBody>
      </p:sp>
      <p:sp>
        <p:nvSpPr>
          <p:cNvPr id="8" name="Text 6"/>
          <p:cNvSpPr/>
          <p:nvPr/>
        </p:nvSpPr>
        <p:spPr>
          <a:xfrm>
            <a:off x="777240" y="1959368"/>
            <a:ext cx="2834640" cy="786384"/>
          </a:xfrm>
          <a:prstGeom prst="rect">
            <a:avLst/>
          </a:prstGeom>
          <a:noFill/>
          <a:ln/>
        </p:spPr>
        <p:txBody>
          <a:bodyPr wrap="square" lIns="0" tIns="0" rIns="0" bIns="0" rtlCol="0" anchor="ctr"/>
          <a:lstStyle/>
          <a:p>
            <a:pPr marL="0" indent="0">
              <a:lnSpc>
                <a:spcPct val="100000"/>
              </a:lnSpc>
              <a:buNone/>
            </a:pPr>
            <a:r>
              <a:rPr lang="en-US" sz="1400" b="1">
                <a:solidFill>
                  <a:srgbClr val="1C2434"/>
                </a:solidFill>
                <a:latin typeface="Cambria" pitchFamily="34" charset="0"/>
                <a:ea typeface="Cambria" pitchFamily="34" charset="-122"/>
                <a:cs typeface="Cambria" pitchFamily="34" charset="-120"/>
              </a:rPr>
              <a:t>Bewertung teils KI-gestützt</a:t>
            </a:r>
            <a:endParaRPr lang="en-US" sz="1400"/>
          </a:p>
        </p:txBody>
      </p:sp>
      <p:sp>
        <p:nvSpPr>
          <p:cNvPr id="9" name="Text 7"/>
          <p:cNvSpPr/>
          <p:nvPr/>
        </p:nvSpPr>
        <p:spPr>
          <a:xfrm>
            <a:off x="3749040" y="1941081"/>
            <a:ext cx="7680960" cy="822960"/>
          </a:xfrm>
          <a:prstGeom prst="rect">
            <a:avLst/>
          </a:prstGeom>
          <a:noFill/>
          <a:ln/>
        </p:spPr>
        <p:txBody>
          <a:bodyPr wrap="square" lIns="0" tIns="0" rIns="0" bIns="0" rtlCol="0" anchor="ctr"/>
          <a:lstStyle/>
          <a:p>
            <a:pPr marL="0" indent="0">
              <a:lnSpc>
                <a:spcPct val="108000"/>
              </a:lnSpc>
              <a:buNone/>
            </a:pPr>
            <a:r>
              <a:rPr lang="en-US" sz="1200">
                <a:solidFill>
                  <a:srgbClr val="1C2434"/>
                </a:solidFill>
                <a:latin typeface="Calibri" pitchFamily="34" charset="0"/>
                <a:ea typeface="Calibri" pitchFamily="34" charset="-122"/>
                <a:cs typeface="Calibri" pitchFamily="34" charset="-120"/>
              </a:rPr>
              <a:t>Teile der Einzelbewertungen wurden von KI-Agenten erstellt. Dieser Vortrag stützt sich deshalb auf die von uns geprüften Befunde und Beispiele – nicht auf die Bewertungszahlen.</a:t>
            </a:r>
            <a:endParaRPr lang="en-US" sz="1200"/>
          </a:p>
        </p:txBody>
      </p:sp>
      <p:sp>
        <p:nvSpPr>
          <p:cNvPr id="10" name="Shape 8"/>
          <p:cNvSpPr/>
          <p:nvPr/>
        </p:nvSpPr>
        <p:spPr>
          <a:xfrm>
            <a:off x="502920" y="2956065"/>
            <a:ext cx="11173968" cy="896112"/>
          </a:xfrm>
          <a:prstGeom prst="roundRect">
            <a:avLst>
              <a:gd name="adj" fmla="val 10204"/>
            </a:avLst>
          </a:prstGeom>
          <a:solidFill>
            <a:srgbClr val="F3F6FB"/>
          </a:solidFill>
          <a:ln w="12700">
            <a:solidFill>
              <a:srgbClr val="D9E1EE"/>
            </a:solidFill>
            <a:prstDash val="solid"/>
          </a:ln>
        </p:spPr>
        <p:txBody>
          <a:bodyPr/>
          <a:lstStyle/>
          <a:p>
            <a:endParaRPr lang="de-DE"/>
          </a:p>
        </p:txBody>
      </p:sp>
      <p:sp>
        <p:nvSpPr>
          <p:cNvPr id="11" name="Text 9"/>
          <p:cNvSpPr/>
          <p:nvPr/>
        </p:nvSpPr>
        <p:spPr>
          <a:xfrm>
            <a:off x="777240" y="3010928"/>
            <a:ext cx="2834640" cy="786384"/>
          </a:xfrm>
          <a:prstGeom prst="rect">
            <a:avLst/>
          </a:prstGeom>
          <a:noFill/>
          <a:ln/>
        </p:spPr>
        <p:txBody>
          <a:bodyPr wrap="square" lIns="0" tIns="0" rIns="0" bIns="0" rtlCol="0" anchor="ctr"/>
          <a:lstStyle/>
          <a:p>
            <a:pPr marL="0" indent="0">
              <a:lnSpc>
                <a:spcPct val="100000"/>
              </a:lnSpc>
              <a:buNone/>
            </a:pPr>
            <a:r>
              <a:rPr lang="en-US" sz="1400" b="1">
                <a:solidFill>
                  <a:srgbClr val="1C2434"/>
                </a:solidFill>
                <a:latin typeface="Cambria" pitchFamily="34" charset="0"/>
                <a:ea typeface="Cambria" pitchFamily="34" charset="-122"/>
                <a:cs typeface="Cambria" pitchFamily="34" charset="-120"/>
              </a:rPr>
              <a:t>Claudes Direktbilder sind abgeleitet</a:t>
            </a:r>
            <a:endParaRPr lang="en-US" sz="1400"/>
          </a:p>
        </p:txBody>
      </p:sp>
      <p:sp>
        <p:nvSpPr>
          <p:cNvPr id="12" name="Text 10"/>
          <p:cNvSpPr/>
          <p:nvPr/>
        </p:nvSpPr>
        <p:spPr>
          <a:xfrm>
            <a:off x="3749040" y="2992641"/>
            <a:ext cx="7680960" cy="822960"/>
          </a:xfrm>
          <a:prstGeom prst="rect">
            <a:avLst/>
          </a:prstGeom>
          <a:noFill/>
          <a:ln/>
        </p:spPr>
        <p:txBody>
          <a:bodyPr wrap="square" lIns="0" tIns="0" rIns="0" bIns="0" rtlCol="0" anchor="ctr"/>
          <a:lstStyle/>
          <a:p>
            <a:pPr marL="0" indent="0">
              <a:lnSpc>
                <a:spcPct val="108000"/>
              </a:lnSpc>
              <a:buNone/>
            </a:pPr>
            <a:r>
              <a:rPr lang="en-US" sz="1200">
                <a:solidFill>
                  <a:srgbClr val="1C2434"/>
                </a:solidFill>
                <a:latin typeface="Calibri" pitchFamily="34" charset="0"/>
                <a:ea typeface="Calibri" pitchFamily="34" charset="-122"/>
                <a:cs typeface="Calibri" pitchFamily="34" charset="-120"/>
              </a:rPr>
              <a:t>Außer bei den Sequenzdiagrammen zeichnete Claude sein Bild aus dem eigenen PlantUML-Code. Der Code-vs.-Bild-Vergleich stützt sich daher vor allem auf die ChatGPT-Zellen.</a:t>
            </a:r>
            <a:endParaRPr lang="en-US" sz="1200"/>
          </a:p>
        </p:txBody>
      </p:sp>
      <p:sp>
        <p:nvSpPr>
          <p:cNvPr id="13" name="Shape 11"/>
          <p:cNvSpPr/>
          <p:nvPr/>
        </p:nvSpPr>
        <p:spPr>
          <a:xfrm>
            <a:off x="502920" y="4007625"/>
            <a:ext cx="11173968" cy="896112"/>
          </a:xfrm>
          <a:prstGeom prst="roundRect">
            <a:avLst>
              <a:gd name="adj" fmla="val 10204"/>
            </a:avLst>
          </a:prstGeom>
          <a:solidFill>
            <a:srgbClr val="F3F6FB"/>
          </a:solidFill>
          <a:ln w="12700">
            <a:solidFill>
              <a:srgbClr val="D9E1EE"/>
            </a:solidFill>
            <a:prstDash val="solid"/>
          </a:ln>
        </p:spPr>
        <p:txBody>
          <a:bodyPr/>
          <a:lstStyle/>
          <a:p>
            <a:endParaRPr lang="de-DE"/>
          </a:p>
        </p:txBody>
      </p:sp>
      <p:sp>
        <p:nvSpPr>
          <p:cNvPr id="14" name="Text 12"/>
          <p:cNvSpPr/>
          <p:nvPr/>
        </p:nvSpPr>
        <p:spPr>
          <a:xfrm>
            <a:off x="777240" y="4062488"/>
            <a:ext cx="2834640" cy="786384"/>
          </a:xfrm>
          <a:prstGeom prst="rect">
            <a:avLst/>
          </a:prstGeom>
          <a:noFill/>
          <a:ln/>
        </p:spPr>
        <p:txBody>
          <a:bodyPr wrap="square" lIns="0" tIns="0" rIns="0" bIns="0" rtlCol="0" anchor="ctr"/>
          <a:lstStyle/>
          <a:p>
            <a:pPr marL="0" indent="0">
              <a:lnSpc>
                <a:spcPct val="100000"/>
              </a:lnSpc>
              <a:buNone/>
            </a:pPr>
            <a:r>
              <a:rPr lang="en-US" sz="1400" b="1">
                <a:solidFill>
                  <a:srgbClr val="1C2434"/>
                </a:solidFill>
                <a:latin typeface="Cambria" pitchFamily="34" charset="0"/>
                <a:ea typeface="Cambria" pitchFamily="34" charset="-122"/>
                <a:cs typeface="Cambria" pitchFamily="34" charset="-120"/>
              </a:rPr>
              <a:t>Zweite Durchläufe teils offen</a:t>
            </a:r>
            <a:endParaRPr lang="en-US" sz="1400"/>
          </a:p>
        </p:txBody>
      </p:sp>
      <p:sp>
        <p:nvSpPr>
          <p:cNvPr id="15" name="Text 13"/>
          <p:cNvSpPr/>
          <p:nvPr/>
        </p:nvSpPr>
        <p:spPr>
          <a:xfrm>
            <a:off x="3749040" y="4044201"/>
            <a:ext cx="7680960" cy="822960"/>
          </a:xfrm>
          <a:prstGeom prst="rect">
            <a:avLst/>
          </a:prstGeom>
          <a:noFill/>
          <a:ln/>
        </p:spPr>
        <p:txBody>
          <a:bodyPr wrap="square" lIns="0" tIns="0" rIns="0" bIns="0" rtlCol="0" anchor="ctr"/>
          <a:lstStyle/>
          <a:p>
            <a:pPr marL="0" indent="0">
              <a:lnSpc>
                <a:spcPct val="108000"/>
              </a:lnSpc>
              <a:buNone/>
            </a:pPr>
            <a:r>
              <a:rPr lang="en-US" sz="1200">
                <a:solidFill>
                  <a:srgbClr val="1C2434"/>
                </a:solidFill>
                <a:latin typeface="Calibri" pitchFamily="34" charset="0"/>
                <a:ea typeface="Calibri" pitchFamily="34" charset="-122"/>
                <a:cs typeface="Calibri" pitchFamily="34" charset="-120"/>
              </a:rPr>
              <a:t>Die Wiederholungs-Durchläufe sind noch nicht vollständig ausgewertet; eine echte Prompt-Iteration steht aus.</a:t>
            </a:r>
            <a:endParaRPr lang="en-US" sz="1200"/>
          </a:p>
        </p:txBody>
      </p:sp>
      <p:sp>
        <p:nvSpPr>
          <p:cNvPr id="16" name="Text 14"/>
          <p:cNvSpPr/>
          <p:nvPr/>
        </p:nvSpPr>
        <p:spPr>
          <a:xfrm>
            <a:off x="502920" y="5897880"/>
            <a:ext cx="11155680" cy="457200"/>
          </a:xfrm>
          <a:prstGeom prst="rect">
            <a:avLst/>
          </a:prstGeom>
          <a:noFill/>
          <a:ln/>
        </p:spPr>
        <p:txBody>
          <a:bodyPr wrap="square" lIns="0" tIns="0" rIns="0" bIns="0" rtlCol="0" anchor="ctr"/>
          <a:lstStyle/>
          <a:p>
            <a:pPr marL="0" indent="0">
              <a:lnSpc>
                <a:spcPct val="105000"/>
              </a:lnSpc>
              <a:buNone/>
            </a:pPr>
            <a:r>
              <a:rPr lang="en-US" sz="1400" b="1">
                <a:solidFill>
                  <a:srgbClr val="1C2434"/>
                </a:solidFill>
                <a:latin typeface="Cambria" pitchFamily="34" charset="0"/>
                <a:ea typeface="Cambria" pitchFamily="34" charset="-122"/>
                <a:cs typeface="Cambria" pitchFamily="34" charset="-120"/>
              </a:rPr>
              <a:t>Die Kernaussage bleibt: Beide KIs liefern kompilierbaren, weitgehend korrekten Code – die Fehlerquelle ist das Zeichnen.</a:t>
            </a:r>
            <a:endParaRPr lang="en-US" sz="1400"/>
          </a:p>
        </p:txBody>
      </p:sp>
      <p:sp>
        <p:nvSpPr>
          <p:cNvPr id="17" name="Text 15"/>
          <p:cNvSpPr/>
          <p:nvPr/>
        </p:nvSpPr>
        <p:spPr>
          <a:xfrm>
            <a:off x="11658600" y="6473952"/>
            <a:ext cx="365760" cy="274320"/>
          </a:xfrm>
          <a:prstGeom prst="rect">
            <a:avLst/>
          </a:prstGeom>
          <a:noFill/>
          <a:ln/>
        </p:spPr>
        <p:txBody>
          <a:bodyPr wrap="square" lIns="0" tIns="0" rIns="0" bIns="0" rtlCol="0" anchor="ctr"/>
          <a:lstStyle/>
          <a:p>
            <a:pPr marL="0" indent="0" algn="r">
              <a:buNone/>
            </a:pPr>
            <a:r>
              <a:rPr lang="en-US" sz="1000">
                <a:solidFill>
                  <a:srgbClr val="5B6575"/>
                </a:solidFill>
                <a:latin typeface="Calibri"/>
                <a:ea typeface="Calibri"/>
                <a:cs typeface="Calibri"/>
              </a:rPr>
              <a:t>16</a:t>
            </a:r>
            <a:endParaRPr lang="en-US" sz="1000"/>
          </a:p>
        </p:txBody>
      </p:sp>
      <p:sp>
        <p:nvSpPr>
          <p:cNvPr id="18" name="Text 16"/>
          <p:cNvSpPr/>
          <p:nvPr/>
        </p:nvSpPr>
        <p:spPr>
          <a:xfrm>
            <a:off x="502920" y="6473952"/>
            <a:ext cx="3657600" cy="274320"/>
          </a:xfrm>
          <a:prstGeom prst="rect">
            <a:avLst/>
          </a:prstGeom>
          <a:noFill/>
          <a:ln/>
        </p:spPr>
        <p:txBody>
          <a:bodyPr wrap="square" lIns="0" tIns="0" rIns="0" bIns="0" rtlCol="0" anchor="ctr"/>
          <a:lstStyle/>
          <a:p>
            <a:pPr marL="0" indent="0" algn="l">
              <a:buNone/>
            </a:pPr>
            <a:r>
              <a:rPr lang="en-US" sz="1000">
                <a:solidFill>
                  <a:srgbClr val="5B6575"/>
                </a:solidFill>
                <a:latin typeface="Calibri" pitchFamily="34" charset="0"/>
                <a:ea typeface="Calibri" pitchFamily="34" charset="-122"/>
                <a:cs typeface="Calibri" pitchFamily="34" charset="-120"/>
              </a:rPr>
              <a:t>Modellierung mit KI · UML</a:t>
            </a:r>
            <a:endParaRPr lang="en-US" sz="10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1E2A47"/>
        </a:solidFill>
        <a:effectLst/>
      </p:bgPr>
    </p:bg>
    <p:spTree>
      <p:nvGrpSpPr>
        <p:cNvPr id="1" name=""/>
        <p:cNvGrpSpPr/>
        <p:nvPr/>
      </p:nvGrpSpPr>
      <p:grpSpPr>
        <a:xfrm>
          <a:off x="0" y="0"/>
          <a:ext cx="0" cy="0"/>
          <a:chOff x="0" y="0"/>
          <a:chExt cx="0" cy="0"/>
        </a:xfrm>
      </p:grpSpPr>
      <p:sp>
        <p:nvSpPr>
          <p:cNvPr id="2" name="Shape 0"/>
          <p:cNvSpPr/>
          <p:nvPr/>
        </p:nvSpPr>
        <p:spPr>
          <a:xfrm>
            <a:off x="10469880" y="5623560"/>
            <a:ext cx="384048" cy="384048"/>
          </a:xfrm>
          <a:prstGeom prst="roundRect">
            <a:avLst>
              <a:gd name="adj" fmla="val 14286"/>
            </a:avLst>
          </a:prstGeom>
          <a:solidFill>
            <a:srgbClr val="CADCFC">
              <a:alpha val="40000"/>
            </a:srgbClr>
          </a:solidFill>
          <a:ln/>
        </p:spPr>
        <p:txBody>
          <a:bodyPr/>
          <a:lstStyle/>
          <a:p>
            <a:endParaRPr lang="de-DE"/>
          </a:p>
        </p:txBody>
      </p:sp>
      <p:sp>
        <p:nvSpPr>
          <p:cNvPr id="3" name="Shape 1"/>
          <p:cNvSpPr/>
          <p:nvPr/>
        </p:nvSpPr>
        <p:spPr>
          <a:xfrm>
            <a:off x="10963656" y="5623560"/>
            <a:ext cx="384048" cy="384048"/>
          </a:xfrm>
          <a:prstGeom prst="roundRect">
            <a:avLst>
              <a:gd name="adj" fmla="val 14286"/>
            </a:avLst>
          </a:prstGeom>
          <a:solidFill>
            <a:srgbClr val="3E5FA3">
              <a:alpha val="65000"/>
            </a:srgbClr>
          </a:solidFill>
          <a:ln/>
        </p:spPr>
        <p:txBody>
          <a:bodyPr/>
          <a:lstStyle/>
          <a:p>
            <a:endParaRPr lang="de-DE"/>
          </a:p>
        </p:txBody>
      </p:sp>
      <p:sp>
        <p:nvSpPr>
          <p:cNvPr id="4" name="Shape 2"/>
          <p:cNvSpPr/>
          <p:nvPr/>
        </p:nvSpPr>
        <p:spPr>
          <a:xfrm>
            <a:off x="11457432" y="5623560"/>
            <a:ext cx="384048" cy="384048"/>
          </a:xfrm>
          <a:prstGeom prst="roundRect">
            <a:avLst>
              <a:gd name="adj" fmla="val 14286"/>
            </a:avLst>
          </a:prstGeom>
          <a:solidFill>
            <a:srgbClr val="CADCFC">
              <a:alpha val="20000"/>
            </a:srgbClr>
          </a:solidFill>
          <a:ln/>
        </p:spPr>
        <p:txBody>
          <a:bodyPr/>
          <a:lstStyle/>
          <a:p>
            <a:endParaRPr lang="de-DE"/>
          </a:p>
        </p:txBody>
      </p:sp>
      <p:sp>
        <p:nvSpPr>
          <p:cNvPr id="5" name="Shape 3"/>
          <p:cNvSpPr/>
          <p:nvPr/>
        </p:nvSpPr>
        <p:spPr>
          <a:xfrm>
            <a:off x="10469880" y="6117336"/>
            <a:ext cx="384048" cy="384048"/>
          </a:xfrm>
          <a:prstGeom prst="roundRect">
            <a:avLst>
              <a:gd name="adj" fmla="val 14286"/>
            </a:avLst>
          </a:prstGeom>
          <a:solidFill>
            <a:srgbClr val="FFFFFF">
              <a:alpha val="10000"/>
            </a:srgbClr>
          </a:solidFill>
          <a:ln/>
        </p:spPr>
        <p:txBody>
          <a:bodyPr/>
          <a:lstStyle/>
          <a:p>
            <a:endParaRPr lang="de-DE"/>
          </a:p>
        </p:txBody>
      </p:sp>
      <p:sp>
        <p:nvSpPr>
          <p:cNvPr id="6" name="Shape 4"/>
          <p:cNvSpPr/>
          <p:nvPr/>
        </p:nvSpPr>
        <p:spPr>
          <a:xfrm>
            <a:off x="10963656" y="6117336"/>
            <a:ext cx="384048" cy="384048"/>
          </a:xfrm>
          <a:prstGeom prst="roundRect">
            <a:avLst>
              <a:gd name="adj" fmla="val 14286"/>
            </a:avLst>
          </a:prstGeom>
          <a:solidFill>
            <a:srgbClr val="CADCFC">
              <a:alpha val="40000"/>
            </a:srgbClr>
          </a:solidFill>
          <a:ln/>
        </p:spPr>
        <p:txBody>
          <a:bodyPr/>
          <a:lstStyle/>
          <a:p>
            <a:endParaRPr lang="de-DE"/>
          </a:p>
        </p:txBody>
      </p:sp>
      <p:sp>
        <p:nvSpPr>
          <p:cNvPr id="7" name="Shape 5"/>
          <p:cNvSpPr/>
          <p:nvPr/>
        </p:nvSpPr>
        <p:spPr>
          <a:xfrm>
            <a:off x="11457432" y="6117336"/>
            <a:ext cx="384048" cy="384048"/>
          </a:xfrm>
          <a:prstGeom prst="roundRect">
            <a:avLst>
              <a:gd name="adj" fmla="val 14286"/>
            </a:avLst>
          </a:prstGeom>
          <a:solidFill>
            <a:srgbClr val="3E5FA3">
              <a:alpha val="65000"/>
            </a:srgbClr>
          </a:solidFill>
          <a:ln/>
        </p:spPr>
        <p:txBody>
          <a:bodyPr/>
          <a:lstStyle/>
          <a:p>
            <a:endParaRPr lang="de-DE"/>
          </a:p>
        </p:txBody>
      </p:sp>
      <p:sp>
        <p:nvSpPr>
          <p:cNvPr id="8" name="Text 6"/>
          <p:cNvSpPr/>
          <p:nvPr/>
        </p:nvSpPr>
        <p:spPr>
          <a:xfrm>
            <a:off x="640080" y="457200"/>
            <a:ext cx="10881360" cy="292608"/>
          </a:xfrm>
          <a:prstGeom prst="rect">
            <a:avLst/>
          </a:prstGeom>
          <a:noFill/>
          <a:ln/>
        </p:spPr>
        <p:txBody>
          <a:bodyPr wrap="square" lIns="0" tIns="0" rIns="0" bIns="0" rtlCol="0" anchor="ctr"/>
          <a:lstStyle/>
          <a:p>
            <a:pPr marL="0" indent="0">
              <a:buNone/>
            </a:pPr>
            <a:r>
              <a:rPr lang="en-US" sz="1300" b="1" kern="0" spc="200">
                <a:solidFill>
                  <a:srgbClr val="CADCFC"/>
                </a:solidFill>
                <a:latin typeface="Calibri" pitchFamily="34" charset="0"/>
                <a:ea typeface="Calibri" pitchFamily="34" charset="-122"/>
                <a:cs typeface="Calibri" pitchFamily="34" charset="-120"/>
              </a:rPr>
              <a:t>6 · ERKENNTNISSE</a:t>
            </a:r>
            <a:endParaRPr lang="en-US" sz="1300"/>
          </a:p>
        </p:txBody>
      </p:sp>
      <p:sp>
        <p:nvSpPr>
          <p:cNvPr id="9" name="Text 7"/>
          <p:cNvSpPr/>
          <p:nvPr/>
        </p:nvSpPr>
        <p:spPr>
          <a:xfrm>
            <a:off x="640080" y="749808"/>
            <a:ext cx="10881360" cy="640080"/>
          </a:xfrm>
          <a:prstGeom prst="rect">
            <a:avLst/>
          </a:prstGeom>
          <a:noFill/>
          <a:ln/>
        </p:spPr>
        <p:txBody>
          <a:bodyPr wrap="square" lIns="0" tIns="0" rIns="0" bIns="0" rtlCol="0" anchor="ctr"/>
          <a:lstStyle/>
          <a:p>
            <a:pPr marL="0" indent="0">
              <a:buNone/>
            </a:pPr>
            <a:r>
              <a:rPr lang="en-US" sz="3000" b="1">
                <a:solidFill>
                  <a:srgbClr val="FFFFFF"/>
                </a:solidFill>
                <a:latin typeface="Cambria" pitchFamily="34" charset="0"/>
                <a:ea typeface="Cambria" pitchFamily="34" charset="-122"/>
                <a:cs typeface="Cambria" pitchFamily="34" charset="-120"/>
              </a:rPr>
              <a:t>Was wir aus 24 Zellen mitnehmen</a:t>
            </a:r>
            <a:endParaRPr lang="en-US" sz="3000"/>
          </a:p>
        </p:txBody>
      </p:sp>
      <p:sp>
        <p:nvSpPr>
          <p:cNvPr id="10" name="Shape 8"/>
          <p:cNvSpPr/>
          <p:nvPr/>
        </p:nvSpPr>
        <p:spPr>
          <a:xfrm>
            <a:off x="640080" y="1764792"/>
            <a:ext cx="384048" cy="384048"/>
          </a:xfrm>
          <a:prstGeom prst="ellipse">
            <a:avLst/>
          </a:prstGeom>
          <a:solidFill>
            <a:srgbClr val="3E5FA3"/>
          </a:solidFill>
          <a:ln/>
        </p:spPr>
        <p:txBody>
          <a:bodyPr/>
          <a:lstStyle/>
          <a:p>
            <a:endParaRPr lang="de-DE"/>
          </a:p>
        </p:txBody>
      </p:sp>
      <p:sp>
        <p:nvSpPr>
          <p:cNvPr id="11" name="Text 9"/>
          <p:cNvSpPr/>
          <p:nvPr/>
        </p:nvSpPr>
        <p:spPr>
          <a:xfrm>
            <a:off x="640080" y="1755648"/>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1</a:t>
            </a:r>
            <a:endParaRPr lang="en-US" sz="1500"/>
          </a:p>
        </p:txBody>
      </p:sp>
      <p:sp>
        <p:nvSpPr>
          <p:cNvPr id="12" name="Text 10"/>
          <p:cNvSpPr/>
          <p:nvPr/>
        </p:nvSpPr>
        <p:spPr>
          <a:xfrm>
            <a:off x="1234440" y="1737360"/>
            <a:ext cx="9692640" cy="685800"/>
          </a:xfrm>
          <a:prstGeom prst="rect">
            <a:avLst/>
          </a:prstGeom>
          <a:noFill/>
          <a:ln/>
        </p:spPr>
        <p:txBody>
          <a:bodyPr wrap="square" lIns="0" tIns="0" rIns="0" bIns="0" rtlCol="0" anchor="t"/>
          <a:lstStyle/>
          <a:p>
            <a:pPr marL="0" indent="0">
              <a:lnSpc>
                <a:spcPct val="110000"/>
              </a:lnSpc>
              <a:buNone/>
            </a:pPr>
            <a:r>
              <a:rPr lang="en-US" sz="1500">
                <a:solidFill>
                  <a:srgbClr val="E8EEF9"/>
                </a:solidFill>
                <a:latin typeface="Calibri" pitchFamily="34" charset="0"/>
                <a:ea typeface="Calibri" pitchFamily="34" charset="-122"/>
                <a:cs typeface="Calibri" pitchFamily="34" charset="-120"/>
              </a:rPr>
              <a:t>PlantUML-Code als maßgebliche Form verwenden – präziser, vollständiger und in Sekunden korrigierbar.</a:t>
            </a:r>
            <a:endParaRPr lang="en-US" sz="1500"/>
          </a:p>
        </p:txBody>
      </p:sp>
      <p:sp>
        <p:nvSpPr>
          <p:cNvPr id="13" name="Shape 11"/>
          <p:cNvSpPr/>
          <p:nvPr/>
        </p:nvSpPr>
        <p:spPr>
          <a:xfrm>
            <a:off x="640080" y="2551176"/>
            <a:ext cx="384048" cy="384048"/>
          </a:xfrm>
          <a:prstGeom prst="ellipse">
            <a:avLst/>
          </a:prstGeom>
          <a:solidFill>
            <a:srgbClr val="3E5FA3"/>
          </a:solidFill>
          <a:ln/>
        </p:spPr>
        <p:txBody>
          <a:bodyPr/>
          <a:lstStyle/>
          <a:p>
            <a:endParaRPr lang="de-DE"/>
          </a:p>
        </p:txBody>
      </p:sp>
      <p:sp>
        <p:nvSpPr>
          <p:cNvPr id="14" name="Text 12"/>
          <p:cNvSpPr/>
          <p:nvPr/>
        </p:nvSpPr>
        <p:spPr>
          <a:xfrm>
            <a:off x="640080" y="2542032"/>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2</a:t>
            </a:r>
            <a:endParaRPr lang="en-US" sz="1500"/>
          </a:p>
        </p:txBody>
      </p:sp>
      <p:sp>
        <p:nvSpPr>
          <p:cNvPr id="15" name="Text 13"/>
          <p:cNvSpPr/>
          <p:nvPr/>
        </p:nvSpPr>
        <p:spPr>
          <a:xfrm>
            <a:off x="1234440" y="2523744"/>
            <a:ext cx="9692640" cy="685800"/>
          </a:xfrm>
          <a:prstGeom prst="rect">
            <a:avLst/>
          </a:prstGeom>
          <a:noFill/>
          <a:ln/>
        </p:spPr>
        <p:txBody>
          <a:bodyPr wrap="square" lIns="0" tIns="0" rIns="0" bIns="0" rtlCol="0" anchor="t"/>
          <a:lstStyle/>
          <a:p>
            <a:pPr marL="0" indent="0">
              <a:lnSpc>
                <a:spcPct val="110000"/>
              </a:lnSpc>
              <a:buNone/>
            </a:pPr>
            <a:r>
              <a:rPr lang="en-US" sz="1500">
                <a:solidFill>
                  <a:srgbClr val="E8EEF9"/>
                </a:solidFill>
                <a:latin typeface="Calibri" pitchFamily="34" charset="0"/>
                <a:ea typeface="Calibri" pitchFamily="34" charset="-122"/>
                <a:cs typeface="Calibri" pitchFamily="34" charset="-120"/>
              </a:rPr>
              <a:t>Direktbilder höchstens zur Präsentation – und vorher gegen den Code prüfen: Schön heißt nicht richtig.</a:t>
            </a:r>
            <a:endParaRPr lang="en-US" sz="1500"/>
          </a:p>
        </p:txBody>
      </p:sp>
      <p:sp>
        <p:nvSpPr>
          <p:cNvPr id="16" name="Shape 14"/>
          <p:cNvSpPr/>
          <p:nvPr/>
        </p:nvSpPr>
        <p:spPr>
          <a:xfrm>
            <a:off x="640080" y="3337560"/>
            <a:ext cx="384048" cy="384048"/>
          </a:xfrm>
          <a:prstGeom prst="ellipse">
            <a:avLst/>
          </a:prstGeom>
          <a:solidFill>
            <a:srgbClr val="3E5FA3"/>
          </a:solidFill>
          <a:ln/>
        </p:spPr>
        <p:txBody>
          <a:bodyPr/>
          <a:lstStyle/>
          <a:p>
            <a:endParaRPr lang="de-DE"/>
          </a:p>
        </p:txBody>
      </p:sp>
      <p:sp>
        <p:nvSpPr>
          <p:cNvPr id="17" name="Text 15"/>
          <p:cNvSpPr/>
          <p:nvPr/>
        </p:nvSpPr>
        <p:spPr>
          <a:xfrm>
            <a:off x="640080" y="3328416"/>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3</a:t>
            </a:r>
            <a:endParaRPr lang="en-US" sz="1500"/>
          </a:p>
        </p:txBody>
      </p:sp>
      <p:sp>
        <p:nvSpPr>
          <p:cNvPr id="18" name="Text 16"/>
          <p:cNvSpPr/>
          <p:nvPr/>
        </p:nvSpPr>
        <p:spPr>
          <a:xfrm>
            <a:off x="1234440" y="3310128"/>
            <a:ext cx="9692640" cy="685800"/>
          </a:xfrm>
          <a:prstGeom prst="rect">
            <a:avLst/>
          </a:prstGeom>
          <a:noFill/>
          <a:ln/>
        </p:spPr>
        <p:txBody>
          <a:bodyPr wrap="square" lIns="0" tIns="0" rIns="0" bIns="0" rtlCol="0" anchor="t"/>
          <a:lstStyle/>
          <a:p>
            <a:pPr marL="0" indent="0">
              <a:lnSpc>
                <a:spcPct val="110000"/>
              </a:lnSpc>
              <a:buNone/>
            </a:pPr>
            <a:r>
              <a:rPr lang="en-US" sz="1500">
                <a:solidFill>
                  <a:srgbClr val="E8EEF9"/>
                </a:solidFill>
                <a:latin typeface="Calibri" pitchFamily="34" charset="0"/>
                <a:ea typeface="Calibri" pitchFamily="34" charset="-122"/>
                <a:cs typeface="Calibri" pitchFamily="34" charset="-120"/>
              </a:rPr>
              <a:t>Diagrammtypen mit fester Grundstruktur (Aktivität, Sequenz) sind zuverlässig – Use-Case- und Klassendiagramm-Layout bleiben Baustellen.</a:t>
            </a:r>
            <a:endParaRPr lang="en-US" sz="1500"/>
          </a:p>
        </p:txBody>
      </p:sp>
      <p:sp>
        <p:nvSpPr>
          <p:cNvPr id="19" name="Shape 17"/>
          <p:cNvSpPr/>
          <p:nvPr/>
        </p:nvSpPr>
        <p:spPr>
          <a:xfrm>
            <a:off x="640080" y="4123944"/>
            <a:ext cx="384048" cy="384048"/>
          </a:xfrm>
          <a:prstGeom prst="ellipse">
            <a:avLst/>
          </a:prstGeom>
          <a:solidFill>
            <a:srgbClr val="3E5FA3"/>
          </a:solidFill>
          <a:ln/>
        </p:spPr>
        <p:txBody>
          <a:bodyPr/>
          <a:lstStyle/>
          <a:p>
            <a:endParaRPr lang="de-DE"/>
          </a:p>
        </p:txBody>
      </p:sp>
      <p:sp>
        <p:nvSpPr>
          <p:cNvPr id="20" name="Text 18"/>
          <p:cNvSpPr/>
          <p:nvPr/>
        </p:nvSpPr>
        <p:spPr>
          <a:xfrm>
            <a:off x="640080" y="4114800"/>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4</a:t>
            </a:r>
            <a:endParaRPr lang="en-US" sz="1500"/>
          </a:p>
        </p:txBody>
      </p:sp>
      <p:sp>
        <p:nvSpPr>
          <p:cNvPr id="21" name="Text 19"/>
          <p:cNvSpPr/>
          <p:nvPr/>
        </p:nvSpPr>
        <p:spPr>
          <a:xfrm>
            <a:off x="1234440" y="4096512"/>
            <a:ext cx="9692640" cy="685800"/>
          </a:xfrm>
          <a:prstGeom prst="rect">
            <a:avLst/>
          </a:prstGeom>
          <a:noFill/>
          <a:ln/>
        </p:spPr>
        <p:txBody>
          <a:bodyPr wrap="square" lIns="0" tIns="0" rIns="0" bIns="0" rtlCol="0" anchor="t"/>
          <a:lstStyle/>
          <a:p>
            <a:pPr marL="0" indent="0">
              <a:lnSpc>
                <a:spcPct val="110000"/>
              </a:lnSpc>
              <a:buNone/>
            </a:pPr>
            <a:r>
              <a:rPr lang="en-US" sz="1500">
                <a:solidFill>
                  <a:srgbClr val="E8EEF9"/>
                </a:solidFill>
                <a:latin typeface="Calibri" pitchFamily="34" charset="0"/>
                <a:ea typeface="Calibri" pitchFamily="34" charset="-122"/>
                <a:cs typeface="Calibri" pitchFamily="34" charset="-120"/>
              </a:rPr>
              <a:t>Die Struktur des Lastenhefts wirkt stärker als sein Umfang – klare Leistungslisten führen zu vollständigen Modellen.</a:t>
            </a:r>
            <a:endParaRPr lang="en-US" sz="1500"/>
          </a:p>
        </p:txBody>
      </p:sp>
      <p:sp>
        <p:nvSpPr>
          <p:cNvPr id="22" name="Shape 20"/>
          <p:cNvSpPr/>
          <p:nvPr/>
        </p:nvSpPr>
        <p:spPr>
          <a:xfrm>
            <a:off x="640080" y="4910328"/>
            <a:ext cx="384048" cy="384048"/>
          </a:xfrm>
          <a:prstGeom prst="ellipse">
            <a:avLst/>
          </a:prstGeom>
          <a:solidFill>
            <a:srgbClr val="3E5FA3"/>
          </a:solidFill>
          <a:ln/>
        </p:spPr>
        <p:txBody>
          <a:bodyPr/>
          <a:lstStyle/>
          <a:p>
            <a:endParaRPr lang="de-DE"/>
          </a:p>
        </p:txBody>
      </p:sp>
      <p:sp>
        <p:nvSpPr>
          <p:cNvPr id="23" name="Text 21"/>
          <p:cNvSpPr/>
          <p:nvPr/>
        </p:nvSpPr>
        <p:spPr>
          <a:xfrm>
            <a:off x="640080" y="4901184"/>
            <a:ext cx="384048" cy="384048"/>
          </a:xfrm>
          <a:prstGeom prst="rect">
            <a:avLst/>
          </a:prstGeom>
          <a:noFill/>
          <a:ln/>
        </p:spPr>
        <p:txBody>
          <a:bodyPr wrap="square" lIns="0" tIns="0" rIns="0" bIns="0" rtlCol="0" anchor="ctr"/>
          <a:lstStyle/>
          <a:p>
            <a:pPr marL="0" indent="0" algn="ctr">
              <a:buNone/>
            </a:pPr>
            <a:r>
              <a:rPr lang="en-US" sz="1500" b="1">
                <a:solidFill>
                  <a:srgbClr val="FFFFFF"/>
                </a:solidFill>
                <a:latin typeface="Calibri" pitchFamily="34" charset="0"/>
                <a:ea typeface="Calibri" pitchFamily="34" charset="-122"/>
                <a:cs typeface="Calibri" pitchFamily="34" charset="-120"/>
              </a:rPr>
              <a:t>5</a:t>
            </a:r>
            <a:endParaRPr lang="en-US" sz="1500"/>
          </a:p>
        </p:txBody>
      </p:sp>
      <p:sp>
        <p:nvSpPr>
          <p:cNvPr id="24" name="Text 22"/>
          <p:cNvSpPr/>
          <p:nvPr/>
        </p:nvSpPr>
        <p:spPr>
          <a:xfrm>
            <a:off x="1234440" y="4882896"/>
            <a:ext cx="9692640" cy="685800"/>
          </a:xfrm>
          <a:prstGeom prst="rect">
            <a:avLst/>
          </a:prstGeom>
          <a:noFill/>
          <a:ln/>
        </p:spPr>
        <p:txBody>
          <a:bodyPr wrap="square" lIns="0" tIns="0" rIns="0" bIns="0" rtlCol="0" anchor="t"/>
          <a:lstStyle/>
          <a:p>
            <a:pPr marL="0" indent="0">
              <a:lnSpc>
                <a:spcPct val="110000"/>
              </a:lnSpc>
              <a:buNone/>
            </a:pPr>
            <a:r>
              <a:rPr lang="en-US" sz="1500">
                <a:solidFill>
                  <a:srgbClr val="E8EEF9"/>
                </a:solidFill>
                <a:latin typeface="Calibri" pitchFamily="34" charset="0"/>
                <a:ea typeface="Calibri" pitchFamily="34" charset="-122"/>
                <a:cs typeface="Calibri" pitchFamily="34" charset="-120"/>
              </a:rPr>
              <a:t>Ein KI-Durchlauf ist keine Spezifikation: KI-Modellierung braucht Versionierung und systematische Evaluation.</a:t>
            </a:r>
            <a:endParaRPr lang="en-US" sz="1500"/>
          </a:p>
        </p:txBody>
      </p:sp>
      <p:sp>
        <p:nvSpPr>
          <p:cNvPr id="25" name="Text 23"/>
          <p:cNvSpPr/>
          <p:nvPr/>
        </p:nvSpPr>
        <p:spPr>
          <a:xfrm>
            <a:off x="640080" y="5943600"/>
            <a:ext cx="7315200" cy="548640"/>
          </a:xfrm>
          <a:prstGeom prst="rect">
            <a:avLst/>
          </a:prstGeom>
          <a:noFill/>
          <a:ln/>
        </p:spPr>
        <p:txBody>
          <a:bodyPr wrap="square" lIns="0" tIns="0" rIns="0" bIns="0" rtlCol="0" anchor="ctr"/>
          <a:lstStyle/>
          <a:p>
            <a:pPr marL="0" indent="0">
              <a:buNone/>
            </a:pPr>
            <a:r>
              <a:rPr lang="en-US" sz="2400" b="1">
                <a:solidFill>
                  <a:srgbClr val="FFFFFF"/>
                </a:solidFill>
                <a:latin typeface="Cambria" pitchFamily="34" charset="0"/>
                <a:ea typeface="Cambria" pitchFamily="34" charset="-122"/>
                <a:cs typeface="Cambria" pitchFamily="34" charset="-120"/>
              </a:rPr>
              <a:t>Vielen Dank — Fragen?</a:t>
            </a:r>
            <a:endParaRPr lang="en-US" sz="24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2813</Words>
  <Application>Microsoft Office PowerPoint</Application>
  <PresentationFormat>Widescreen</PresentationFormat>
  <Paragraphs>283</Paragraphs>
  <Slides>17</Slides>
  <Notes>17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Modellierung mit KI – Multi-Case-Study mit UML</dc:title>
  <dc:subject>PptxGenJS Presentation</dc:subject>
  <dc:creator>Gruppe UML – Modellierung mit KI</dc:creator>
  <cp:lastModifiedBy>Bastian Menzel / HFW424</cp:lastModifiedBy>
  <cp:revision>1</cp:revision>
  <dcterms:created xsi:type="dcterms:W3CDTF">2026-07-16T19:46:17Z</dcterms:created>
  <dcterms:modified xsi:type="dcterms:W3CDTF">2026-07-20T11:06:27Z</dcterms:modified>
</cp:coreProperties>
</file>